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sldIdLst>
    <p:sldId id="256" r:id="rId2"/>
    <p:sldId id="260" r:id="rId3"/>
    <p:sldId id="257" r:id="rId4"/>
    <p:sldId id="261" r:id="rId5"/>
    <p:sldId id="259" r:id="rId6"/>
    <p:sldId id="262" r:id="rId7"/>
    <p:sldId id="263" r:id="rId8"/>
    <p:sldId id="264" r:id="rId9"/>
    <p:sldId id="274" r:id="rId10"/>
    <p:sldId id="265" r:id="rId11"/>
    <p:sldId id="266" r:id="rId12"/>
    <p:sldId id="267" r:id="rId13"/>
    <p:sldId id="268" r:id="rId14"/>
    <p:sldId id="269" r:id="rId15"/>
    <p:sldId id="272" r:id="rId16"/>
    <p:sldId id="286" r:id="rId17"/>
    <p:sldId id="271" r:id="rId18"/>
    <p:sldId id="273" r:id="rId19"/>
    <p:sldId id="291" r:id="rId20"/>
    <p:sldId id="292" r:id="rId21"/>
    <p:sldId id="293" r:id="rId22"/>
    <p:sldId id="270" r:id="rId23"/>
    <p:sldId id="275" r:id="rId24"/>
    <p:sldId id="288" r:id="rId25"/>
    <p:sldId id="289" r:id="rId26"/>
    <p:sldId id="290" r:id="rId27"/>
    <p:sldId id="277" r:id="rId28"/>
    <p:sldId id="276" r:id="rId29"/>
    <p:sldId id="278" r:id="rId30"/>
    <p:sldId id="279" r:id="rId31"/>
    <p:sldId id="300" r:id="rId32"/>
    <p:sldId id="299" r:id="rId33"/>
    <p:sldId id="302" r:id="rId34"/>
    <p:sldId id="283" r:id="rId35"/>
    <p:sldId id="294" r:id="rId36"/>
    <p:sldId id="295" r:id="rId37"/>
    <p:sldId id="296" r:id="rId38"/>
    <p:sldId id="297" r:id="rId39"/>
    <p:sldId id="298" r:id="rId40"/>
    <p:sldId id="301" r:id="rId41"/>
    <p:sldId id="284" r:id="rId42"/>
    <p:sldId id="285" r:id="rId43"/>
  </p:sldIdLst>
  <p:sldSz cx="12192000" cy="6858000"/>
  <p:notesSz cx="6858000" cy="9144000"/>
  <p:defaultTextStyle>
    <a:defPPr>
      <a:defRPr lang="zh-SG"/>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147" y="3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SG"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594BDB-505B-4C6D-B796-E840FEED8A75}" type="datetimeFigureOut">
              <a:rPr lang="zh-SG" altLang="en-US" smtClean="0"/>
              <a:t>2026/07/16</a:t>
            </a:fld>
            <a:endParaRPr lang="zh-SG"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SG"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zh-SG"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SG"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044597E-1E91-42A3-B6E9-C6744F606C3F}" type="slidenum">
              <a:rPr lang="zh-SG" altLang="en-US" smtClean="0"/>
              <a:t>‹#›</a:t>
            </a:fld>
            <a:endParaRPr lang="zh-SG" altLang="en-US"/>
          </a:p>
        </p:txBody>
      </p:sp>
    </p:spTree>
    <p:extLst>
      <p:ext uri="{BB962C8B-B14F-4D97-AF65-F5344CB8AC3E}">
        <p14:creationId xmlns:p14="http://schemas.microsoft.com/office/powerpoint/2010/main" val="30914992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SG" altLang="en-US" dirty="0"/>
          </a:p>
        </p:txBody>
      </p:sp>
      <p:sp>
        <p:nvSpPr>
          <p:cNvPr id="4" name="灯片编号占位符 3"/>
          <p:cNvSpPr>
            <a:spLocks noGrp="1"/>
          </p:cNvSpPr>
          <p:nvPr>
            <p:ph type="sldNum" sz="quarter" idx="5"/>
          </p:nvPr>
        </p:nvSpPr>
        <p:spPr/>
        <p:txBody>
          <a:bodyPr/>
          <a:lstStyle/>
          <a:p>
            <a:fld id="{5044597E-1E91-42A3-B6E9-C6744F606C3F}" type="slidenum">
              <a:rPr lang="zh-SG" altLang="en-US" smtClean="0"/>
              <a:t>3</a:t>
            </a:fld>
            <a:endParaRPr lang="zh-SG" altLang="en-US"/>
          </a:p>
        </p:txBody>
      </p:sp>
    </p:spTree>
    <p:extLst>
      <p:ext uri="{BB962C8B-B14F-4D97-AF65-F5344CB8AC3E}">
        <p14:creationId xmlns:p14="http://schemas.microsoft.com/office/powerpoint/2010/main" val="23375564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9ECFC06-7F98-47B4-4A2B-7532E409FB49}"/>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SG" altLang="en-US"/>
          </a:p>
        </p:txBody>
      </p:sp>
      <p:sp>
        <p:nvSpPr>
          <p:cNvPr id="3" name="副标题 2">
            <a:extLst>
              <a:ext uri="{FF2B5EF4-FFF2-40B4-BE49-F238E27FC236}">
                <a16:creationId xmlns:a16="http://schemas.microsoft.com/office/drawing/2014/main" id="{72D23841-448B-34C2-67AC-A0EA047536F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SG" altLang="en-US"/>
          </a:p>
        </p:txBody>
      </p:sp>
      <p:sp>
        <p:nvSpPr>
          <p:cNvPr id="4" name="日期占位符 3">
            <a:extLst>
              <a:ext uri="{FF2B5EF4-FFF2-40B4-BE49-F238E27FC236}">
                <a16:creationId xmlns:a16="http://schemas.microsoft.com/office/drawing/2014/main" id="{5A7FBEA4-D591-9C05-AA49-5BD0684DF2BC}"/>
              </a:ext>
            </a:extLst>
          </p:cNvPr>
          <p:cNvSpPr>
            <a:spLocks noGrp="1"/>
          </p:cNvSpPr>
          <p:nvPr>
            <p:ph type="dt" sz="half" idx="10"/>
          </p:nvPr>
        </p:nvSpPr>
        <p:spPr/>
        <p:txBody>
          <a:bodyPr/>
          <a:lstStyle/>
          <a:p>
            <a:fld id="{07931E22-7369-4ECC-A555-200EE9C2A1C3}" type="datetimeFigureOut">
              <a:rPr lang="zh-SG" altLang="en-US" smtClean="0"/>
              <a:t>2026/07/16</a:t>
            </a:fld>
            <a:endParaRPr lang="zh-SG" altLang="en-US"/>
          </a:p>
        </p:txBody>
      </p:sp>
      <p:sp>
        <p:nvSpPr>
          <p:cNvPr id="5" name="页脚占位符 4">
            <a:extLst>
              <a:ext uri="{FF2B5EF4-FFF2-40B4-BE49-F238E27FC236}">
                <a16:creationId xmlns:a16="http://schemas.microsoft.com/office/drawing/2014/main" id="{6A3E2443-8757-8527-6443-EEF1FB8B414D}"/>
              </a:ext>
            </a:extLst>
          </p:cNvPr>
          <p:cNvSpPr>
            <a:spLocks noGrp="1"/>
          </p:cNvSpPr>
          <p:nvPr>
            <p:ph type="ftr" sz="quarter" idx="11"/>
          </p:nvPr>
        </p:nvSpPr>
        <p:spPr/>
        <p:txBody>
          <a:bodyPr/>
          <a:lstStyle/>
          <a:p>
            <a:endParaRPr lang="zh-SG" altLang="en-US"/>
          </a:p>
        </p:txBody>
      </p:sp>
      <p:sp>
        <p:nvSpPr>
          <p:cNvPr id="6" name="灯片编号占位符 5">
            <a:extLst>
              <a:ext uri="{FF2B5EF4-FFF2-40B4-BE49-F238E27FC236}">
                <a16:creationId xmlns:a16="http://schemas.microsoft.com/office/drawing/2014/main" id="{8D5DD579-0F78-6826-3995-AA687D9CF44B}"/>
              </a:ext>
            </a:extLst>
          </p:cNvPr>
          <p:cNvSpPr>
            <a:spLocks noGrp="1"/>
          </p:cNvSpPr>
          <p:nvPr>
            <p:ph type="sldNum" sz="quarter" idx="12"/>
          </p:nvPr>
        </p:nvSpPr>
        <p:spPr/>
        <p:txBody>
          <a:bodyPr/>
          <a:lstStyle/>
          <a:p>
            <a:fld id="{D4AF1BFE-8AAB-4F14-AFFB-BE81CB5BC14E}" type="slidenum">
              <a:rPr lang="zh-SG" altLang="en-US" smtClean="0"/>
              <a:t>‹#›</a:t>
            </a:fld>
            <a:endParaRPr lang="zh-SG" altLang="en-US"/>
          </a:p>
        </p:txBody>
      </p:sp>
    </p:spTree>
    <p:extLst>
      <p:ext uri="{BB962C8B-B14F-4D97-AF65-F5344CB8AC3E}">
        <p14:creationId xmlns:p14="http://schemas.microsoft.com/office/powerpoint/2010/main" val="21693156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D15998C-62E5-4887-4083-907445BC9AA8}"/>
              </a:ext>
            </a:extLst>
          </p:cNvPr>
          <p:cNvSpPr>
            <a:spLocks noGrp="1"/>
          </p:cNvSpPr>
          <p:nvPr>
            <p:ph type="title"/>
          </p:nvPr>
        </p:nvSpPr>
        <p:spPr/>
        <p:txBody>
          <a:bodyPr/>
          <a:lstStyle/>
          <a:p>
            <a:r>
              <a:rPr lang="zh-CN" altLang="en-US"/>
              <a:t>单击此处编辑母版标题样式</a:t>
            </a:r>
            <a:endParaRPr lang="zh-SG" altLang="en-US"/>
          </a:p>
        </p:txBody>
      </p:sp>
      <p:sp>
        <p:nvSpPr>
          <p:cNvPr id="3" name="内容占位符 2">
            <a:extLst>
              <a:ext uri="{FF2B5EF4-FFF2-40B4-BE49-F238E27FC236}">
                <a16:creationId xmlns:a16="http://schemas.microsoft.com/office/drawing/2014/main" id="{D63F16F4-8F44-4EC6-6008-D28D4E9706FE}"/>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zh-SG" altLang="en-US"/>
          </a:p>
        </p:txBody>
      </p:sp>
      <p:sp>
        <p:nvSpPr>
          <p:cNvPr id="4" name="日期占位符 3">
            <a:extLst>
              <a:ext uri="{FF2B5EF4-FFF2-40B4-BE49-F238E27FC236}">
                <a16:creationId xmlns:a16="http://schemas.microsoft.com/office/drawing/2014/main" id="{E0774205-0D0C-837C-B740-DC490B6772C4}"/>
              </a:ext>
            </a:extLst>
          </p:cNvPr>
          <p:cNvSpPr>
            <a:spLocks noGrp="1"/>
          </p:cNvSpPr>
          <p:nvPr>
            <p:ph type="dt" sz="half" idx="10"/>
          </p:nvPr>
        </p:nvSpPr>
        <p:spPr/>
        <p:txBody>
          <a:bodyPr/>
          <a:lstStyle/>
          <a:p>
            <a:fld id="{07931E22-7369-4ECC-A555-200EE9C2A1C3}" type="datetimeFigureOut">
              <a:rPr lang="zh-SG" altLang="en-US" smtClean="0"/>
              <a:t>2026/07/16</a:t>
            </a:fld>
            <a:endParaRPr lang="zh-SG" altLang="en-US"/>
          </a:p>
        </p:txBody>
      </p:sp>
      <p:sp>
        <p:nvSpPr>
          <p:cNvPr id="5" name="页脚占位符 4">
            <a:extLst>
              <a:ext uri="{FF2B5EF4-FFF2-40B4-BE49-F238E27FC236}">
                <a16:creationId xmlns:a16="http://schemas.microsoft.com/office/drawing/2014/main" id="{A0F5E9F6-2E4D-BF99-C6D3-0E35C2CD2FC6}"/>
              </a:ext>
            </a:extLst>
          </p:cNvPr>
          <p:cNvSpPr>
            <a:spLocks noGrp="1"/>
          </p:cNvSpPr>
          <p:nvPr>
            <p:ph type="ftr" sz="quarter" idx="11"/>
          </p:nvPr>
        </p:nvSpPr>
        <p:spPr/>
        <p:txBody>
          <a:bodyPr/>
          <a:lstStyle/>
          <a:p>
            <a:endParaRPr lang="zh-SG" altLang="en-US"/>
          </a:p>
        </p:txBody>
      </p:sp>
      <p:sp>
        <p:nvSpPr>
          <p:cNvPr id="6" name="灯片编号占位符 5">
            <a:extLst>
              <a:ext uri="{FF2B5EF4-FFF2-40B4-BE49-F238E27FC236}">
                <a16:creationId xmlns:a16="http://schemas.microsoft.com/office/drawing/2014/main" id="{9349CFF0-2F63-BFC6-F118-BBFE9F16ED1C}"/>
              </a:ext>
            </a:extLst>
          </p:cNvPr>
          <p:cNvSpPr>
            <a:spLocks noGrp="1"/>
          </p:cNvSpPr>
          <p:nvPr>
            <p:ph type="sldNum" sz="quarter" idx="12"/>
          </p:nvPr>
        </p:nvSpPr>
        <p:spPr/>
        <p:txBody>
          <a:bodyPr/>
          <a:lstStyle/>
          <a:p>
            <a:fld id="{D4AF1BFE-8AAB-4F14-AFFB-BE81CB5BC14E}" type="slidenum">
              <a:rPr lang="zh-SG" altLang="en-US" smtClean="0"/>
              <a:t>‹#›</a:t>
            </a:fld>
            <a:endParaRPr lang="zh-SG" altLang="en-US"/>
          </a:p>
        </p:txBody>
      </p:sp>
    </p:spTree>
    <p:extLst>
      <p:ext uri="{BB962C8B-B14F-4D97-AF65-F5344CB8AC3E}">
        <p14:creationId xmlns:p14="http://schemas.microsoft.com/office/powerpoint/2010/main" val="4367907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E6BDBB1-4E83-F9E8-D9C7-28C10F095E2F}"/>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endParaRPr lang="zh-SG" altLang="en-US"/>
          </a:p>
        </p:txBody>
      </p:sp>
      <p:sp>
        <p:nvSpPr>
          <p:cNvPr id="3" name="文本占位符 2">
            <a:extLst>
              <a:ext uri="{FF2B5EF4-FFF2-40B4-BE49-F238E27FC236}">
                <a16:creationId xmlns:a16="http://schemas.microsoft.com/office/drawing/2014/main" id="{7F617B79-3610-3019-9D59-4304DFF0A71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DB860275-C98C-1DD9-ECE2-B15DA27163F2}"/>
              </a:ext>
            </a:extLst>
          </p:cNvPr>
          <p:cNvSpPr>
            <a:spLocks noGrp="1"/>
          </p:cNvSpPr>
          <p:nvPr>
            <p:ph type="dt" sz="half" idx="10"/>
          </p:nvPr>
        </p:nvSpPr>
        <p:spPr/>
        <p:txBody>
          <a:bodyPr/>
          <a:lstStyle/>
          <a:p>
            <a:fld id="{07931E22-7369-4ECC-A555-200EE9C2A1C3}" type="datetimeFigureOut">
              <a:rPr lang="zh-SG" altLang="en-US" smtClean="0"/>
              <a:t>2026/07/16</a:t>
            </a:fld>
            <a:endParaRPr lang="zh-SG" altLang="en-US"/>
          </a:p>
        </p:txBody>
      </p:sp>
      <p:sp>
        <p:nvSpPr>
          <p:cNvPr id="5" name="页脚占位符 4">
            <a:extLst>
              <a:ext uri="{FF2B5EF4-FFF2-40B4-BE49-F238E27FC236}">
                <a16:creationId xmlns:a16="http://schemas.microsoft.com/office/drawing/2014/main" id="{93348216-66C1-2A9D-3E65-5B9E3424F4D7}"/>
              </a:ext>
            </a:extLst>
          </p:cNvPr>
          <p:cNvSpPr>
            <a:spLocks noGrp="1"/>
          </p:cNvSpPr>
          <p:nvPr>
            <p:ph type="ftr" sz="quarter" idx="11"/>
          </p:nvPr>
        </p:nvSpPr>
        <p:spPr/>
        <p:txBody>
          <a:bodyPr/>
          <a:lstStyle/>
          <a:p>
            <a:endParaRPr lang="zh-SG" altLang="en-US"/>
          </a:p>
        </p:txBody>
      </p:sp>
      <p:sp>
        <p:nvSpPr>
          <p:cNvPr id="6" name="灯片编号占位符 5">
            <a:extLst>
              <a:ext uri="{FF2B5EF4-FFF2-40B4-BE49-F238E27FC236}">
                <a16:creationId xmlns:a16="http://schemas.microsoft.com/office/drawing/2014/main" id="{82383727-1F23-ED74-5111-45848615A826}"/>
              </a:ext>
            </a:extLst>
          </p:cNvPr>
          <p:cNvSpPr>
            <a:spLocks noGrp="1"/>
          </p:cNvSpPr>
          <p:nvPr>
            <p:ph type="sldNum" sz="quarter" idx="12"/>
          </p:nvPr>
        </p:nvSpPr>
        <p:spPr/>
        <p:txBody>
          <a:bodyPr/>
          <a:lstStyle/>
          <a:p>
            <a:fld id="{D4AF1BFE-8AAB-4F14-AFFB-BE81CB5BC14E}" type="slidenum">
              <a:rPr lang="zh-SG" altLang="en-US" smtClean="0"/>
              <a:t>‹#›</a:t>
            </a:fld>
            <a:endParaRPr lang="zh-SG" altLang="en-US"/>
          </a:p>
        </p:txBody>
      </p:sp>
    </p:spTree>
    <p:extLst>
      <p:ext uri="{BB962C8B-B14F-4D97-AF65-F5344CB8AC3E}">
        <p14:creationId xmlns:p14="http://schemas.microsoft.com/office/powerpoint/2010/main" val="27873228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494A2D0-2853-EDA1-5969-E7A6FFAF8E5C}"/>
              </a:ext>
            </a:extLst>
          </p:cNvPr>
          <p:cNvSpPr>
            <a:spLocks noGrp="1"/>
          </p:cNvSpPr>
          <p:nvPr>
            <p:ph type="title"/>
          </p:nvPr>
        </p:nvSpPr>
        <p:spPr/>
        <p:txBody>
          <a:bodyPr/>
          <a:lstStyle/>
          <a:p>
            <a:r>
              <a:rPr lang="zh-CN" altLang="en-US"/>
              <a:t>单击此处编辑母版标题样式</a:t>
            </a:r>
            <a:endParaRPr lang="zh-SG" altLang="en-US"/>
          </a:p>
        </p:txBody>
      </p:sp>
      <p:sp>
        <p:nvSpPr>
          <p:cNvPr id="3" name="内容占位符 2">
            <a:extLst>
              <a:ext uri="{FF2B5EF4-FFF2-40B4-BE49-F238E27FC236}">
                <a16:creationId xmlns:a16="http://schemas.microsoft.com/office/drawing/2014/main" id="{29CAC18E-670C-30CE-B371-2361AA84F674}"/>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zh-SG" altLang="en-US"/>
          </a:p>
        </p:txBody>
      </p:sp>
      <p:sp>
        <p:nvSpPr>
          <p:cNvPr id="4" name="内容占位符 3">
            <a:extLst>
              <a:ext uri="{FF2B5EF4-FFF2-40B4-BE49-F238E27FC236}">
                <a16:creationId xmlns:a16="http://schemas.microsoft.com/office/drawing/2014/main" id="{1204FCCA-554E-4703-D98A-2F0D144D0BF3}"/>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zh-SG" altLang="en-US"/>
          </a:p>
        </p:txBody>
      </p:sp>
      <p:sp>
        <p:nvSpPr>
          <p:cNvPr id="5" name="日期占位符 4">
            <a:extLst>
              <a:ext uri="{FF2B5EF4-FFF2-40B4-BE49-F238E27FC236}">
                <a16:creationId xmlns:a16="http://schemas.microsoft.com/office/drawing/2014/main" id="{4E119F0C-A505-11B6-244B-221F9175CB1D}"/>
              </a:ext>
            </a:extLst>
          </p:cNvPr>
          <p:cNvSpPr>
            <a:spLocks noGrp="1"/>
          </p:cNvSpPr>
          <p:nvPr>
            <p:ph type="dt" sz="half" idx="10"/>
          </p:nvPr>
        </p:nvSpPr>
        <p:spPr/>
        <p:txBody>
          <a:bodyPr/>
          <a:lstStyle/>
          <a:p>
            <a:fld id="{07931E22-7369-4ECC-A555-200EE9C2A1C3}" type="datetimeFigureOut">
              <a:rPr lang="zh-SG" altLang="en-US" smtClean="0"/>
              <a:t>2026/07/16</a:t>
            </a:fld>
            <a:endParaRPr lang="zh-SG" altLang="en-US"/>
          </a:p>
        </p:txBody>
      </p:sp>
      <p:sp>
        <p:nvSpPr>
          <p:cNvPr id="6" name="页脚占位符 5">
            <a:extLst>
              <a:ext uri="{FF2B5EF4-FFF2-40B4-BE49-F238E27FC236}">
                <a16:creationId xmlns:a16="http://schemas.microsoft.com/office/drawing/2014/main" id="{D0B54973-9D23-DE34-F931-4C9940FDAA14}"/>
              </a:ext>
            </a:extLst>
          </p:cNvPr>
          <p:cNvSpPr>
            <a:spLocks noGrp="1"/>
          </p:cNvSpPr>
          <p:nvPr>
            <p:ph type="ftr" sz="quarter" idx="11"/>
          </p:nvPr>
        </p:nvSpPr>
        <p:spPr/>
        <p:txBody>
          <a:bodyPr/>
          <a:lstStyle/>
          <a:p>
            <a:endParaRPr lang="zh-SG" altLang="en-US"/>
          </a:p>
        </p:txBody>
      </p:sp>
      <p:sp>
        <p:nvSpPr>
          <p:cNvPr id="7" name="灯片编号占位符 6">
            <a:extLst>
              <a:ext uri="{FF2B5EF4-FFF2-40B4-BE49-F238E27FC236}">
                <a16:creationId xmlns:a16="http://schemas.microsoft.com/office/drawing/2014/main" id="{2975272A-E3B5-7A5A-796E-507B804ADA9A}"/>
              </a:ext>
            </a:extLst>
          </p:cNvPr>
          <p:cNvSpPr>
            <a:spLocks noGrp="1"/>
          </p:cNvSpPr>
          <p:nvPr>
            <p:ph type="sldNum" sz="quarter" idx="12"/>
          </p:nvPr>
        </p:nvSpPr>
        <p:spPr/>
        <p:txBody>
          <a:bodyPr/>
          <a:lstStyle/>
          <a:p>
            <a:fld id="{D4AF1BFE-8AAB-4F14-AFFB-BE81CB5BC14E}" type="slidenum">
              <a:rPr lang="zh-SG" altLang="en-US" smtClean="0"/>
              <a:t>‹#›</a:t>
            </a:fld>
            <a:endParaRPr lang="zh-SG" altLang="en-US"/>
          </a:p>
        </p:txBody>
      </p:sp>
    </p:spTree>
    <p:extLst>
      <p:ext uri="{BB962C8B-B14F-4D97-AF65-F5344CB8AC3E}">
        <p14:creationId xmlns:p14="http://schemas.microsoft.com/office/powerpoint/2010/main" val="25317059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796830-DC9E-E85F-28B8-5B9857A3DED8}"/>
              </a:ext>
            </a:extLst>
          </p:cNvPr>
          <p:cNvSpPr>
            <a:spLocks noGrp="1"/>
          </p:cNvSpPr>
          <p:nvPr>
            <p:ph type="title"/>
          </p:nvPr>
        </p:nvSpPr>
        <p:spPr>
          <a:xfrm>
            <a:off x="839788" y="365125"/>
            <a:ext cx="10515600" cy="1325563"/>
          </a:xfrm>
        </p:spPr>
        <p:txBody>
          <a:bodyPr/>
          <a:lstStyle/>
          <a:p>
            <a:r>
              <a:rPr lang="zh-CN" altLang="en-US"/>
              <a:t>单击此处编辑母版标题样式</a:t>
            </a:r>
            <a:endParaRPr lang="zh-SG" altLang="en-US"/>
          </a:p>
        </p:txBody>
      </p:sp>
      <p:sp>
        <p:nvSpPr>
          <p:cNvPr id="3" name="文本占位符 2">
            <a:extLst>
              <a:ext uri="{FF2B5EF4-FFF2-40B4-BE49-F238E27FC236}">
                <a16:creationId xmlns:a16="http://schemas.microsoft.com/office/drawing/2014/main" id="{F41F473C-A750-3593-DD2B-9C2F939AF2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6FA566F-037B-DD2B-AF6A-241FCCB41ABA}"/>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zh-SG" altLang="en-US"/>
          </a:p>
        </p:txBody>
      </p:sp>
      <p:sp>
        <p:nvSpPr>
          <p:cNvPr id="5" name="文本占位符 4">
            <a:extLst>
              <a:ext uri="{FF2B5EF4-FFF2-40B4-BE49-F238E27FC236}">
                <a16:creationId xmlns:a16="http://schemas.microsoft.com/office/drawing/2014/main" id="{92779D76-CB80-F6DA-366C-34DF920A2BD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622A4130-6176-1DD9-9FCF-E4F87E87F2AB}"/>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zh-SG" altLang="en-US"/>
          </a:p>
        </p:txBody>
      </p:sp>
      <p:sp>
        <p:nvSpPr>
          <p:cNvPr id="7" name="日期占位符 6">
            <a:extLst>
              <a:ext uri="{FF2B5EF4-FFF2-40B4-BE49-F238E27FC236}">
                <a16:creationId xmlns:a16="http://schemas.microsoft.com/office/drawing/2014/main" id="{E13DFC7A-CEB6-4A33-32C6-532BE28B023E}"/>
              </a:ext>
            </a:extLst>
          </p:cNvPr>
          <p:cNvSpPr>
            <a:spLocks noGrp="1"/>
          </p:cNvSpPr>
          <p:nvPr>
            <p:ph type="dt" sz="half" idx="10"/>
          </p:nvPr>
        </p:nvSpPr>
        <p:spPr/>
        <p:txBody>
          <a:bodyPr/>
          <a:lstStyle/>
          <a:p>
            <a:fld id="{07931E22-7369-4ECC-A555-200EE9C2A1C3}" type="datetimeFigureOut">
              <a:rPr lang="zh-SG" altLang="en-US" smtClean="0"/>
              <a:t>2026/07/16</a:t>
            </a:fld>
            <a:endParaRPr lang="zh-SG" altLang="en-US"/>
          </a:p>
        </p:txBody>
      </p:sp>
      <p:sp>
        <p:nvSpPr>
          <p:cNvPr id="8" name="页脚占位符 7">
            <a:extLst>
              <a:ext uri="{FF2B5EF4-FFF2-40B4-BE49-F238E27FC236}">
                <a16:creationId xmlns:a16="http://schemas.microsoft.com/office/drawing/2014/main" id="{00242DCD-FE07-B18C-3D96-52D96745BE68}"/>
              </a:ext>
            </a:extLst>
          </p:cNvPr>
          <p:cNvSpPr>
            <a:spLocks noGrp="1"/>
          </p:cNvSpPr>
          <p:nvPr>
            <p:ph type="ftr" sz="quarter" idx="11"/>
          </p:nvPr>
        </p:nvSpPr>
        <p:spPr/>
        <p:txBody>
          <a:bodyPr/>
          <a:lstStyle/>
          <a:p>
            <a:endParaRPr lang="zh-SG" altLang="en-US"/>
          </a:p>
        </p:txBody>
      </p:sp>
      <p:sp>
        <p:nvSpPr>
          <p:cNvPr id="9" name="灯片编号占位符 8">
            <a:extLst>
              <a:ext uri="{FF2B5EF4-FFF2-40B4-BE49-F238E27FC236}">
                <a16:creationId xmlns:a16="http://schemas.microsoft.com/office/drawing/2014/main" id="{D76D2F99-1D05-6DFF-160B-C51720652595}"/>
              </a:ext>
            </a:extLst>
          </p:cNvPr>
          <p:cNvSpPr>
            <a:spLocks noGrp="1"/>
          </p:cNvSpPr>
          <p:nvPr>
            <p:ph type="sldNum" sz="quarter" idx="12"/>
          </p:nvPr>
        </p:nvSpPr>
        <p:spPr/>
        <p:txBody>
          <a:bodyPr/>
          <a:lstStyle/>
          <a:p>
            <a:fld id="{D4AF1BFE-8AAB-4F14-AFFB-BE81CB5BC14E}" type="slidenum">
              <a:rPr lang="zh-SG" altLang="en-US" smtClean="0"/>
              <a:t>‹#›</a:t>
            </a:fld>
            <a:endParaRPr lang="zh-SG" altLang="en-US"/>
          </a:p>
        </p:txBody>
      </p:sp>
    </p:spTree>
    <p:extLst>
      <p:ext uri="{BB962C8B-B14F-4D97-AF65-F5344CB8AC3E}">
        <p14:creationId xmlns:p14="http://schemas.microsoft.com/office/powerpoint/2010/main" val="40825071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5190EC-0FEB-A068-0A0D-023DF7DD47B8}"/>
              </a:ext>
            </a:extLst>
          </p:cNvPr>
          <p:cNvSpPr>
            <a:spLocks noGrp="1"/>
          </p:cNvSpPr>
          <p:nvPr>
            <p:ph type="title"/>
          </p:nvPr>
        </p:nvSpPr>
        <p:spPr/>
        <p:txBody>
          <a:bodyPr/>
          <a:lstStyle/>
          <a:p>
            <a:r>
              <a:rPr lang="zh-CN" altLang="en-US"/>
              <a:t>单击此处编辑母版标题样式</a:t>
            </a:r>
            <a:endParaRPr lang="zh-SG" altLang="en-US"/>
          </a:p>
        </p:txBody>
      </p:sp>
      <p:sp>
        <p:nvSpPr>
          <p:cNvPr id="3" name="日期占位符 2">
            <a:extLst>
              <a:ext uri="{FF2B5EF4-FFF2-40B4-BE49-F238E27FC236}">
                <a16:creationId xmlns:a16="http://schemas.microsoft.com/office/drawing/2014/main" id="{56254016-BFC6-E58B-32C8-BE3B331D20B4}"/>
              </a:ext>
            </a:extLst>
          </p:cNvPr>
          <p:cNvSpPr>
            <a:spLocks noGrp="1"/>
          </p:cNvSpPr>
          <p:nvPr>
            <p:ph type="dt" sz="half" idx="10"/>
          </p:nvPr>
        </p:nvSpPr>
        <p:spPr/>
        <p:txBody>
          <a:bodyPr/>
          <a:lstStyle/>
          <a:p>
            <a:fld id="{07931E22-7369-4ECC-A555-200EE9C2A1C3}" type="datetimeFigureOut">
              <a:rPr lang="zh-SG" altLang="en-US" smtClean="0"/>
              <a:t>2026/07/16</a:t>
            </a:fld>
            <a:endParaRPr lang="zh-SG" altLang="en-US"/>
          </a:p>
        </p:txBody>
      </p:sp>
      <p:sp>
        <p:nvSpPr>
          <p:cNvPr id="4" name="页脚占位符 3">
            <a:extLst>
              <a:ext uri="{FF2B5EF4-FFF2-40B4-BE49-F238E27FC236}">
                <a16:creationId xmlns:a16="http://schemas.microsoft.com/office/drawing/2014/main" id="{66CCDF8B-4E55-83BE-2302-75216F6AC967}"/>
              </a:ext>
            </a:extLst>
          </p:cNvPr>
          <p:cNvSpPr>
            <a:spLocks noGrp="1"/>
          </p:cNvSpPr>
          <p:nvPr>
            <p:ph type="ftr" sz="quarter" idx="11"/>
          </p:nvPr>
        </p:nvSpPr>
        <p:spPr/>
        <p:txBody>
          <a:bodyPr/>
          <a:lstStyle/>
          <a:p>
            <a:endParaRPr lang="zh-SG" altLang="en-US"/>
          </a:p>
        </p:txBody>
      </p:sp>
      <p:sp>
        <p:nvSpPr>
          <p:cNvPr id="5" name="灯片编号占位符 4">
            <a:extLst>
              <a:ext uri="{FF2B5EF4-FFF2-40B4-BE49-F238E27FC236}">
                <a16:creationId xmlns:a16="http://schemas.microsoft.com/office/drawing/2014/main" id="{8AE1A8F0-EA03-6507-0B8A-76D967BC1C9C}"/>
              </a:ext>
            </a:extLst>
          </p:cNvPr>
          <p:cNvSpPr>
            <a:spLocks noGrp="1"/>
          </p:cNvSpPr>
          <p:nvPr>
            <p:ph type="sldNum" sz="quarter" idx="12"/>
          </p:nvPr>
        </p:nvSpPr>
        <p:spPr/>
        <p:txBody>
          <a:bodyPr/>
          <a:lstStyle/>
          <a:p>
            <a:fld id="{D4AF1BFE-8AAB-4F14-AFFB-BE81CB5BC14E}" type="slidenum">
              <a:rPr lang="zh-SG" altLang="en-US" smtClean="0"/>
              <a:t>‹#›</a:t>
            </a:fld>
            <a:endParaRPr lang="zh-SG" altLang="en-US"/>
          </a:p>
        </p:txBody>
      </p:sp>
    </p:spTree>
    <p:extLst>
      <p:ext uri="{BB962C8B-B14F-4D97-AF65-F5344CB8AC3E}">
        <p14:creationId xmlns:p14="http://schemas.microsoft.com/office/powerpoint/2010/main" val="740129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DF3044F5-644B-1D56-800F-9CB3EB0D0C76}"/>
              </a:ext>
            </a:extLst>
          </p:cNvPr>
          <p:cNvSpPr>
            <a:spLocks noGrp="1"/>
          </p:cNvSpPr>
          <p:nvPr>
            <p:ph type="dt" sz="half" idx="10"/>
          </p:nvPr>
        </p:nvSpPr>
        <p:spPr/>
        <p:txBody>
          <a:bodyPr/>
          <a:lstStyle/>
          <a:p>
            <a:fld id="{07931E22-7369-4ECC-A555-200EE9C2A1C3}" type="datetimeFigureOut">
              <a:rPr lang="zh-SG" altLang="en-US" smtClean="0"/>
              <a:t>2026/07/16</a:t>
            </a:fld>
            <a:endParaRPr lang="zh-SG" altLang="en-US"/>
          </a:p>
        </p:txBody>
      </p:sp>
      <p:sp>
        <p:nvSpPr>
          <p:cNvPr id="3" name="页脚占位符 2">
            <a:extLst>
              <a:ext uri="{FF2B5EF4-FFF2-40B4-BE49-F238E27FC236}">
                <a16:creationId xmlns:a16="http://schemas.microsoft.com/office/drawing/2014/main" id="{AFE9E6CF-AD82-C1A3-1C92-2E1F39EB2DEB}"/>
              </a:ext>
            </a:extLst>
          </p:cNvPr>
          <p:cNvSpPr>
            <a:spLocks noGrp="1"/>
          </p:cNvSpPr>
          <p:nvPr>
            <p:ph type="ftr" sz="quarter" idx="11"/>
          </p:nvPr>
        </p:nvSpPr>
        <p:spPr/>
        <p:txBody>
          <a:bodyPr/>
          <a:lstStyle/>
          <a:p>
            <a:endParaRPr lang="zh-SG" altLang="en-US"/>
          </a:p>
        </p:txBody>
      </p:sp>
      <p:sp>
        <p:nvSpPr>
          <p:cNvPr id="4" name="灯片编号占位符 3">
            <a:extLst>
              <a:ext uri="{FF2B5EF4-FFF2-40B4-BE49-F238E27FC236}">
                <a16:creationId xmlns:a16="http://schemas.microsoft.com/office/drawing/2014/main" id="{681360A2-3AF8-CF49-E3A6-E1080E20A822}"/>
              </a:ext>
            </a:extLst>
          </p:cNvPr>
          <p:cNvSpPr>
            <a:spLocks noGrp="1"/>
          </p:cNvSpPr>
          <p:nvPr>
            <p:ph type="sldNum" sz="quarter" idx="12"/>
          </p:nvPr>
        </p:nvSpPr>
        <p:spPr/>
        <p:txBody>
          <a:bodyPr/>
          <a:lstStyle/>
          <a:p>
            <a:fld id="{D4AF1BFE-8AAB-4F14-AFFB-BE81CB5BC14E}" type="slidenum">
              <a:rPr lang="zh-SG" altLang="en-US" smtClean="0"/>
              <a:t>‹#›</a:t>
            </a:fld>
            <a:endParaRPr lang="zh-SG" altLang="en-US"/>
          </a:p>
        </p:txBody>
      </p:sp>
    </p:spTree>
    <p:extLst>
      <p:ext uri="{BB962C8B-B14F-4D97-AF65-F5344CB8AC3E}">
        <p14:creationId xmlns:p14="http://schemas.microsoft.com/office/powerpoint/2010/main" val="17820126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CA8EBD-E818-97EA-AD5A-2BB7480CF750}"/>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SG" altLang="en-US"/>
          </a:p>
        </p:txBody>
      </p:sp>
      <p:sp>
        <p:nvSpPr>
          <p:cNvPr id="3" name="内容占位符 2">
            <a:extLst>
              <a:ext uri="{FF2B5EF4-FFF2-40B4-BE49-F238E27FC236}">
                <a16:creationId xmlns:a16="http://schemas.microsoft.com/office/drawing/2014/main" id="{6FEE7321-DC6A-9663-FBB8-22E42068BF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zh-SG" altLang="en-US"/>
          </a:p>
        </p:txBody>
      </p:sp>
      <p:sp>
        <p:nvSpPr>
          <p:cNvPr id="4" name="文本占位符 3">
            <a:extLst>
              <a:ext uri="{FF2B5EF4-FFF2-40B4-BE49-F238E27FC236}">
                <a16:creationId xmlns:a16="http://schemas.microsoft.com/office/drawing/2014/main" id="{7DF5D2CB-C77F-09B0-1F46-F61D7257CE2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F5E71E4C-28BC-5A4C-3246-CE1AE9076D8C}"/>
              </a:ext>
            </a:extLst>
          </p:cNvPr>
          <p:cNvSpPr>
            <a:spLocks noGrp="1"/>
          </p:cNvSpPr>
          <p:nvPr>
            <p:ph type="dt" sz="half" idx="10"/>
          </p:nvPr>
        </p:nvSpPr>
        <p:spPr/>
        <p:txBody>
          <a:bodyPr/>
          <a:lstStyle/>
          <a:p>
            <a:fld id="{07931E22-7369-4ECC-A555-200EE9C2A1C3}" type="datetimeFigureOut">
              <a:rPr lang="zh-SG" altLang="en-US" smtClean="0"/>
              <a:t>2026/07/16</a:t>
            </a:fld>
            <a:endParaRPr lang="zh-SG" altLang="en-US"/>
          </a:p>
        </p:txBody>
      </p:sp>
      <p:sp>
        <p:nvSpPr>
          <p:cNvPr id="6" name="页脚占位符 5">
            <a:extLst>
              <a:ext uri="{FF2B5EF4-FFF2-40B4-BE49-F238E27FC236}">
                <a16:creationId xmlns:a16="http://schemas.microsoft.com/office/drawing/2014/main" id="{6ABEDDEB-0C7B-6346-F675-982E9C148246}"/>
              </a:ext>
            </a:extLst>
          </p:cNvPr>
          <p:cNvSpPr>
            <a:spLocks noGrp="1"/>
          </p:cNvSpPr>
          <p:nvPr>
            <p:ph type="ftr" sz="quarter" idx="11"/>
          </p:nvPr>
        </p:nvSpPr>
        <p:spPr/>
        <p:txBody>
          <a:bodyPr/>
          <a:lstStyle/>
          <a:p>
            <a:endParaRPr lang="zh-SG" altLang="en-US"/>
          </a:p>
        </p:txBody>
      </p:sp>
      <p:sp>
        <p:nvSpPr>
          <p:cNvPr id="7" name="灯片编号占位符 6">
            <a:extLst>
              <a:ext uri="{FF2B5EF4-FFF2-40B4-BE49-F238E27FC236}">
                <a16:creationId xmlns:a16="http://schemas.microsoft.com/office/drawing/2014/main" id="{D6DBD486-89FB-114F-3D23-79EC5A7B4043}"/>
              </a:ext>
            </a:extLst>
          </p:cNvPr>
          <p:cNvSpPr>
            <a:spLocks noGrp="1"/>
          </p:cNvSpPr>
          <p:nvPr>
            <p:ph type="sldNum" sz="quarter" idx="12"/>
          </p:nvPr>
        </p:nvSpPr>
        <p:spPr/>
        <p:txBody>
          <a:bodyPr/>
          <a:lstStyle/>
          <a:p>
            <a:fld id="{D4AF1BFE-8AAB-4F14-AFFB-BE81CB5BC14E}" type="slidenum">
              <a:rPr lang="zh-SG" altLang="en-US" smtClean="0"/>
              <a:t>‹#›</a:t>
            </a:fld>
            <a:endParaRPr lang="zh-SG" altLang="en-US"/>
          </a:p>
        </p:txBody>
      </p:sp>
    </p:spTree>
    <p:extLst>
      <p:ext uri="{BB962C8B-B14F-4D97-AF65-F5344CB8AC3E}">
        <p14:creationId xmlns:p14="http://schemas.microsoft.com/office/powerpoint/2010/main" val="26929687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7C1D5D-2EEE-C0B4-FCE2-DB5741F9BA83}"/>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endParaRPr lang="zh-SG" altLang="en-US"/>
          </a:p>
        </p:txBody>
      </p:sp>
      <p:sp>
        <p:nvSpPr>
          <p:cNvPr id="3" name="图片占位符 2">
            <a:extLst>
              <a:ext uri="{FF2B5EF4-FFF2-40B4-BE49-F238E27FC236}">
                <a16:creationId xmlns:a16="http://schemas.microsoft.com/office/drawing/2014/main" id="{E42FD72D-4E58-CA95-886B-E0A074A13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SG" altLang="en-US"/>
          </a:p>
        </p:txBody>
      </p:sp>
      <p:sp>
        <p:nvSpPr>
          <p:cNvPr id="4" name="文本占位符 3">
            <a:extLst>
              <a:ext uri="{FF2B5EF4-FFF2-40B4-BE49-F238E27FC236}">
                <a16:creationId xmlns:a16="http://schemas.microsoft.com/office/drawing/2014/main" id="{8DFB5665-DB2E-3EF3-607C-9917278B84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B70B83C-172A-AE26-6BF0-A805825B6E84}"/>
              </a:ext>
            </a:extLst>
          </p:cNvPr>
          <p:cNvSpPr>
            <a:spLocks noGrp="1"/>
          </p:cNvSpPr>
          <p:nvPr>
            <p:ph type="dt" sz="half" idx="10"/>
          </p:nvPr>
        </p:nvSpPr>
        <p:spPr/>
        <p:txBody>
          <a:bodyPr/>
          <a:lstStyle/>
          <a:p>
            <a:fld id="{07931E22-7369-4ECC-A555-200EE9C2A1C3}" type="datetimeFigureOut">
              <a:rPr lang="zh-SG" altLang="en-US" smtClean="0"/>
              <a:t>2026/07/16</a:t>
            </a:fld>
            <a:endParaRPr lang="zh-SG" altLang="en-US"/>
          </a:p>
        </p:txBody>
      </p:sp>
      <p:sp>
        <p:nvSpPr>
          <p:cNvPr id="6" name="页脚占位符 5">
            <a:extLst>
              <a:ext uri="{FF2B5EF4-FFF2-40B4-BE49-F238E27FC236}">
                <a16:creationId xmlns:a16="http://schemas.microsoft.com/office/drawing/2014/main" id="{8F378252-9F58-FF27-9B75-06064EE209C3}"/>
              </a:ext>
            </a:extLst>
          </p:cNvPr>
          <p:cNvSpPr>
            <a:spLocks noGrp="1"/>
          </p:cNvSpPr>
          <p:nvPr>
            <p:ph type="ftr" sz="quarter" idx="11"/>
          </p:nvPr>
        </p:nvSpPr>
        <p:spPr/>
        <p:txBody>
          <a:bodyPr/>
          <a:lstStyle/>
          <a:p>
            <a:endParaRPr lang="zh-SG" altLang="en-US"/>
          </a:p>
        </p:txBody>
      </p:sp>
      <p:sp>
        <p:nvSpPr>
          <p:cNvPr id="7" name="灯片编号占位符 6">
            <a:extLst>
              <a:ext uri="{FF2B5EF4-FFF2-40B4-BE49-F238E27FC236}">
                <a16:creationId xmlns:a16="http://schemas.microsoft.com/office/drawing/2014/main" id="{0A752FE2-0D9B-6164-14BD-12FC58D973A1}"/>
              </a:ext>
            </a:extLst>
          </p:cNvPr>
          <p:cNvSpPr>
            <a:spLocks noGrp="1"/>
          </p:cNvSpPr>
          <p:nvPr>
            <p:ph type="sldNum" sz="quarter" idx="12"/>
          </p:nvPr>
        </p:nvSpPr>
        <p:spPr/>
        <p:txBody>
          <a:bodyPr/>
          <a:lstStyle/>
          <a:p>
            <a:fld id="{D4AF1BFE-8AAB-4F14-AFFB-BE81CB5BC14E}" type="slidenum">
              <a:rPr lang="zh-SG" altLang="en-US" smtClean="0"/>
              <a:t>‹#›</a:t>
            </a:fld>
            <a:endParaRPr lang="zh-SG" altLang="en-US"/>
          </a:p>
        </p:txBody>
      </p:sp>
    </p:spTree>
    <p:extLst>
      <p:ext uri="{BB962C8B-B14F-4D97-AF65-F5344CB8AC3E}">
        <p14:creationId xmlns:p14="http://schemas.microsoft.com/office/powerpoint/2010/main" val="23866022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0D5AD0E-5554-B7A5-AFAD-2611C41E5909}"/>
              </a:ext>
            </a:extLst>
          </p:cNvPr>
          <p:cNvSpPr>
            <a:spLocks noGrp="1"/>
          </p:cNvSpPr>
          <p:nvPr>
            <p:ph type="title"/>
          </p:nvPr>
        </p:nvSpPr>
        <p:spPr/>
        <p:txBody>
          <a:bodyPr/>
          <a:lstStyle/>
          <a:p>
            <a:r>
              <a:rPr lang="zh-CN" altLang="en-US"/>
              <a:t>单击此处编辑母版标题样式</a:t>
            </a:r>
            <a:endParaRPr lang="zh-SG" altLang="en-US"/>
          </a:p>
        </p:txBody>
      </p:sp>
      <p:sp>
        <p:nvSpPr>
          <p:cNvPr id="3" name="竖排文字占位符 2">
            <a:extLst>
              <a:ext uri="{FF2B5EF4-FFF2-40B4-BE49-F238E27FC236}">
                <a16:creationId xmlns:a16="http://schemas.microsoft.com/office/drawing/2014/main" id="{082B09C5-C1AF-FCE0-19AA-F54D13BC8809}"/>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zh-SG" altLang="en-US"/>
          </a:p>
        </p:txBody>
      </p:sp>
      <p:sp>
        <p:nvSpPr>
          <p:cNvPr id="4" name="日期占位符 3">
            <a:extLst>
              <a:ext uri="{FF2B5EF4-FFF2-40B4-BE49-F238E27FC236}">
                <a16:creationId xmlns:a16="http://schemas.microsoft.com/office/drawing/2014/main" id="{FB072CC0-17BB-4DD3-3017-8CEC07D552D5}"/>
              </a:ext>
            </a:extLst>
          </p:cNvPr>
          <p:cNvSpPr>
            <a:spLocks noGrp="1"/>
          </p:cNvSpPr>
          <p:nvPr>
            <p:ph type="dt" sz="half" idx="10"/>
          </p:nvPr>
        </p:nvSpPr>
        <p:spPr/>
        <p:txBody>
          <a:bodyPr/>
          <a:lstStyle/>
          <a:p>
            <a:fld id="{07931E22-7369-4ECC-A555-200EE9C2A1C3}" type="datetimeFigureOut">
              <a:rPr lang="zh-SG" altLang="en-US" smtClean="0"/>
              <a:t>2026/07/16</a:t>
            </a:fld>
            <a:endParaRPr lang="zh-SG" altLang="en-US"/>
          </a:p>
        </p:txBody>
      </p:sp>
      <p:sp>
        <p:nvSpPr>
          <p:cNvPr id="5" name="页脚占位符 4">
            <a:extLst>
              <a:ext uri="{FF2B5EF4-FFF2-40B4-BE49-F238E27FC236}">
                <a16:creationId xmlns:a16="http://schemas.microsoft.com/office/drawing/2014/main" id="{6216DB3B-AE97-C622-5802-8B970D6A7F2F}"/>
              </a:ext>
            </a:extLst>
          </p:cNvPr>
          <p:cNvSpPr>
            <a:spLocks noGrp="1"/>
          </p:cNvSpPr>
          <p:nvPr>
            <p:ph type="ftr" sz="quarter" idx="11"/>
          </p:nvPr>
        </p:nvSpPr>
        <p:spPr/>
        <p:txBody>
          <a:bodyPr/>
          <a:lstStyle/>
          <a:p>
            <a:endParaRPr lang="zh-SG" altLang="en-US"/>
          </a:p>
        </p:txBody>
      </p:sp>
      <p:sp>
        <p:nvSpPr>
          <p:cNvPr id="6" name="灯片编号占位符 5">
            <a:extLst>
              <a:ext uri="{FF2B5EF4-FFF2-40B4-BE49-F238E27FC236}">
                <a16:creationId xmlns:a16="http://schemas.microsoft.com/office/drawing/2014/main" id="{FCB740E8-2F1C-5AC0-2005-963D7DE4CC7F}"/>
              </a:ext>
            </a:extLst>
          </p:cNvPr>
          <p:cNvSpPr>
            <a:spLocks noGrp="1"/>
          </p:cNvSpPr>
          <p:nvPr>
            <p:ph type="sldNum" sz="quarter" idx="12"/>
          </p:nvPr>
        </p:nvSpPr>
        <p:spPr/>
        <p:txBody>
          <a:bodyPr/>
          <a:lstStyle/>
          <a:p>
            <a:fld id="{D4AF1BFE-8AAB-4F14-AFFB-BE81CB5BC14E}" type="slidenum">
              <a:rPr lang="zh-SG" altLang="en-US" smtClean="0"/>
              <a:t>‹#›</a:t>
            </a:fld>
            <a:endParaRPr lang="zh-SG" altLang="en-US"/>
          </a:p>
        </p:txBody>
      </p:sp>
    </p:spTree>
    <p:extLst>
      <p:ext uri="{BB962C8B-B14F-4D97-AF65-F5344CB8AC3E}">
        <p14:creationId xmlns:p14="http://schemas.microsoft.com/office/powerpoint/2010/main" val="511980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B52663BB-06B7-198A-A140-08C45A1FAB72}"/>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endParaRPr lang="zh-SG" altLang="en-US"/>
          </a:p>
        </p:txBody>
      </p:sp>
      <p:sp>
        <p:nvSpPr>
          <p:cNvPr id="3" name="竖排文字占位符 2">
            <a:extLst>
              <a:ext uri="{FF2B5EF4-FFF2-40B4-BE49-F238E27FC236}">
                <a16:creationId xmlns:a16="http://schemas.microsoft.com/office/drawing/2014/main" id="{D575485B-EEBD-FE60-3B08-4350A08C7B4E}"/>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zh-SG" altLang="en-US"/>
          </a:p>
        </p:txBody>
      </p:sp>
      <p:sp>
        <p:nvSpPr>
          <p:cNvPr id="4" name="日期占位符 3">
            <a:extLst>
              <a:ext uri="{FF2B5EF4-FFF2-40B4-BE49-F238E27FC236}">
                <a16:creationId xmlns:a16="http://schemas.microsoft.com/office/drawing/2014/main" id="{B2970637-24EA-8302-ED30-C25EAB5DB624}"/>
              </a:ext>
            </a:extLst>
          </p:cNvPr>
          <p:cNvSpPr>
            <a:spLocks noGrp="1"/>
          </p:cNvSpPr>
          <p:nvPr>
            <p:ph type="dt" sz="half" idx="10"/>
          </p:nvPr>
        </p:nvSpPr>
        <p:spPr/>
        <p:txBody>
          <a:bodyPr/>
          <a:lstStyle/>
          <a:p>
            <a:fld id="{07931E22-7369-4ECC-A555-200EE9C2A1C3}" type="datetimeFigureOut">
              <a:rPr lang="zh-SG" altLang="en-US" smtClean="0"/>
              <a:t>2026/07/16</a:t>
            </a:fld>
            <a:endParaRPr lang="zh-SG" altLang="en-US"/>
          </a:p>
        </p:txBody>
      </p:sp>
      <p:sp>
        <p:nvSpPr>
          <p:cNvPr id="5" name="页脚占位符 4">
            <a:extLst>
              <a:ext uri="{FF2B5EF4-FFF2-40B4-BE49-F238E27FC236}">
                <a16:creationId xmlns:a16="http://schemas.microsoft.com/office/drawing/2014/main" id="{7ADFB74B-99AC-8F0B-FC52-594FC851E734}"/>
              </a:ext>
            </a:extLst>
          </p:cNvPr>
          <p:cNvSpPr>
            <a:spLocks noGrp="1"/>
          </p:cNvSpPr>
          <p:nvPr>
            <p:ph type="ftr" sz="quarter" idx="11"/>
          </p:nvPr>
        </p:nvSpPr>
        <p:spPr/>
        <p:txBody>
          <a:bodyPr/>
          <a:lstStyle/>
          <a:p>
            <a:endParaRPr lang="zh-SG" altLang="en-US"/>
          </a:p>
        </p:txBody>
      </p:sp>
      <p:sp>
        <p:nvSpPr>
          <p:cNvPr id="6" name="灯片编号占位符 5">
            <a:extLst>
              <a:ext uri="{FF2B5EF4-FFF2-40B4-BE49-F238E27FC236}">
                <a16:creationId xmlns:a16="http://schemas.microsoft.com/office/drawing/2014/main" id="{ECB91CAC-6DB0-43B0-CE44-C575F0B453E0}"/>
              </a:ext>
            </a:extLst>
          </p:cNvPr>
          <p:cNvSpPr>
            <a:spLocks noGrp="1"/>
          </p:cNvSpPr>
          <p:nvPr>
            <p:ph type="sldNum" sz="quarter" idx="12"/>
          </p:nvPr>
        </p:nvSpPr>
        <p:spPr/>
        <p:txBody>
          <a:bodyPr/>
          <a:lstStyle/>
          <a:p>
            <a:fld id="{D4AF1BFE-8AAB-4F14-AFFB-BE81CB5BC14E}" type="slidenum">
              <a:rPr lang="zh-SG" altLang="en-US" smtClean="0"/>
              <a:t>‹#›</a:t>
            </a:fld>
            <a:endParaRPr lang="zh-SG" altLang="en-US"/>
          </a:p>
        </p:txBody>
      </p:sp>
    </p:spTree>
    <p:extLst>
      <p:ext uri="{BB962C8B-B14F-4D97-AF65-F5344CB8AC3E}">
        <p14:creationId xmlns:p14="http://schemas.microsoft.com/office/powerpoint/2010/main" val="34231913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5A886B1-C4FA-F7D9-7DB7-F642F9FD609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zh-SG" altLang="en-US"/>
          </a:p>
        </p:txBody>
      </p:sp>
      <p:sp>
        <p:nvSpPr>
          <p:cNvPr id="3" name="文本占位符 2">
            <a:extLst>
              <a:ext uri="{FF2B5EF4-FFF2-40B4-BE49-F238E27FC236}">
                <a16:creationId xmlns:a16="http://schemas.microsoft.com/office/drawing/2014/main" id="{0472C01C-8929-11E6-C272-A9BF16610A5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zh-SG" altLang="en-US"/>
          </a:p>
        </p:txBody>
      </p:sp>
      <p:sp>
        <p:nvSpPr>
          <p:cNvPr id="4" name="日期占位符 3">
            <a:extLst>
              <a:ext uri="{FF2B5EF4-FFF2-40B4-BE49-F238E27FC236}">
                <a16:creationId xmlns:a16="http://schemas.microsoft.com/office/drawing/2014/main" id="{26AA31C8-5D88-9688-58CD-C2C455E728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7931E22-7369-4ECC-A555-200EE9C2A1C3}" type="datetimeFigureOut">
              <a:rPr lang="zh-SG" altLang="en-US" smtClean="0"/>
              <a:t>2026/07/16</a:t>
            </a:fld>
            <a:endParaRPr lang="zh-SG" altLang="en-US"/>
          </a:p>
        </p:txBody>
      </p:sp>
      <p:sp>
        <p:nvSpPr>
          <p:cNvPr id="5" name="页脚占位符 4">
            <a:extLst>
              <a:ext uri="{FF2B5EF4-FFF2-40B4-BE49-F238E27FC236}">
                <a16:creationId xmlns:a16="http://schemas.microsoft.com/office/drawing/2014/main" id="{638DE21E-A288-D14F-FCDC-CF2AC35754D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zh-SG" altLang="en-US"/>
          </a:p>
        </p:txBody>
      </p:sp>
      <p:sp>
        <p:nvSpPr>
          <p:cNvPr id="6" name="灯片编号占位符 5">
            <a:extLst>
              <a:ext uri="{FF2B5EF4-FFF2-40B4-BE49-F238E27FC236}">
                <a16:creationId xmlns:a16="http://schemas.microsoft.com/office/drawing/2014/main" id="{E9E2B78C-2EE5-A198-987E-3E011D7A13E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4AF1BFE-8AAB-4F14-AFFB-BE81CB5BC14E}" type="slidenum">
              <a:rPr lang="zh-SG" altLang="en-US" smtClean="0"/>
              <a:t>‹#›</a:t>
            </a:fld>
            <a:endParaRPr lang="zh-SG" altLang="en-US"/>
          </a:p>
        </p:txBody>
      </p:sp>
    </p:spTree>
    <p:extLst>
      <p:ext uri="{BB962C8B-B14F-4D97-AF65-F5344CB8AC3E}">
        <p14:creationId xmlns:p14="http://schemas.microsoft.com/office/powerpoint/2010/main" val="46723273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SG"/>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5A971-B1CC-2C35-814D-C1037C24EC80}"/>
              </a:ext>
            </a:extLst>
          </p:cNvPr>
          <p:cNvSpPr>
            <a:spLocks noGrp="1"/>
          </p:cNvSpPr>
          <p:nvPr>
            <p:ph type="ctrTitle"/>
          </p:nvPr>
        </p:nvSpPr>
        <p:spPr/>
        <p:txBody>
          <a:bodyPr anchor="ctr"/>
          <a:lstStyle/>
          <a:p>
            <a:r>
              <a:rPr lang="en-US" altLang="zh-SG" dirty="0"/>
              <a:t>4.1 </a:t>
            </a:r>
            <a:r>
              <a:rPr lang="zh-CN" altLang="en-US" dirty="0"/>
              <a:t>从调参到控制器设计</a:t>
            </a:r>
            <a:endParaRPr lang="zh-SG" altLang="en-US" dirty="0"/>
          </a:p>
        </p:txBody>
      </p:sp>
      <p:sp>
        <p:nvSpPr>
          <p:cNvPr id="3" name="副标题 2">
            <a:extLst>
              <a:ext uri="{FF2B5EF4-FFF2-40B4-BE49-F238E27FC236}">
                <a16:creationId xmlns:a16="http://schemas.microsoft.com/office/drawing/2014/main" id="{C6DE6775-ED5A-3B3E-6706-3E6EA376AEE7}"/>
              </a:ext>
            </a:extLst>
          </p:cNvPr>
          <p:cNvSpPr>
            <a:spLocks noGrp="1"/>
          </p:cNvSpPr>
          <p:nvPr>
            <p:ph type="subTitle" idx="1"/>
          </p:nvPr>
        </p:nvSpPr>
        <p:spPr>
          <a:xfrm>
            <a:off x="3024076" y="3509963"/>
            <a:ext cx="6143847" cy="3348037"/>
          </a:xfrm>
        </p:spPr>
        <p:txBody>
          <a:bodyPr>
            <a:normAutofit/>
          </a:bodyPr>
          <a:lstStyle/>
          <a:p>
            <a:r>
              <a:rPr lang="zh-CN" altLang="en-US" dirty="0"/>
              <a:t>要求：</a:t>
            </a:r>
            <a:endParaRPr lang="en-US" altLang="zh-CN" dirty="0"/>
          </a:p>
          <a:p>
            <a:pPr marL="342900" indent="-342900" algn="l">
              <a:buFont typeface="Arial" panose="020B0604020202020204" pitchFamily="34" charset="0"/>
              <a:buChar char="•"/>
            </a:pPr>
            <a:r>
              <a:rPr lang="zh-CN" altLang="en-US" dirty="0"/>
              <a:t>了解闭环控制的基本概念</a:t>
            </a:r>
            <a:endParaRPr lang="en-US" altLang="zh-CN" dirty="0"/>
          </a:p>
          <a:p>
            <a:pPr marL="342900" indent="-342900" algn="l">
              <a:buFont typeface="Arial" panose="020B0604020202020204" pitchFamily="34" charset="0"/>
              <a:buChar char="•"/>
            </a:pPr>
            <a:r>
              <a:rPr lang="zh-CN" altLang="en-US" dirty="0"/>
              <a:t>通过上升时间、调节时间、超调量和稳态误差等指标直观评价阶跃响应</a:t>
            </a:r>
            <a:endParaRPr lang="en-US" altLang="zh-CN" dirty="0"/>
          </a:p>
          <a:p>
            <a:pPr marL="342900" indent="-342900" algn="l">
              <a:buFont typeface="Arial" panose="020B0604020202020204" pitchFamily="34" charset="0"/>
              <a:buChar char="•"/>
            </a:pPr>
            <a:r>
              <a:rPr lang="zh-CN" altLang="en-US" dirty="0"/>
              <a:t>理解控制量的重要性，以及控制量对响应的限制</a:t>
            </a:r>
          </a:p>
        </p:txBody>
      </p:sp>
    </p:spTree>
    <p:extLst>
      <p:ext uri="{BB962C8B-B14F-4D97-AF65-F5344CB8AC3E}">
        <p14:creationId xmlns:p14="http://schemas.microsoft.com/office/powerpoint/2010/main" val="42677256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a:extLst>
              <a:ext uri="{FF2B5EF4-FFF2-40B4-BE49-F238E27FC236}">
                <a16:creationId xmlns:a16="http://schemas.microsoft.com/office/drawing/2014/main" id="{7A3F4B21-3407-F384-AFD1-0F872B721C52}"/>
              </a:ext>
            </a:extLst>
          </p:cNvPr>
          <p:cNvPicPr>
            <a:picLocks noChangeAspect="1"/>
          </p:cNvPicPr>
          <p:nvPr/>
        </p:nvPicPr>
        <p:blipFill>
          <a:blip r:embed="rId2"/>
          <a:stretch>
            <a:fillRect/>
          </a:stretch>
        </p:blipFill>
        <p:spPr>
          <a:xfrm>
            <a:off x="5960234" y="3014239"/>
            <a:ext cx="6231766" cy="987055"/>
          </a:xfrm>
          <a:prstGeom prst="rect">
            <a:avLst/>
          </a:prstGeom>
        </p:spPr>
      </p:pic>
      <p:sp>
        <p:nvSpPr>
          <p:cNvPr id="2" name="标题 1">
            <a:extLst>
              <a:ext uri="{FF2B5EF4-FFF2-40B4-BE49-F238E27FC236}">
                <a16:creationId xmlns:a16="http://schemas.microsoft.com/office/drawing/2014/main" id="{285535D0-2033-D04E-9E82-6633DB7655C0}"/>
              </a:ext>
            </a:extLst>
          </p:cNvPr>
          <p:cNvSpPr>
            <a:spLocks noGrp="1"/>
          </p:cNvSpPr>
          <p:nvPr>
            <p:ph type="title"/>
          </p:nvPr>
        </p:nvSpPr>
        <p:spPr/>
        <p:txBody>
          <a:bodyPr/>
          <a:lstStyle/>
          <a:p>
            <a:r>
              <a:rPr lang="zh-CN" altLang="en-US" dirty="0"/>
              <a:t>闭环控制的基本概念</a:t>
            </a:r>
            <a:endParaRPr lang="zh-SG" altLang="en-US" dirty="0"/>
          </a:p>
        </p:txBody>
      </p:sp>
      <p:sp>
        <p:nvSpPr>
          <p:cNvPr id="3" name="内容占位符 2">
            <a:extLst>
              <a:ext uri="{FF2B5EF4-FFF2-40B4-BE49-F238E27FC236}">
                <a16:creationId xmlns:a16="http://schemas.microsoft.com/office/drawing/2014/main" id="{F1054843-5A83-DF54-A83C-73F66861DD8D}"/>
              </a:ext>
            </a:extLst>
          </p:cNvPr>
          <p:cNvSpPr>
            <a:spLocks noGrp="1"/>
          </p:cNvSpPr>
          <p:nvPr>
            <p:ph idx="1"/>
          </p:nvPr>
        </p:nvSpPr>
        <p:spPr/>
        <p:txBody>
          <a:bodyPr/>
          <a:lstStyle/>
          <a:p>
            <a:r>
              <a:rPr lang="zh-CN" altLang="en-US" dirty="0"/>
              <a:t>以使用电机控制云台为例</a:t>
            </a:r>
            <a:endParaRPr lang="en-US" altLang="zh-CN" dirty="0"/>
          </a:p>
          <a:p>
            <a:pPr marL="0" indent="0">
              <a:buNone/>
            </a:pPr>
            <a:r>
              <a:rPr lang="zh-CN" altLang="en-US" dirty="0"/>
              <a:t>给定期望角度，观测当前速度，</a:t>
            </a:r>
            <a:endParaRPr lang="en-US" altLang="zh-CN" dirty="0"/>
          </a:p>
          <a:p>
            <a:pPr marL="0" indent="0">
              <a:buNone/>
            </a:pPr>
            <a:r>
              <a:rPr lang="zh-CN" altLang="en-US" dirty="0"/>
              <a:t>计算电机扭矩，最终使云台</a:t>
            </a:r>
            <a:endParaRPr lang="en-US" altLang="zh-CN" dirty="0"/>
          </a:p>
          <a:p>
            <a:pPr marL="0" indent="0">
              <a:buNone/>
            </a:pPr>
            <a:r>
              <a:rPr lang="zh-CN" altLang="en-US" dirty="0"/>
              <a:t>转到指定角度</a:t>
            </a:r>
            <a:endParaRPr lang="en-US" altLang="zh-CN" sz="1800" dirty="0"/>
          </a:p>
          <a:p>
            <a:pPr marL="0" indent="0">
              <a:buNone/>
            </a:pPr>
            <a:endParaRPr lang="en-US" altLang="zh-CN" sz="1400" dirty="0"/>
          </a:p>
          <a:p>
            <a:pPr marL="0" indent="0">
              <a:buNone/>
            </a:pPr>
            <a:r>
              <a:rPr lang="zh-CN" altLang="en-US" dirty="0"/>
              <a:t>此时期望角度是目标，电机扭矩是控制量，云台角度是输出，</a:t>
            </a:r>
            <a:endParaRPr lang="en-US" altLang="zh-CN" dirty="0"/>
          </a:p>
          <a:p>
            <a:pPr marL="0" indent="0">
              <a:buNone/>
            </a:pPr>
            <a:r>
              <a:rPr lang="zh-CN" altLang="en-US" dirty="0"/>
              <a:t>编码器或</a:t>
            </a:r>
            <a:r>
              <a:rPr lang="en-US" altLang="zh-CN" dirty="0"/>
              <a:t>IMU</a:t>
            </a:r>
            <a:r>
              <a:rPr lang="zh-CN" altLang="en-US" dirty="0"/>
              <a:t>观测的云台角度是反馈量</a:t>
            </a:r>
            <a:endParaRPr lang="en-US" altLang="zh-CN" dirty="0"/>
          </a:p>
        </p:txBody>
      </p:sp>
      <p:pic>
        <p:nvPicPr>
          <p:cNvPr id="5" name="图片 4">
            <a:extLst>
              <a:ext uri="{FF2B5EF4-FFF2-40B4-BE49-F238E27FC236}">
                <a16:creationId xmlns:a16="http://schemas.microsoft.com/office/drawing/2014/main" id="{C66EC2F5-9D2E-BA47-3200-7934DA874FEA}"/>
              </a:ext>
            </a:extLst>
          </p:cNvPr>
          <p:cNvPicPr>
            <a:picLocks noChangeAspect="1"/>
          </p:cNvPicPr>
          <p:nvPr/>
        </p:nvPicPr>
        <p:blipFill>
          <a:blip r:embed="rId3"/>
          <a:stretch>
            <a:fillRect/>
          </a:stretch>
        </p:blipFill>
        <p:spPr>
          <a:xfrm>
            <a:off x="5960234" y="1689682"/>
            <a:ext cx="6231766" cy="1325564"/>
          </a:xfrm>
          <a:prstGeom prst="rect">
            <a:avLst/>
          </a:prstGeom>
        </p:spPr>
      </p:pic>
      <p:sp>
        <p:nvSpPr>
          <p:cNvPr id="8" name="矩形: 圆角 7">
            <a:extLst>
              <a:ext uri="{FF2B5EF4-FFF2-40B4-BE49-F238E27FC236}">
                <a16:creationId xmlns:a16="http://schemas.microsoft.com/office/drawing/2014/main" id="{E82C5270-8010-26BD-B7FC-8DBC38175F87}"/>
              </a:ext>
            </a:extLst>
          </p:cNvPr>
          <p:cNvSpPr/>
          <p:nvPr/>
        </p:nvSpPr>
        <p:spPr>
          <a:xfrm>
            <a:off x="8702749" y="3084649"/>
            <a:ext cx="3359888" cy="1058911"/>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SG" altLang="en-US"/>
          </a:p>
        </p:txBody>
      </p:sp>
      <p:sp>
        <p:nvSpPr>
          <p:cNvPr id="10" name="文本框 9">
            <a:extLst>
              <a:ext uri="{FF2B5EF4-FFF2-40B4-BE49-F238E27FC236}">
                <a16:creationId xmlns:a16="http://schemas.microsoft.com/office/drawing/2014/main" id="{AADB9E59-B33E-FAB6-6BB3-C6D341BE4928}"/>
              </a:ext>
            </a:extLst>
          </p:cNvPr>
          <p:cNvSpPr txBox="1"/>
          <p:nvPr/>
        </p:nvSpPr>
        <p:spPr>
          <a:xfrm>
            <a:off x="9076117" y="3834528"/>
            <a:ext cx="2710074" cy="338554"/>
          </a:xfrm>
          <a:prstGeom prst="rect">
            <a:avLst/>
          </a:prstGeom>
          <a:noFill/>
        </p:spPr>
        <p:txBody>
          <a:bodyPr wrap="square" rtlCol="0">
            <a:spAutoFit/>
          </a:bodyPr>
          <a:lstStyle/>
          <a:p>
            <a:r>
              <a:rPr lang="zh-CN" altLang="en-US" sz="1600" dirty="0"/>
              <a:t>（我们只关心框内部分）</a:t>
            </a:r>
            <a:endParaRPr lang="zh-SG" altLang="en-US" sz="1600" dirty="0"/>
          </a:p>
        </p:txBody>
      </p:sp>
      <p:sp>
        <p:nvSpPr>
          <p:cNvPr id="11" name="矩形: 圆角 10">
            <a:extLst>
              <a:ext uri="{FF2B5EF4-FFF2-40B4-BE49-F238E27FC236}">
                <a16:creationId xmlns:a16="http://schemas.microsoft.com/office/drawing/2014/main" id="{06268102-22AA-4DC1-AEC7-4A61E1B7577C}"/>
              </a:ext>
            </a:extLst>
          </p:cNvPr>
          <p:cNvSpPr/>
          <p:nvPr/>
        </p:nvSpPr>
        <p:spPr>
          <a:xfrm>
            <a:off x="7596963" y="1620279"/>
            <a:ext cx="2216888" cy="676354"/>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SG" altLang="en-US"/>
          </a:p>
        </p:txBody>
      </p:sp>
      <p:sp>
        <p:nvSpPr>
          <p:cNvPr id="12" name="文本框 11">
            <a:extLst>
              <a:ext uri="{FF2B5EF4-FFF2-40B4-BE49-F238E27FC236}">
                <a16:creationId xmlns:a16="http://schemas.microsoft.com/office/drawing/2014/main" id="{834157B6-BCF6-4D57-A587-63B63F369FAF}"/>
              </a:ext>
            </a:extLst>
          </p:cNvPr>
          <p:cNvSpPr txBox="1"/>
          <p:nvPr/>
        </p:nvSpPr>
        <p:spPr>
          <a:xfrm>
            <a:off x="7400924" y="1648341"/>
            <a:ext cx="2497323" cy="338554"/>
          </a:xfrm>
          <a:prstGeom prst="rect">
            <a:avLst/>
          </a:prstGeom>
          <a:noFill/>
        </p:spPr>
        <p:txBody>
          <a:bodyPr wrap="square" rtlCol="0">
            <a:spAutoFit/>
          </a:bodyPr>
          <a:lstStyle/>
          <a:p>
            <a:r>
              <a:rPr lang="zh-CN" altLang="en-US" sz="1600" dirty="0"/>
              <a:t>（分析时简化为同一环节）</a:t>
            </a:r>
            <a:endParaRPr lang="zh-SG" altLang="en-US" sz="1600" dirty="0"/>
          </a:p>
        </p:txBody>
      </p:sp>
    </p:spTree>
    <p:extLst>
      <p:ext uri="{BB962C8B-B14F-4D97-AF65-F5344CB8AC3E}">
        <p14:creationId xmlns:p14="http://schemas.microsoft.com/office/powerpoint/2010/main" val="14157091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9DA5210F-EA22-51A3-4DB1-D831F14E30E1}"/>
              </a:ext>
            </a:extLst>
          </p:cNvPr>
          <p:cNvPicPr>
            <a:picLocks noChangeAspect="1"/>
          </p:cNvPicPr>
          <p:nvPr/>
        </p:nvPicPr>
        <p:blipFill>
          <a:blip r:embed="rId3"/>
          <a:stretch>
            <a:fillRect/>
          </a:stretch>
        </p:blipFill>
        <p:spPr>
          <a:xfrm>
            <a:off x="7211581" y="1690688"/>
            <a:ext cx="4980419" cy="3466103"/>
          </a:xfrm>
          <a:prstGeom prst="rect">
            <a:avLst/>
          </a:prstGeom>
        </p:spPr>
      </p:pic>
      <p:sp>
        <p:nvSpPr>
          <p:cNvPr id="2" name="标题 1">
            <a:extLst>
              <a:ext uri="{FF2B5EF4-FFF2-40B4-BE49-F238E27FC236}">
                <a16:creationId xmlns:a16="http://schemas.microsoft.com/office/drawing/2014/main" id="{5785B0BF-A0BE-0212-03CA-A49150CA0D9C}"/>
              </a:ext>
            </a:extLst>
          </p:cNvPr>
          <p:cNvSpPr>
            <a:spLocks noGrp="1"/>
          </p:cNvSpPr>
          <p:nvPr>
            <p:ph type="title"/>
          </p:nvPr>
        </p:nvSpPr>
        <p:spPr/>
        <p:txBody>
          <a:bodyPr/>
          <a:lstStyle/>
          <a:p>
            <a:r>
              <a:rPr lang="zh-CN" altLang="en-US" dirty="0"/>
              <a:t>描述阶跃响应：目标突变，输出怎么变？</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03070B06-034F-54B6-E3CB-1EA31C2A57C8}"/>
                  </a:ext>
                </a:extLst>
              </p:cNvPr>
              <p:cNvSpPr>
                <a:spLocks noGrp="1"/>
              </p:cNvSpPr>
              <p:nvPr>
                <p:ph idx="1"/>
              </p:nvPr>
            </p:nvSpPr>
            <p:spPr>
              <a:xfrm>
                <a:off x="838200" y="1825624"/>
                <a:ext cx="10515600" cy="5032375"/>
              </a:xfrm>
            </p:spPr>
            <p:txBody>
              <a:bodyPr>
                <a:normAutofit/>
              </a:bodyPr>
              <a:lstStyle/>
              <a:p>
                <a14:m>
                  <m:oMath xmlns:m="http://schemas.openxmlformats.org/officeDocument/2006/math">
                    <m:sSub>
                      <m:sSubPr>
                        <m:ctrlPr>
                          <a:rPr lang="zh-CN" altLang="en-US" i="1" smtClean="0">
                            <a:solidFill>
                              <a:schemeClr val="tx1"/>
                            </a:solidFill>
                            <a:latin typeface="Cambria Math" panose="02040503050406030204" pitchFamily="18" charset="0"/>
                          </a:rPr>
                        </m:ctrlPr>
                      </m:sSubPr>
                      <m:e>
                        <m:r>
                          <a:rPr lang="zh-CN" altLang="en-US" i="1" smtClean="0">
                            <a:solidFill>
                              <a:schemeClr val="tx1"/>
                            </a:solidFill>
                            <a:latin typeface="Cambria Math" panose="02040503050406030204" pitchFamily="18" charset="0"/>
                          </a:rPr>
                          <m:t>𝑡</m:t>
                        </m:r>
                      </m:e>
                      <m:sub>
                        <m:r>
                          <a:rPr lang="zh-CN" altLang="en-US" i="1" smtClean="0">
                            <a:solidFill>
                              <a:schemeClr val="tx1"/>
                            </a:solidFill>
                            <a:latin typeface="Cambria Math" panose="02040503050406030204" pitchFamily="18" charset="0"/>
                          </a:rPr>
                          <m:t>𝑟</m:t>
                        </m:r>
                      </m:sub>
                    </m:sSub>
                  </m:oMath>
                </a14:m>
                <a:r>
                  <a:rPr lang="zh-CN" altLang="en-US" dirty="0">
                    <a:solidFill>
                      <a:schemeClr val="tx1"/>
                    </a:solidFill>
                  </a:rPr>
                  <a:t>：上升时间（</a:t>
                </a:r>
                <a:r>
                  <a:rPr lang="en-US" altLang="zh-CN" dirty="0">
                    <a:solidFill>
                      <a:schemeClr val="tx1"/>
                    </a:solidFill>
                  </a:rPr>
                  <a:t>Rise time</a:t>
                </a:r>
                <a:r>
                  <a:rPr lang="zh-CN" altLang="en-US" dirty="0">
                    <a:solidFill>
                      <a:schemeClr val="tx1"/>
                    </a:solidFill>
                  </a:rPr>
                  <a:t>）</a:t>
                </a:r>
                <a:endParaRPr lang="en-US" altLang="zh-CN" dirty="0">
                  <a:solidFill>
                    <a:schemeClr val="tx1"/>
                  </a:solidFill>
                </a:endParaRPr>
              </a:p>
              <a:p>
                <a:pPr lvl="1"/>
                <a:r>
                  <a:rPr lang="zh-CN" altLang="en-US" dirty="0">
                    <a:solidFill>
                      <a:schemeClr val="tx1"/>
                    </a:solidFill>
                  </a:rPr>
                  <a:t>输出从终值的</a:t>
                </a:r>
                <a:r>
                  <a:rPr lang="en-US" altLang="zh-CN" dirty="0">
                    <a:solidFill>
                      <a:schemeClr val="tx1"/>
                    </a:solidFill>
                  </a:rPr>
                  <a:t>10%</a:t>
                </a:r>
                <a:r>
                  <a:rPr lang="zh-CN" altLang="en-US" dirty="0">
                    <a:solidFill>
                      <a:schemeClr val="tx1"/>
                    </a:solidFill>
                  </a:rPr>
                  <a:t>上升到</a:t>
                </a:r>
                <a:r>
                  <a:rPr lang="en-US" altLang="zh-CN" dirty="0">
                    <a:solidFill>
                      <a:schemeClr val="tx1"/>
                    </a:solidFill>
                  </a:rPr>
                  <a:t>90%</a:t>
                </a:r>
                <a:r>
                  <a:rPr lang="zh-CN" altLang="en-US" dirty="0">
                    <a:solidFill>
                      <a:schemeClr val="tx1"/>
                    </a:solidFill>
                  </a:rPr>
                  <a:t>所需的时间</a:t>
                </a:r>
                <a:endParaRPr lang="en-US" altLang="zh-CN" dirty="0">
                  <a:solidFill>
                    <a:schemeClr val="tx1"/>
                  </a:solidFill>
                </a:endParaRPr>
              </a:p>
              <a:p>
                <a:pPr lvl="1"/>
                <a:r>
                  <a:rPr lang="zh-CN" altLang="en-US" dirty="0">
                    <a:solidFill>
                      <a:schemeClr val="tx1"/>
                    </a:solidFill>
                  </a:rPr>
                  <a:t>越快越好</a:t>
                </a:r>
              </a:p>
              <a:p>
                <a14:m>
                  <m:oMath xmlns:m="http://schemas.openxmlformats.org/officeDocument/2006/math">
                    <m:sSub>
                      <m:sSubPr>
                        <m:ctrlPr>
                          <a:rPr lang="zh-CN" altLang="en-US" i="1" smtClean="0">
                            <a:solidFill>
                              <a:schemeClr val="tx1"/>
                            </a:solidFill>
                            <a:latin typeface="Cambria Math" panose="02040503050406030204" pitchFamily="18" charset="0"/>
                          </a:rPr>
                        </m:ctrlPr>
                      </m:sSubPr>
                      <m:e>
                        <m:r>
                          <m:rPr>
                            <m:sty m:val="p"/>
                          </m:rPr>
                          <a:rPr lang="en-US" altLang="zh-CN" i="1">
                            <a:solidFill>
                              <a:schemeClr val="tx1"/>
                            </a:solidFill>
                            <a:latin typeface="Cambria Math" panose="02040503050406030204" pitchFamily="18" charset="0"/>
                          </a:rPr>
                          <m:t>M</m:t>
                        </m:r>
                      </m:e>
                      <m:sub>
                        <m:r>
                          <a:rPr lang="zh-CN" altLang="en-US" i="1" smtClean="0">
                            <a:solidFill>
                              <a:schemeClr val="tx1"/>
                            </a:solidFill>
                            <a:latin typeface="Cambria Math" panose="02040503050406030204" pitchFamily="18" charset="0"/>
                          </a:rPr>
                          <m:t>𝑃</m:t>
                        </m:r>
                      </m:sub>
                    </m:sSub>
                    <m:r>
                      <a:rPr lang="zh-CN" altLang="en-US" i="1">
                        <a:latin typeface="Cambria Math" panose="02040503050406030204" pitchFamily="18" charset="0"/>
                      </a:rPr>
                      <m:t>：</m:t>
                    </m:r>
                  </m:oMath>
                </a14:m>
                <a:r>
                  <a:rPr lang="zh-CN" altLang="en-US" dirty="0">
                    <a:solidFill>
                      <a:schemeClr val="tx1"/>
                    </a:solidFill>
                  </a:rPr>
                  <a:t>超调量（</a:t>
                </a:r>
                <a:r>
                  <a:rPr lang="en-US" altLang="zh-CN" dirty="0">
                    <a:solidFill>
                      <a:schemeClr val="tx1"/>
                    </a:solidFill>
                  </a:rPr>
                  <a:t>Overshoot</a:t>
                </a:r>
                <a:r>
                  <a:rPr lang="zh-CN" altLang="en-US" dirty="0">
                    <a:solidFill>
                      <a:schemeClr val="tx1"/>
                    </a:solidFill>
                  </a:rPr>
                  <a:t>）</a:t>
                </a:r>
                <a:endParaRPr lang="en-US" altLang="zh-CN" dirty="0">
                  <a:solidFill>
                    <a:schemeClr val="tx1"/>
                  </a:solidFill>
                </a:endParaRPr>
              </a:p>
              <a:p>
                <a:pPr lvl="1"/>
                <a:r>
                  <a:rPr lang="zh-CN" altLang="en-US" dirty="0">
                    <a:solidFill>
                      <a:schemeClr val="tx1"/>
                    </a:solidFill>
                  </a:rPr>
                  <a:t>输出超过设定值的幅度，以百分比表示</a:t>
                </a:r>
                <a:endParaRPr lang="en-US" altLang="zh-CN" dirty="0">
                  <a:solidFill>
                    <a:schemeClr val="tx1"/>
                  </a:solidFill>
                </a:endParaRPr>
              </a:p>
              <a:p>
                <a:pPr lvl="1"/>
                <a:r>
                  <a:rPr lang="zh-CN" altLang="en-US" dirty="0">
                    <a:solidFill>
                      <a:schemeClr val="tx1"/>
                    </a:solidFill>
                  </a:rPr>
                  <a:t>越小越好</a:t>
                </a:r>
              </a:p>
              <a:p>
                <a14:m>
                  <m:oMath xmlns:m="http://schemas.openxmlformats.org/officeDocument/2006/math">
                    <m:sSub>
                      <m:sSubPr>
                        <m:ctrlPr>
                          <a:rPr lang="zh-CN" altLang="en-US" i="1" smtClean="0">
                            <a:solidFill>
                              <a:schemeClr val="tx1"/>
                            </a:solidFill>
                            <a:latin typeface="Cambria Math" panose="02040503050406030204" pitchFamily="18" charset="0"/>
                          </a:rPr>
                        </m:ctrlPr>
                      </m:sSubPr>
                      <m:e>
                        <m:r>
                          <a:rPr lang="zh-CN" altLang="en-US" i="1" smtClean="0">
                            <a:solidFill>
                              <a:schemeClr val="tx1"/>
                            </a:solidFill>
                            <a:latin typeface="Cambria Math" panose="02040503050406030204" pitchFamily="18" charset="0"/>
                          </a:rPr>
                          <m:t>𝑡</m:t>
                        </m:r>
                      </m:e>
                      <m:sub>
                        <m:r>
                          <m:rPr>
                            <m:sty m:val="p"/>
                          </m:rPr>
                          <a:rPr lang="en-US" altLang="zh-CN" i="1">
                            <a:latin typeface="Cambria Math" panose="02040503050406030204" pitchFamily="18" charset="0"/>
                          </a:rPr>
                          <m:t>s</m:t>
                        </m:r>
                      </m:sub>
                    </m:sSub>
                  </m:oMath>
                </a14:m>
                <a:r>
                  <a:rPr lang="zh-CN" altLang="en-US" dirty="0">
                    <a:solidFill>
                      <a:schemeClr val="tx1"/>
                    </a:solidFill>
                  </a:rPr>
                  <a:t>：调节时间（</a:t>
                </a:r>
                <a:r>
                  <a:rPr lang="en-US" altLang="zh-CN" dirty="0">
                    <a:solidFill>
                      <a:schemeClr val="tx1"/>
                    </a:solidFill>
                  </a:rPr>
                  <a:t>Settling time</a:t>
                </a:r>
                <a:r>
                  <a:rPr lang="zh-CN" altLang="en-US" dirty="0">
                    <a:solidFill>
                      <a:schemeClr val="tx1"/>
                    </a:solidFill>
                  </a:rPr>
                  <a:t>）</a:t>
                </a:r>
                <a:endParaRPr lang="en-US" altLang="zh-CN" dirty="0">
                  <a:solidFill>
                    <a:schemeClr val="tx1"/>
                  </a:solidFill>
                </a:endParaRPr>
              </a:p>
              <a:p>
                <a:pPr lvl="1"/>
                <a:r>
                  <a:rPr lang="zh-CN" altLang="en-US" dirty="0">
                    <a:solidFill>
                      <a:schemeClr val="tx1"/>
                    </a:solidFill>
                  </a:rPr>
                  <a:t>输出不再超出终值</a:t>
                </a:r>
                <a:r>
                  <a:rPr lang="en-US" altLang="zh-CN" dirty="0">
                    <a:solidFill>
                      <a:schemeClr val="tx1"/>
                    </a:solidFill>
                  </a:rPr>
                  <a:t>±2%</a:t>
                </a:r>
                <a:r>
                  <a:rPr lang="zh-CN" altLang="en-US" dirty="0">
                    <a:solidFill>
                      <a:schemeClr val="tx1"/>
                    </a:solidFill>
                  </a:rPr>
                  <a:t>范围所需的时间</a:t>
                </a:r>
              </a:p>
              <a:p>
                <a14:m>
                  <m:oMath xmlns:m="http://schemas.openxmlformats.org/officeDocument/2006/math">
                    <m:sSub>
                      <m:sSubPr>
                        <m:ctrlPr>
                          <a:rPr lang="zh-CN" altLang="en-US" i="1" smtClean="0">
                            <a:solidFill>
                              <a:schemeClr val="tx1"/>
                            </a:solidFill>
                            <a:latin typeface="Cambria Math" panose="02040503050406030204" pitchFamily="18" charset="0"/>
                          </a:rPr>
                        </m:ctrlPr>
                      </m:sSubPr>
                      <m:e>
                        <m:r>
                          <m:rPr>
                            <m:sty m:val="p"/>
                          </m:rPr>
                          <a:rPr lang="en-US" altLang="zh-CN" i="1">
                            <a:latin typeface="Cambria Math" panose="02040503050406030204" pitchFamily="18" charset="0"/>
                          </a:rPr>
                          <m:t>e</m:t>
                        </m:r>
                      </m:e>
                      <m:sub>
                        <m:r>
                          <a:rPr lang="en-US" altLang="zh-CN" b="0" i="1" smtClean="0">
                            <a:solidFill>
                              <a:schemeClr val="tx1"/>
                            </a:solidFill>
                            <a:latin typeface="Cambria Math" panose="02040503050406030204" pitchFamily="18" charset="0"/>
                          </a:rPr>
                          <m:t>𝑠</m:t>
                        </m:r>
                        <m:r>
                          <a:rPr lang="en-US" altLang="zh-CN" b="0" i="1" smtClean="0">
                            <a:latin typeface="Cambria Math" panose="02040503050406030204" pitchFamily="18" charset="0"/>
                          </a:rPr>
                          <m:t>𝑠</m:t>
                        </m:r>
                      </m:sub>
                    </m:sSub>
                    <m:r>
                      <a:rPr lang="zh-CN" altLang="en-US" i="1">
                        <a:latin typeface="Cambria Math" panose="02040503050406030204" pitchFamily="18" charset="0"/>
                      </a:rPr>
                      <m:t>：</m:t>
                    </m:r>
                  </m:oMath>
                </a14:m>
                <a:r>
                  <a:rPr lang="zh-CN" altLang="en-US" dirty="0">
                    <a:solidFill>
                      <a:schemeClr val="tx1"/>
                    </a:solidFill>
                  </a:rPr>
                  <a:t>稳态误差（</a:t>
                </a:r>
                <a:r>
                  <a:rPr lang="en-US" altLang="zh-CN" dirty="0">
                    <a:solidFill>
                      <a:schemeClr val="tx1"/>
                    </a:solidFill>
                  </a:rPr>
                  <a:t>Steady-state error</a:t>
                </a:r>
                <a:r>
                  <a:rPr lang="zh-CN" altLang="en-US" dirty="0">
                    <a:solidFill>
                      <a:schemeClr val="tx1"/>
                    </a:solidFill>
                  </a:rPr>
                  <a:t>）</a:t>
                </a:r>
                <a:endParaRPr lang="en-US" altLang="zh-CN" dirty="0">
                  <a:solidFill>
                    <a:schemeClr val="tx1"/>
                  </a:solidFill>
                </a:endParaRPr>
              </a:p>
              <a:p>
                <a:pPr lvl="1"/>
                <a:r>
                  <a:rPr lang="zh-CN" altLang="en-US" dirty="0">
                    <a:solidFill>
                      <a:schemeClr val="tx1"/>
                    </a:solidFill>
                  </a:rPr>
                  <a:t>系统稳定后剩余的误差</a:t>
                </a:r>
                <a:endParaRPr lang="en-US" altLang="zh-CN" dirty="0">
                  <a:solidFill>
                    <a:schemeClr val="tx1"/>
                  </a:solidFill>
                </a:endParaRPr>
              </a:p>
              <a:p>
                <a:pPr lvl="1"/>
                <a:r>
                  <a:rPr lang="zh-CN" altLang="en-US" dirty="0">
                    <a:solidFill>
                      <a:schemeClr val="tx1"/>
                    </a:solidFill>
                  </a:rPr>
                  <a:t>理想情况下为零</a:t>
                </a:r>
                <a:endParaRPr lang="zh-SG" altLang="en-US" dirty="0">
                  <a:solidFill>
                    <a:schemeClr val="tx1"/>
                  </a:solidFill>
                </a:endParaRPr>
              </a:p>
            </p:txBody>
          </p:sp>
        </mc:Choice>
        <mc:Fallback xmlns="">
          <p:sp>
            <p:nvSpPr>
              <p:cNvPr id="3" name="内容占位符 2">
                <a:extLst>
                  <a:ext uri="{FF2B5EF4-FFF2-40B4-BE49-F238E27FC236}">
                    <a16:creationId xmlns:a16="http://schemas.microsoft.com/office/drawing/2014/main" id="{03070B06-034F-54B6-E3CB-1EA31C2A57C8}"/>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4"/>
                <a:stretch>
                  <a:fillRect t="-2179"/>
                </a:stretch>
              </a:blipFill>
            </p:spPr>
            <p:txBody>
              <a:bodyPr/>
              <a:lstStyle/>
              <a:p>
                <a:r>
                  <a:rPr lang="zh-SG" altLang="en-US">
                    <a:noFill/>
                  </a:rPr>
                  <a:t> </a:t>
                </a:r>
              </a:p>
            </p:txBody>
          </p:sp>
        </mc:Fallback>
      </mc:AlternateContent>
    </p:spTree>
    <p:extLst>
      <p:ext uri="{BB962C8B-B14F-4D97-AF65-F5344CB8AC3E}">
        <p14:creationId xmlns:p14="http://schemas.microsoft.com/office/powerpoint/2010/main" val="15318365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A30199-4D47-8628-C086-49883BCAF46D}"/>
              </a:ext>
            </a:extLst>
          </p:cNvPr>
          <p:cNvSpPr>
            <a:spLocks noGrp="1"/>
          </p:cNvSpPr>
          <p:nvPr>
            <p:ph type="title"/>
          </p:nvPr>
        </p:nvSpPr>
        <p:spPr/>
        <p:txBody>
          <a:bodyPr/>
          <a:lstStyle/>
          <a:p>
            <a:r>
              <a:rPr lang="zh-CN" altLang="en-US" dirty="0"/>
              <a:t>场景对响应的需求决定设计时的权衡</a:t>
            </a:r>
            <a:endParaRPr lang="zh-SG" altLang="en-US" dirty="0"/>
          </a:p>
        </p:txBody>
      </p:sp>
      <p:sp>
        <p:nvSpPr>
          <p:cNvPr id="3" name="内容占位符 2">
            <a:extLst>
              <a:ext uri="{FF2B5EF4-FFF2-40B4-BE49-F238E27FC236}">
                <a16:creationId xmlns:a16="http://schemas.microsoft.com/office/drawing/2014/main" id="{8CAE347D-C49D-DD92-6122-51D5E747A4EE}"/>
              </a:ext>
            </a:extLst>
          </p:cNvPr>
          <p:cNvSpPr>
            <a:spLocks noGrp="1"/>
          </p:cNvSpPr>
          <p:nvPr>
            <p:ph idx="1"/>
          </p:nvPr>
        </p:nvSpPr>
        <p:spPr/>
        <p:txBody>
          <a:bodyPr/>
          <a:lstStyle/>
          <a:p>
            <a:r>
              <a:rPr lang="zh-CN" altLang="en-US" dirty="0"/>
              <a:t>响应越快，超调往往越大（我们之后会加以证明）</a:t>
            </a:r>
            <a:endParaRPr lang="en-US" altLang="zh-CN" dirty="0"/>
          </a:p>
          <a:p>
            <a:r>
              <a:rPr lang="zh-CN" altLang="en-US" dirty="0"/>
              <a:t>视觉希望云台跟随目标：</a:t>
            </a:r>
            <a:endParaRPr lang="en-US" altLang="zh-CN" dirty="0"/>
          </a:p>
          <a:p>
            <a:pPr marL="0" indent="0">
              <a:buNone/>
            </a:pPr>
            <a:r>
              <a:rPr lang="zh-CN" altLang="en-US" dirty="0"/>
              <a:t>超调要小，不能在目标前后抖</a:t>
            </a:r>
            <a:endParaRPr lang="en-US" altLang="zh-CN" dirty="0"/>
          </a:p>
          <a:p>
            <a:r>
              <a:rPr lang="zh-CN" altLang="en-US" dirty="0"/>
              <a:t>操作手希望底盘冲刺：</a:t>
            </a:r>
            <a:endParaRPr lang="en-US" altLang="zh-CN" dirty="0"/>
          </a:p>
          <a:p>
            <a:pPr marL="0" indent="0">
              <a:buNone/>
            </a:pPr>
            <a:r>
              <a:rPr lang="zh-CN" altLang="en-US" dirty="0"/>
              <a:t>越快到速越好，超调可以接受</a:t>
            </a:r>
            <a:endParaRPr lang="en-US" altLang="zh-CN" dirty="0"/>
          </a:p>
        </p:txBody>
      </p:sp>
    </p:spTree>
    <p:extLst>
      <p:ext uri="{BB962C8B-B14F-4D97-AF65-F5344CB8AC3E}">
        <p14:creationId xmlns:p14="http://schemas.microsoft.com/office/powerpoint/2010/main" val="1604003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C4FA1C-82E5-09A0-15AD-4DAB62CEB18D}"/>
              </a:ext>
            </a:extLst>
          </p:cNvPr>
          <p:cNvSpPr>
            <a:spLocks noGrp="1"/>
          </p:cNvSpPr>
          <p:nvPr>
            <p:ph type="title"/>
          </p:nvPr>
        </p:nvSpPr>
        <p:spPr/>
        <p:txBody>
          <a:bodyPr/>
          <a:lstStyle/>
          <a:p>
            <a:r>
              <a:rPr lang="zh-CN" altLang="en-US" dirty="0"/>
              <a:t>既要看输出量，也要看控制量</a:t>
            </a:r>
            <a:endParaRPr lang="zh-SG" altLang="en-US" dirty="0"/>
          </a:p>
        </p:txBody>
      </p:sp>
      <p:sp>
        <p:nvSpPr>
          <p:cNvPr id="3" name="内容占位符 2">
            <a:extLst>
              <a:ext uri="{FF2B5EF4-FFF2-40B4-BE49-F238E27FC236}">
                <a16:creationId xmlns:a16="http://schemas.microsoft.com/office/drawing/2014/main" id="{3291EDF4-6B90-A08C-37B6-26E5797E9FCB}"/>
              </a:ext>
            </a:extLst>
          </p:cNvPr>
          <p:cNvSpPr>
            <a:spLocks noGrp="1"/>
          </p:cNvSpPr>
          <p:nvPr>
            <p:ph idx="1"/>
          </p:nvPr>
        </p:nvSpPr>
        <p:spPr>
          <a:xfrm>
            <a:off x="0" y="1825624"/>
            <a:ext cx="6352953" cy="5032375"/>
          </a:xfrm>
        </p:spPr>
        <p:txBody>
          <a:bodyPr>
            <a:normAutofit lnSpcReduction="10000"/>
          </a:bodyPr>
          <a:lstStyle/>
          <a:p>
            <a:r>
              <a:rPr lang="zh-CN" altLang="en-US" dirty="0"/>
              <a:t>执行器饱和</a:t>
            </a:r>
            <a:endParaRPr lang="en-US" altLang="zh-CN" dirty="0"/>
          </a:p>
          <a:p>
            <a:pPr lvl="1"/>
            <a:r>
              <a:rPr lang="zh-CN" altLang="en-US" dirty="0"/>
              <a:t>电机一直输出最大扭矩，系统近似开环</a:t>
            </a:r>
            <a:endParaRPr lang="en-US" altLang="zh-CN" dirty="0"/>
          </a:p>
          <a:p>
            <a:r>
              <a:rPr lang="zh-CN" altLang="en-US" dirty="0"/>
              <a:t>输出过大</a:t>
            </a:r>
            <a:endParaRPr lang="en-US" altLang="zh-CN" dirty="0"/>
          </a:p>
          <a:p>
            <a:pPr lvl="1"/>
            <a:r>
              <a:rPr lang="zh-CN" altLang="en-US" dirty="0"/>
              <a:t>电流过大，电池进入保护</a:t>
            </a:r>
            <a:endParaRPr lang="en-US" altLang="zh-CN" dirty="0"/>
          </a:p>
          <a:p>
            <a:pPr lvl="1"/>
            <a:r>
              <a:rPr lang="zh-CN" altLang="en-US" dirty="0"/>
              <a:t>大电流下线损（见布线课件）导致压降，</a:t>
            </a:r>
            <a:endParaRPr lang="en-US" altLang="zh-CN" dirty="0"/>
          </a:p>
          <a:p>
            <a:pPr marL="457200" lvl="1" indent="0">
              <a:buNone/>
            </a:pPr>
            <a:r>
              <a:rPr lang="zh-CN" altLang="en-US" dirty="0"/>
              <a:t>电机因电压过低进入欠压保护</a:t>
            </a:r>
            <a:endParaRPr lang="en-US" altLang="zh-CN" dirty="0"/>
          </a:p>
          <a:p>
            <a:r>
              <a:rPr lang="zh-CN" altLang="en-US" dirty="0"/>
              <a:t>输出量突变</a:t>
            </a:r>
            <a:endParaRPr lang="en-US" altLang="zh-CN" dirty="0"/>
          </a:p>
          <a:p>
            <a:pPr lvl="1"/>
            <a:r>
              <a:rPr lang="zh-CN" altLang="en-US" dirty="0"/>
              <a:t>容易造成机械冲击，尤其在机械臂控制中</a:t>
            </a:r>
            <a:endParaRPr lang="en-US" altLang="zh-CN" dirty="0"/>
          </a:p>
          <a:p>
            <a:pPr lvl="1"/>
            <a:r>
              <a:rPr lang="zh-CN" altLang="en-US" dirty="0"/>
              <a:t>频繁突变容易导致电机过热</a:t>
            </a:r>
            <a:endParaRPr lang="en-US" altLang="zh-CN" dirty="0"/>
          </a:p>
          <a:p>
            <a:r>
              <a:rPr lang="zh-CN" altLang="en-US" dirty="0"/>
              <a:t>超功率</a:t>
            </a:r>
            <a:endParaRPr lang="en-US" altLang="zh-CN" dirty="0"/>
          </a:p>
          <a:p>
            <a:pPr lvl="1"/>
            <a:r>
              <a:rPr lang="zh-CN" altLang="en-US" dirty="0"/>
              <a:t>加上功率限制之后运动性能严重下降</a:t>
            </a:r>
            <a:endParaRPr lang="en-US" altLang="zh-CN" dirty="0"/>
          </a:p>
        </p:txBody>
      </p:sp>
      <p:pic>
        <p:nvPicPr>
          <p:cNvPr id="5" name="图片 4">
            <a:extLst>
              <a:ext uri="{FF2B5EF4-FFF2-40B4-BE49-F238E27FC236}">
                <a16:creationId xmlns:a16="http://schemas.microsoft.com/office/drawing/2014/main" id="{82BB4E53-6785-0ACA-6274-5A2B5C21CEE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8922" y="2069101"/>
            <a:ext cx="2964314" cy="3822405"/>
          </a:xfrm>
          <a:prstGeom prst="rect">
            <a:avLst/>
          </a:prstGeom>
        </p:spPr>
      </p:pic>
      <p:pic>
        <p:nvPicPr>
          <p:cNvPr id="7" name="图片 6">
            <a:extLst>
              <a:ext uri="{FF2B5EF4-FFF2-40B4-BE49-F238E27FC236}">
                <a16:creationId xmlns:a16="http://schemas.microsoft.com/office/drawing/2014/main" id="{4286D2FD-3961-B961-00C5-EF6C6C0C59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13236" y="2069101"/>
            <a:ext cx="2878764" cy="4545419"/>
          </a:xfrm>
          <a:prstGeom prst="rect">
            <a:avLst/>
          </a:prstGeom>
        </p:spPr>
      </p:pic>
    </p:spTree>
    <p:extLst>
      <p:ext uri="{BB962C8B-B14F-4D97-AF65-F5344CB8AC3E}">
        <p14:creationId xmlns:p14="http://schemas.microsoft.com/office/powerpoint/2010/main" val="41523992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46D17F0-66E3-E6A2-0F27-EF700F3BADFC}"/>
              </a:ext>
            </a:extLst>
          </p:cNvPr>
          <p:cNvSpPr>
            <a:spLocks noGrp="1"/>
          </p:cNvSpPr>
          <p:nvPr>
            <p:ph type="title"/>
          </p:nvPr>
        </p:nvSpPr>
        <p:spPr/>
        <p:txBody>
          <a:bodyPr/>
          <a:lstStyle/>
          <a:p>
            <a:r>
              <a:rPr lang="zh-CN" altLang="en-US" dirty="0"/>
              <a:t>如何减少盲目调参？</a:t>
            </a:r>
            <a:endParaRPr lang="zh-SG" altLang="en-US" dirty="0"/>
          </a:p>
        </p:txBody>
      </p:sp>
      <p:sp>
        <p:nvSpPr>
          <p:cNvPr id="3" name="内容占位符 2">
            <a:extLst>
              <a:ext uri="{FF2B5EF4-FFF2-40B4-BE49-F238E27FC236}">
                <a16:creationId xmlns:a16="http://schemas.microsoft.com/office/drawing/2014/main" id="{D412A5ED-C41C-7922-C792-91C42805E137}"/>
              </a:ext>
            </a:extLst>
          </p:cNvPr>
          <p:cNvSpPr>
            <a:spLocks noGrp="1"/>
          </p:cNvSpPr>
          <p:nvPr>
            <p:ph idx="1"/>
          </p:nvPr>
        </p:nvSpPr>
        <p:spPr/>
        <p:txBody>
          <a:bodyPr/>
          <a:lstStyle/>
          <a:p>
            <a:r>
              <a:rPr lang="zh-CN" altLang="en-US" dirty="0"/>
              <a:t>根据场景需求明确我想要什么效果，也就是性能指标</a:t>
            </a:r>
            <a:endParaRPr lang="en-US" altLang="zh-CN" dirty="0"/>
          </a:p>
          <a:p>
            <a:r>
              <a:rPr lang="zh-CN" altLang="en-US" dirty="0"/>
              <a:t>摸清被控对象的脾气，也就是对输入的响应</a:t>
            </a:r>
            <a:endParaRPr lang="en-US" altLang="zh-CN" dirty="0"/>
          </a:p>
          <a:p>
            <a:r>
              <a:rPr lang="zh-CN" altLang="en-US" dirty="0"/>
              <a:t>了解控制算法在干什么，也就是控制器的性质</a:t>
            </a:r>
            <a:endParaRPr lang="en-US" altLang="zh-CN" dirty="0"/>
          </a:p>
          <a:p>
            <a:r>
              <a:rPr lang="zh-CN" altLang="en-US" dirty="0"/>
              <a:t>在尽量多的可能工况下测试，避免不同工况下出现异常</a:t>
            </a:r>
            <a:endParaRPr lang="en-US" altLang="zh-CN" dirty="0"/>
          </a:p>
          <a:p>
            <a:pPr marL="0" indent="0">
              <a:buNone/>
            </a:pPr>
            <a:endParaRPr lang="en-US" altLang="zh-CN" dirty="0"/>
          </a:p>
          <a:p>
            <a:r>
              <a:rPr lang="zh-CN" altLang="en-US" dirty="0"/>
              <a:t>之后我们会逐步探讨</a:t>
            </a:r>
            <a:endParaRPr lang="en-US" altLang="zh-CN" dirty="0"/>
          </a:p>
        </p:txBody>
      </p:sp>
    </p:spTree>
    <p:extLst>
      <p:ext uri="{BB962C8B-B14F-4D97-AF65-F5344CB8AC3E}">
        <p14:creationId xmlns:p14="http://schemas.microsoft.com/office/powerpoint/2010/main" val="21620270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FDCDBB-FA73-7188-08BE-8E9B6E9DA40C}"/>
              </a:ext>
            </a:extLst>
          </p:cNvPr>
          <p:cNvSpPr>
            <a:spLocks noGrp="1"/>
          </p:cNvSpPr>
          <p:nvPr>
            <p:ph type="ctrTitle"/>
          </p:nvPr>
        </p:nvSpPr>
        <p:spPr/>
        <p:txBody>
          <a:bodyPr anchor="ctr"/>
          <a:lstStyle/>
          <a:p>
            <a:r>
              <a:rPr lang="en-US" altLang="zh-SG" dirty="0"/>
              <a:t>4.2 </a:t>
            </a:r>
            <a:r>
              <a:rPr lang="zh-CN" altLang="en-US" dirty="0"/>
              <a:t>描述系统</a:t>
            </a:r>
            <a:endParaRPr lang="zh-SG" altLang="en-US" dirty="0"/>
          </a:p>
        </p:txBody>
      </p:sp>
      <p:sp>
        <p:nvSpPr>
          <p:cNvPr id="3" name="副标题 2">
            <a:extLst>
              <a:ext uri="{FF2B5EF4-FFF2-40B4-BE49-F238E27FC236}">
                <a16:creationId xmlns:a16="http://schemas.microsoft.com/office/drawing/2014/main" id="{61D1EB91-1CE8-02E0-53B4-561E74C1F338}"/>
              </a:ext>
            </a:extLst>
          </p:cNvPr>
          <p:cNvSpPr>
            <a:spLocks noGrp="1"/>
          </p:cNvSpPr>
          <p:nvPr>
            <p:ph type="subTitle" idx="1"/>
          </p:nvPr>
        </p:nvSpPr>
        <p:spPr/>
        <p:txBody>
          <a:bodyPr/>
          <a:lstStyle/>
          <a:p>
            <a:r>
              <a:rPr lang="zh-CN" altLang="en-US" dirty="0"/>
              <a:t>要求：</a:t>
            </a:r>
            <a:endParaRPr lang="en-US" altLang="zh-CN" dirty="0"/>
          </a:p>
          <a:p>
            <a:pPr marL="342900" indent="-342900">
              <a:buFont typeface="Arial" panose="020B0604020202020204" pitchFamily="34" charset="0"/>
              <a:buChar char="•"/>
            </a:pPr>
            <a:r>
              <a:rPr lang="zh-CN" altLang="en-US" dirty="0"/>
              <a:t>了解描述系统特征的各种手段</a:t>
            </a:r>
            <a:endParaRPr lang="en-US" altLang="zh-CN" dirty="0"/>
          </a:p>
          <a:p>
            <a:pPr marL="342900" indent="-342900">
              <a:buFont typeface="Arial" panose="020B0604020202020204" pitchFamily="34" charset="0"/>
              <a:buChar char="•"/>
            </a:pPr>
            <a:r>
              <a:rPr lang="zh-CN" altLang="en-US" dirty="0"/>
              <a:t>学习系统辨识</a:t>
            </a:r>
            <a:endParaRPr lang="zh-SG" altLang="en-US" dirty="0"/>
          </a:p>
        </p:txBody>
      </p:sp>
    </p:spTree>
    <p:extLst>
      <p:ext uri="{BB962C8B-B14F-4D97-AF65-F5344CB8AC3E}">
        <p14:creationId xmlns:p14="http://schemas.microsoft.com/office/powerpoint/2010/main" val="23847274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4F091C5-C5EF-9CAB-2C3F-009854FB5B94}"/>
              </a:ext>
            </a:extLst>
          </p:cNvPr>
          <p:cNvSpPr>
            <a:spLocks noGrp="1"/>
          </p:cNvSpPr>
          <p:nvPr>
            <p:ph type="title"/>
          </p:nvPr>
        </p:nvSpPr>
        <p:spPr/>
        <p:txBody>
          <a:bodyPr/>
          <a:lstStyle/>
          <a:p>
            <a:r>
              <a:rPr lang="zh-CN" altLang="en-US" dirty="0"/>
              <a:t>什么是系统（</a:t>
            </a:r>
            <a:r>
              <a:rPr lang="en-US" altLang="zh-CN" dirty="0"/>
              <a:t>System</a:t>
            </a:r>
            <a:r>
              <a:rPr lang="zh-CN" altLang="en-US" dirty="0"/>
              <a:t>）</a:t>
            </a:r>
            <a:endParaRPr lang="zh-SG" altLang="en-US" dirty="0"/>
          </a:p>
        </p:txBody>
      </p:sp>
      <p:sp>
        <p:nvSpPr>
          <p:cNvPr id="3" name="内容占位符 2">
            <a:extLst>
              <a:ext uri="{FF2B5EF4-FFF2-40B4-BE49-F238E27FC236}">
                <a16:creationId xmlns:a16="http://schemas.microsoft.com/office/drawing/2014/main" id="{3C08365D-BCCB-77C6-93E7-5EA15DADE0EA}"/>
              </a:ext>
            </a:extLst>
          </p:cNvPr>
          <p:cNvSpPr>
            <a:spLocks noGrp="1"/>
          </p:cNvSpPr>
          <p:nvPr>
            <p:ph idx="1"/>
          </p:nvPr>
        </p:nvSpPr>
        <p:spPr/>
        <p:txBody>
          <a:bodyPr/>
          <a:lstStyle/>
          <a:p>
            <a:r>
              <a:rPr lang="zh-CN" altLang="en-US" dirty="0"/>
              <a:t>接受输入、产生输出的任何东西</a:t>
            </a:r>
            <a:endParaRPr lang="en-US" altLang="zh-CN" dirty="0"/>
          </a:p>
          <a:p>
            <a:r>
              <a:rPr lang="zh-CN" altLang="en-US" dirty="0"/>
              <a:t>直流有刷电机吃电压、吐角速度；底盘吃轮速、吐运动轨迹；云台吃力矩、吐角度</a:t>
            </a:r>
            <a:r>
              <a:rPr lang="en-US" altLang="zh-CN" dirty="0"/>
              <a:t>……</a:t>
            </a:r>
          </a:p>
          <a:p>
            <a:r>
              <a:rPr lang="zh-CN" altLang="en-US" dirty="0"/>
              <a:t>把这些输入</a:t>
            </a:r>
            <a:r>
              <a:rPr lang="en-US" altLang="zh-CN" dirty="0"/>
              <a:t>-</a:t>
            </a:r>
            <a:r>
              <a:rPr lang="zh-CN" altLang="en-US" dirty="0"/>
              <a:t>输出关系写成数学式子，就叫建模（</a:t>
            </a:r>
            <a:r>
              <a:rPr lang="en-US" altLang="zh-CN" dirty="0"/>
              <a:t>Modeling</a:t>
            </a:r>
            <a:r>
              <a:rPr lang="zh-CN" altLang="en-US" dirty="0"/>
              <a:t>）</a:t>
            </a:r>
            <a:endParaRPr lang="zh-SG" altLang="en-US" dirty="0"/>
          </a:p>
        </p:txBody>
      </p:sp>
    </p:spTree>
    <p:extLst>
      <p:ext uri="{BB962C8B-B14F-4D97-AF65-F5344CB8AC3E}">
        <p14:creationId xmlns:p14="http://schemas.microsoft.com/office/powerpoint/2010/main" val="35585638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742058D-1D68-CF01-4FFD-CC70F0707A1A}"/>
              </a:ext>
            </a:extLst>
          </p:cNvPr>
          <p:cNvSpPr>
            <a:spLocks noGrp="1"/>
          </p:cNvSpPr>
          <p:nvPr>
            <p:ph type="title"/>
          </p:nvPr>
        </p:nvSpPr>
        <p:spPr/>
        <p:txBody>
          <a:bodyPr/>
          <a:lstStyle/>
          <a:p>
            <a:r>
              <a:rPr lang="zh-CN" altLang="en-US" dirty="0"/>
              <a:t>为什么设计控制器时要了解系统？</a:t>
            </a:r>
            <a:endParaRPr lang="zh-SG" altLang="en-US" dirty="0"/>
          </a:p>
        </p:txBody>
      </p:sp>
      <p:sp>
        <p:nvSpPr>
          <p:cNvPr id="3" name="内容占位符 2">
            <a:extLst>
              <a:ext uri="{FF2B5EF4-FFF2-40B4-BE49-F238E27FC236}">
                <a16:creationId xmlns:a16="http://schemas.microsoft.com/office/drawing/2014/main" id="{07F103D9-8849-93A9-C51F-45DB464614F0}"/>
              </a:ext>
            </a:extLst>
          </p:cNvPr>
          <p:cNvSpPr>
            <a:spLocks noGrp="1"/>
          </p:cNvSpPr>
          <p:nvPr>
            <p:ph idx="1"/>
          </p:nvPr>
        </p:nvSpPr>
        <p:spPr/>
        <p:txBody>
          <a:bodyPr/>
          <a:lstStyle/>
          <a:p>
            <a:r>
              <a:rPr lang="zh-CN" altLang="en-US" dirty="0"/>
              <a:t>内模原理</a:t>
            </a:r>
            <a:endParaRPr lang="en-US" altLang="zh-CN" dirty="0"/>
          </a:p>
          <a:p>
            <a:pPr marL="457200" lvl="1" indent="0">
              <a:buNone/>
            </a:pPr>
            <a:r>
              <a:rPr lang="zh-CN" altLang="en-US" dirty="0"/>
              <a:t>要想无静差地跟踪某种信号或消除某种扰动，控制回路中必须包含该信号的数学模型。</a:t>
            </a:r>
            <a:endParaRPr lang="zh-SG" altLang="en-US" dirty="0"/>
          </a:p>
        </p:txBody>
      </p:sp>
    </p:spTree>
    <p:extLst>
      <p:ext uri="{BB962C8B-B14F-4D97-AF65-F5344CB8AC3E}">
        <p14:creationId xmlns:p14="http://schemas.microsoft.com/office/powerpoint/2010/main" val="21287203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9BE5F1D-69CE-70C7-1C54-AEFDFB3FE0D3}"/>
              </a:ext>
            </a:extLst>
          </p:cNvPr>
          <p:cNvSpPr>
            <a:spLocks noGrp="1"/>
          </p:cNvSpPr>
          <p:nvPr>
            <p:ph type="title"/>
          </p:nvPr>
        </p:nvSpPr>
        <p:spPr>
          <a:xfrm>
            <a:off x="838200" y="0"/>
            <a:ext cx="10515600" cy="1325563"/>
          </a:xfrm>
        </p:spPr>
        <p:txBody>
          <a:bodyPr/>
          <a:lstStyle/>
          <a:p>
            <a:r>
              <a:rPr lang="zh-CN" altLang="en-US" dirty="0"/>
              <a:t>如何对系统进行建模</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8C6D2022-6B88-C192-1B16-20551B2DFD2A}"/>
                  </a:ext>
                </a:extLst>
              </p:cNvPr>
              <p:cNvSpPr>
                <a:spLocks noGrp="1"/>
              </p:cNvSpPr>
              <p:nvPr>
                <p:ph idx="1"/>
              </p:nvPr>
            </p:nvSpPr>
            <p:spPr>
              <a:xfrm>
                <a:off x="838200" y="1325563"/>
                <a:ext cx="10515600" cy="5532437"/>
              </a:xfrm>
            </p:spPr>
            <p:txBody>
              <a:bodyPr>
                <a:normAutofit/>
              </a:bodyPr>
              <a:lstStyle/>
              <a:p>
                <a:pPr marL="0" indent="0">
                  <a:buNone/>
                </a:pPr>
                <a:r>
                  <a:rPr lang="zh-CN" altLang="en-US" dirty="0">
                    <a:solidFill>
                      <a:schemeClr val="tx1"/>
                    </a:solidFill>
                  </a:rPr>
                  <a:t>选定一个物理模型，例如空载下轮电机的运动</a:t>
                </a:r>
                <a:endParaRPr lang="en-US" altLang="zh-CN" dirty="0">
                  <a:solidFill>
                    <a:schemeClr val="tx1"/>
                  </a:solidFill>
                </a:endParaRPr>
              </a:p>
              <a:p>
                <a:pPr marL="0" indent="0">
                  <a:buNone/>
                </a:pPr>
                <a:r>
                  <a:rPr lang="zh-CN" altLang="en-US" dirty="0">
                    <a:solidFill>
                      <a:schemeClr val="tx1"/>
                    </a:solidFill>
                  </a:rPr>
                  <a:t>电机转矩一部分由于阻力被损耗，另一部分用于加速，角加速度</a:t>
                </a:r>
                <a:r>
                  <a:rPr lang="en-US" altLang="zh-CN" dirty="0">
                    <a:solidFill>
                      <a:schemeClr val="tx1"/>
                    </a:solidFill>
                  </a:rPr>
                  <a:t>×</a:t>
                </a:r>
                <a:r>
                  <a:rPr lang="zh-CN" altLang="en-US" dirty="0">
                    <a:solidFill>
                      <a:schemeClr val="tx1"/>
                    </a:solidFill>
                  </a:rPr>
                  <a:t>转动惯量</a:t>
                </a:r>
                <a:r>
                  <a:rPr lang="en-US" altLang="zh-CN" dirty="0">
                    <a:solidFill>
                      <a:schemeClr val="tx1"/>
                    </a:solidFill>
                  </a:rPr>
                  <a:t>=</a:t>
                </a:r>
                <a:r>
                  <a:rPr lang="zh-CN" altLang="en-US" dirty="0">
                    <a:solidFill>
                      <a:schemeClr val="tx1"/>
                    </a:solidFill>
                  </a:rPr>
                  <a:t>合转矩</a:t>
                </a:r>
                <a:endParaRPr lang="en-US" altLang="zh-CN"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r>
                        <a:rPr lang="zh-SG" altLang="en-US" i="1" smtClean="0">
                          <a:solidFill>
                            <a:schemeClr val="tx1"/>
                          </a:solidFill>
                          <a:latin typeface="Cambria Math" panose="02040503050406030204" pitchFamily="18" charset="0"/>
                        </a:rPr>
                        <m:t>𝐽</m:t>
                      </m:r>
                      <m:r>
                        <a:rPr lang="zh-SG" altLang="en-US" i="1" smtClean="0">
                          <a:solidFill>
                            <a:schemeClr val="tx1"/>
                          </a:solidFill>
                          <a:latin typeface="Cambria Math" panose="02040503050406030204" pitchFamily="18" charset="0"/>
                        </a:rPr>
                        <m:t>𝛼</m:t>
                      </m:r>
                      <m:r>
                        <a:rPr lang="zh-SG" altLang="en-US" i="1" smtClean="0">
                          <a:solidFill>
                            <a:schemeClr val="tx1"/>
                          </a:solidFill>
                          <a:latin typeface="Cambria Math" panose="02040503050406030204" pitchFamily="18" charset="0"/>
                        </a:rPr>
                        <m:t>=</m:t>
                      </m:r>
                      <m:r>
                        <a:rPr lang="zh-SG" altLang="en-US" i="1" smtClean="0">
                          <a:solidFill>
                            <a:schemeClr val="tx1"/>
                          </a:solidFill>
                          <a:latin typeface="Cambria Math" panose="02040503050406030204" pitchFamily="18" charset="0"/>
                        </a:rPr>
                        <m:t>𝜏</m:t>
                      </m:r>
                      <m:r>
                        <a:rPr lang="zh-SG" altLang="en-US" i="1" smtClean="0">
                          <a:solidFill>
                            <a:schemeClr val="tx1"/>
                          </a:solidFill>
                          <a:latin typeface="Cambria Math" panose="02040503050406030204" pitchFamily="18" charset="0"/>
                        </a:rPr>
                        <m:t>−</m:t>
                      </m:r>
                      <m:sSub>
                        <m:sSubPr>
                          <m:ctrlPr>
                            <a:rPr lang="zh-SG" altLang="en-US" i="1" smtClean="0">
                              <a:solidFill>
                                <a:schemeClr val="tx1"/>
                              </a:solidFill>
                              <a:latin typeface="Cambria Math" panose="02040503050406030204" pitchFamily="18" charset="0"/>
                            </a:rPr>
                          </m:ctrlPr>
                        </m:sSubPr>
                        <m:e>
                          <m:r>
                            <a:rPr lang="zh-SG" altLang="en-US" i="1" smtClean="0">
                              <a:solidFill>
                                <a:schemeClr val="tx1"/>
                              </a:solidFill>
                              <a:latin typeface="Cambria Math" panose="02040503050406030204" pitchFamily="18" charset="0"/>
                            </a:rPr>
                            <m:t>𝜏</m:t>
                          </m:r>
                        </m:e>
                        <m:sub>
                          <m:r>
                            <a:rPr lang="zh-SG" altLang="en-US" i="1" smtClean="0">
                              <a:solidFill>
                                <a:schemeClr val="tx1"/>
                              </a:solidFill>
                              <a:latin typeface="Cambria Math" panose="02040503050406030204" pitchFamily="18" charset="0"/>
                            </a:rPr>
                            <m:t>𝑓</m:t>
                          </m:r>
                        </m:sub>
                      </m:sSub>
                    </m:oMath>
                  </m:oMathPara>
                </a14:m>
                <a:endParaRPr lang="en-US" altLang="zh-SG" dirty="0">
                  <a:solidFill>
                    <a:schemeClr val="tx1"/>
                  </a:solidFill>
                </a:endParaRPr>
              </a:p>
              <a:p>
                <a:pPr marL="0" indent="0">
                  <a:buNone/>
                </a:pPr>
                <a:r>
                  <a:rPr lang="zh-CN" altLang="en-US" dirty="0"/>
                  <a:t>假设电机速度大小不为零且方向不突变，此时可以将阻力简化为大小恒定的库仑阻力与大小同速度近似正比的粘滞阻力之和</a:t>
                </a:r>
                <a:endParaRPr lang="en-US" altLang="zh-CN" dirty="0"/>
              </a:p>
              <a:p>
                <a:pPr marL="0" indent="0">
                  <a:buNone/>
                </a:pPr>
                <a14:m>
                  <m:oMathPara xmlns:m="http://schemas.openxmlformats.org/officeDocument/2006/math">
                    <m:oMathParaPr>
                      <m:jc m:val="centerGroup"/>
                    </m:oMathParaPr>
                    <m:oMath xmlns:m="http://schemas.openxmlformats.org/officeDocument/2006/math">
                      <m:sSub>
                        <m:sSubPr>
                          <m:ctrlPr>
                            <a:rPr lang="zh-SG" altLang="en-US" i="1" dirty="0" smtClean="0">
                              <a:solidFill>
                                <a:schemeClr val="tx1"/>
                              </a:solidFill>
                              <a:latin typeface="Cambria Math" panose="02040503050406030204" pitchFamily="18" charset="0"/>
                            </a:rPr>
                          </m:ctrlPr>
                        </m:sSubPr>
                        <m:e>
                          <m:r>
                            <a:rPr lang="zh-SG" altLang="en-US" i="1" dirty="0">
                              <a:solidFill>
                                <a:schemeClr val="tx1"/>
                              </a:solidFill>
                              <a:latin typeface="Cambria Math" panose="02040503050406030204" pitchFamily="18" charset="0"/>
                            </a:rPr>
                            <m:t>𝜏</m:t>
                          </m:r>
                        </m:e>
                        <m:sub>
                          <m:r>
                            <a:rPr lang="zh-SG" altLang="en-US" i="1" dirty="0">
                              <a:solidFill>
                                <a:schemeClr val="tx1"/>
                              </a:solidFill>
                              <a:latin typeface="Cambria Math" panose="02040503050406030204" pitchFamily="18" charset="0"/>
                            </a:rPr>
                            <m:t>𝑓</m:t>
                          </m:r>
                        </m:sub>
                      </m:sSub>
                      <m:r>
                        <a:rPr lang="zh-SG" altLang="en-US" i="0" dirty="0">
                          <a:solidFill>
                            <a:schemeClr val="tx1"/>
                          </a:solidFill>
                          <a:latin typeface="Cambria Math" panose="02040503050406030204" pitchFamily="18" charset="0"/>
                        </a:rPr>
                        <m:t>=</m:t>
                      </m:r>
                      <m:r>
                        <a:rPr lang="zh-SG" altLang="en-US" i="1" dirty="0">
                          <a:solidFill>
                            <a:schemeClr val="tx1"/>
                          </a:solidFill>
                          <a:latin typeface="Cambria Math" panose="02040503050406030204" pitchFamily="18" charset="0"/>
                        </a:rPr>
                        <m:t>𝑏</m:t>
                      </m:r>
                      <m:r>
                        <a:rPr lang="zh-SG" altLang="en-US" i="1" dirty="0">
                          <a:solidFill>
                            <a:schemeClr val="tx1"/>
                          </a:solidFill>
                          <a:latin typeface="Cambria Math" panose="02040503050406030204" pitchFamily="18" charset="0"/>
                        </a:rPr>
                        <m:t>𝜔</m:t>
                      </m:r>
                      <m:r>
                        <a:rPr lang="zh-SG" altLang="en-US" i="0" dirty="0">
                          <a:solidFill>
                            <a:schemeClr val="tx1"/>
                          </a:solidFill>
                          <a:latin typeface="Cambria Math" panose="02040503050406030204" pitchFamily="18" charset="0"/>
                        </a:rPr>
                        <m:t>+</m:t>
                      </m:r>
                      <m:sSub>
                        <m:sSubPr>
                          <m:ctrlPr>
                            <a:rPr lang="zh-SG" altLang="en-US" i="1" dirty="0">
                              <a:solidFill>
                                <a:schemeClr val="tx1"/>
                              </a:solidFill>
                              <a:latin typeface="Cambria Math" panose="02040503050406030204" pitchFamily="18" charset="0"/>
                            </a:rPr>
                          </m:ctrlPr>
                        </m:sSubPr>
                        <m:e>
                          <m:r>
                            <a:rPr lang="zh-SG" altLang="en-US" i="1" dirty="0">
                              <a:solidFill>
                                <a:schemeClr val="tx1"/>
                              </a:solidFill>
                              <a:latin typeface="Cambria Math" panose="02040503050406030204" pitchFamily="18" charset="0"/>
                            </a:rPr>
                            <m:t>𝜏</m:t>
                          </m:r>
                        </m:e>
                        <m:sub>
                          <m:r>
                            <a:rPr lang="zh-SG" altLang="en-US" i="1" dirty="0">
                              <a:solidFill>
                                <a:schemeClr val="tx1"/>
                              </a:solidFill>
                              <a:latin typeface="Cambria Math" panose="02040503050406030204" pitchFamily="18" charset="0"/>
                            </a:rPr>
                            <m:t>𝑐</m:t>
                          </m:r>
                        </m:sub>
                      </m:sSub>
                    </m:oMath>
                  </m:oMathPara>
                </a14:m>
                <a:endParaRPr lang="en-US" altLang="zh-SG" dirty="0">
                  <a:solidFill>
                    <a:schemeClr val="tx1"/>
                  </a:solidFill>
                </a:endParaRPr>
              </a:p>
              <a:p>
                <a:pPr marL="0" indent="0">
                  <a:buNone/>
                </a:pPr>
                <a:r>
                  <a:rPr lang="zh-CN" altLang="en-US" dirty="0">
                    <a:solidFill>
                      <a:schemeClr val="tx1"/>
                    </a:solidFill>
                  </a:rPr>
                  <a:t>在某一工作点</a:t>
                </a:r>
                <a14:m>
                  <m:oMath xmlns:m="http://schemas.openxmlformats.org/officeDocument/2006/math">
                    <m:d>
                      <m:dPr>
                        <m:ctrlPr>
                          <a:rPr lang="zh-CN" altLang="en-US" i="1" dirty="0" smtClean="0">
                            <a:solidFill>
                              <a:schemeClr val="tx1"/>
                            </a:solidFill>
                            <a:latin typeface="Cambria Math" panose="02040503050406030204" pitchFamily="18" charset="0"/>
                          </a:rPr>
                        </m:ctrlPr>
                      </m:dPr>
                      <m:e>
                        <m:sSub>
                          <m:sSubPr>
                            <m:ctrlPr>
                              <a:rPr lang="zh-CN" altLang="en-US" i="1" dirty="0" smtClean="0">
                                <a:solidFill>
                                  <a:schemeClr val="tx1"/>
                                </a:solidFill>
                                <a:latin typeface="Cambria Math" panose="02040503050406030204" pitchFamily="18" charset="0"/>
                              </a:rPr>
                            </m:ctrlPr>
                          </m:sSubPr>
                          <m:e>
                            <m:r>
                              <a:rPr lang="zh-CN" altLang="en-US" i="1" dirty="0" smtClean="0">
                                <a:solidFill>
                                  <a:schemeClr val="tx1"/>
                                </a:solidFill>
                                <a:latin typeface="Cambria Math" panose="02040503050406030204" pitchFamily="18" charset="0"/>
                              </a:rPr>
                              <m:t>𝜔</m:t>
                            </m:r>
                          </m:e>
                          <m:sub>
                            <m:r>
                              <a:rPr lang="zh-CN" altLang="en-US" i="0" dirty="0" smtClean="0">
                                <a:solidFill>
                                  <a:schemeClr val="tx1"/>
                                </a:solidFill>
                                <a:latin typeface="Cambria Math" panose="02040503050406030204" pitchFamily="18" charset="0"/>
                              </a:rPr>
                              <m:t>0</m:t>
                            </m:r>
                          </m:sub>
                        </m:sSub>
                        <m:r>
                          <a:rPr lang="en-US" altLang="zh-CN" b="0" i="1" dirty="0" smtClean="0">
                            <a:solidFill>
                              <a:schemeClr val="tx1"/>
                            </a:solidFill>
                            <a:latin typeface="Cambria Math" panose="02040503050406030204" pitchFamily="18" charset="0"/>
                          </a:rPr>
                          <m:t>,  </m:t>
                        </m:r>
                        <m:sSub>
                          <m:sSubPr>
                            <m:ctrlPr>
                              <a:rPr lang="zh-CN" altLang="en-US" i="1" dirty="0" smtClean="0">
                                <a:solidFill>
                                  <a:schemeClr val="tx1"/>
                                </a:solidFill>
                                <a:latin typeface="Cambria Math" panose="02040503050406030204" pitchFamily="18" charset="0"/>
                              </a:rPr>
                            </m:ctrlPr>
                          </m:sSubPr>
                          <m:e>
                            <m:r>
                              <a:rPr lang="zh-CN" altLang="en-US" i="1" dirty="0" smtClean="0">
                                <a:solidFill>
                                  <a:schemeClr val="tx1"/>
                                </a:solidFill>
                                <a:latin typeface="Cambria Math" panose="02040503050406030204" pitchFamily="18" charset="0"/>
                              </a:rPr>
                              <m:t>𝜏</m:t>
                            </m:r>
                          </m:e>
                          <m:sub>
                            <m:r>
                              <a:rPr lang="zh-CN" altLang="en-US" i="0" dirty="0" smtClean="0">
                                <a:solidFill>
                                  <a:schemeClr val="tx1"/>
                                </a:solidFill>
                                <a:latin typeface="Cambria Math" panose="02040503050406030204" pitchFamily="18" charset="0"/>
                              </a:rPr>
                              <m:t>0</m:t>
                            </m:r>
                          </m:sub>
                        </m:sSub>
                      </m:e>
                    </m:d>
                  </m:oMath>
                </a14:m>
                <a:r>
                  <a:rPr lang="zh-CN" altLang="en-US" dirty="0">
                    <a:solidFill>
                      <a:schemeClr val="tx1"/>
                    </a:solidFill>
                  </a:rPr>
                  <a:t>附近取增量，得到</a:t>
                </a:r>
                <a:endParaRPr lang="en-US" altLang="zh-CN" dirty="0"/>
              </a:p>
              <a:p>
                <a:pPr marL="0" indent="0">
                  <a:buNone/>
                </a:pPr>
                <a14:m>
                  <m:oMathPara xmlns:m="http://schemas.openxmlformats.org/officeDocument/2006/math">
                    <m:oMathParaPr>
                      <m:jc m:val="centerGroup"/>
                    </m:oMathParaPr>
                    <m:oMath xmlns:m="http://schemas.openxmlformats.org/officeDocument/2006/math">
                      <m:r>
                        <a:rPr lang="en-US" altLang="zh-CN" i="1" dirty="0" smtClean="0">
                          <a:solidFill>
                            <a:schemeClr val="tx1"/>
                          </a:solidFill>
                          <a:latin typeface="Cambria Math" panose="02040503050406030204" pitchFamily="18" charset="0"/>
                        </a:rPr>
                        <m:t>𝐽</m:t>
                      </m:r>
                      <m:f>
                        <m:fPr>
                          <m:ctrlPr>
                            <a:rPr lang="en-US" altLang="zh-CN" i="1" dirty="0" smtClean="0">
                              <a:solidFill>
                                <a:schemeClr val="tx1"/>
                              </a:solidFill>
                              <a:latin typeface="Cambria Math" panose="02040503050406030204" pitchFamily="18" charset="0"/>
                            </a:rPr>
                          </m:ctrlPr>
                        </m:fPr>
                        <m:num>
                          <m:r>
                            <a:rPr lang="en-US" altLang="zh-CN" i="0" dirty="0" smtClean="0">
                              <a:solidFill>
                                <a:schemeClr val="tx1"/>
                              </a:solidFill>
                              <a:latin typeface="Cambria Math" panose="02040503050406030204" pitchFamily="18" charset="0"/>
                            </a:rPr>
                            <m:t>ⅆ</m:t>
                          </m:r>
                          <m:d>
                            <m:dPr>
                              <m:ctrlPr>
                                <a:rPr lang="en-US" altLang="zh-CN" i="1" dirty="0" smtClean="0">
                                  <a:solidFill>
                                    <a:schemeClr val="tx1"/>
                                  </a:solidFill>
                                  <a:latin typeface="Cambria Math" panose="02040503050406030204" pitchFamily="18" charset="0"/>
                                </a:rPr>
                              </m:ctrlPr>
                            </m:dPr>
                            <m:e>
                              <m:r>
                                <m:rPr>
                                  <m:sty m:val="p"/>
                                </m:rPr>
                                <a:rPr lang="en-US" altLang="zh-CN" i="0" dirty="0" smtClean="0">
                                  <a:solidFill>
                                    <a:schemeClr val="tx1"/>
                                  </a:solidFill>
                                  <a:latin typeface="Cambria Math" panose="02040503050406030204" pitchFamily="18" charset="0"/>
                                </a:rPr>
                                <m:t>Δ</m:t>
                              </m:r>
                              <m:r>
                                <a:rPr lang="en-US" altLang="zh-CN" i="0" dirty="0" smtClean="0">
                                  <a:solidFill>
                                    <a:schemeClr val="tx1"/>
                                  </a:solidFill>
                                  <a:latin typeface="Cambria Math" panose="02040503050406030204" pitchFamily="18" charset="0"/>
                                </a:rPr>
                                <m:t>𝜔</m:t>
                              </m:r>
                            </m:e>
                          </m:d>
                        </m:num>
                        <m:den>
                          <m:r>
                            <a:rPr lang="en-US" altLang="zh-CN" i="0" dirty="0" smtClean="0">
                              <a:solidFill>
                                <a:schemeClr val="tx1"/>
                              </a:solidFill>
                              <a:latin typeface="Cambria Math" panose="02040503050406030204" pitchFamily="18" charset="0"/>
                            </a:rPr>
                            <m:t>ⅆ</m:t>
                          </m:r>
                          <m:r>
                            <a:rPr lang="en-US" altLang="zh-CN" i="0" dirty="0" smtClean="0">
                              <a:solidFill>
                                <a:schemeClr val="tx1"/>
                              </a:solidFill>
                              <a:latin typeface="Cambria Math" panose="02040503050406030204" pitchFamily="18" charset="0"/>
                            </a:rPr>
                            <m:t>𝑡</m:t>
                          </m:r>
                        </m:den>
                      </m:f>
                      <m:r>
                        <a:rPr lang="en-US" altLang="zh-CN" i="0" dirty="0" smtClean="0">
                          <a:solidFill>
                            <a:schemeClr val="tx1"/>
                          </a:solidFill>
                          <a:latin typeface="Cambria Math" panose="02040503050406030204" pitchFamily="18" charset="0"/>
                        </a:rPr>
                        <m:t>+</m:t>
                      </m:r>
                      <m:r>
                        <a:rPr lang="en-US" altLang="zh-CN" i="1" dirty="0" smtClean="0">
                          <a:solidFill>
                            <a:schemeClr val="tx1"/>
                          </a:solidFill>
                          <a:latin typeface="Cambria Math" panose="02040503050406030204" pitchFamily="18" charset="0"/>
                        </a:rPr>
                        <m:t>𝑏</m:t>
                      </m:r>
                      <m:r>
                        <m:rPr>
                          <m:sty m:val="p"/>
                        </m:rPr>
                        <a:rPr lang="en-US" altLang="zh-CN" i="0"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𝜔</m:t>
                      </m:r>
                      <m:r>
                        <a:rPr lang="en-US" altLang="zh-CN" b="0" i="0" dirty="0" smtClean="0">
                          <a:solidFill>
                            <a:schemeClr val="tx1"/>
                          </a:solidFill>
                          <a:latin typeface="Cambria Math" panose="02040503050406030204" pitchFamily="18" charset="0"/>
                        </a:rPr>
                        <m:t>=</m:t>
                      </m:r>
                      <m:r>
                        <m:rPr>
                          <m:sty m:val="p"/>
                        </m:rPr>
                        <a:rPr lang="en-US" altLang="zh-CN" i="0"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𝜏</m:t>
                      </m:r>
                    </m:oMath>
                  </m:oMathPara>
                </a14:m>
                <a:endParaRPr lang="en-US" altLang="zh-CN" dirty="0">
                  <a:solidFill>
                    <a:schemeClr val="tx1"/>
                  </a:solidFill>
                </a:endParaRPr>
              </a:p>
              <a:p>
                <a:pPr marL="0" indent="0">
                  <a:buNone/>
                </a:pPr>
                <a:r>
                  <a:rPr lang="zh-CN" altLang="en-US" dirty="0"/>
                  <a:t>对时间的求导次数最高为一次。这是一个一阶微分方程。</a:t>
                </a:r>
                <a:endParaRPr lang="en-US" altLang="zh-CN" dirty="0"/>
              </a:p>
              <a:p>
                <a:pPr marL="0" indent="0">
                  <a:buNone/>
                </a:pPr>
                <a:r>
                  <a:rPr lang="zh-CN" altLang="en-US" dirty="0"/>
                  <a:t>恭喜你得到了系统的微分方程表示！</a:t>
                </a:r>
                <a:endParaRPr lang="en-US" altLang="zh-CN" dirty="0">
                  <a:solidFill>
                    <a:schemeClr val="tx1"/>
                  </a:solidFill>
                </a:endParaRPr>
              </a:p>
            </p:txBody>
          </p:sp>
        </mc:Choice>
        <mc:Fallback xmlns="">
          <p:sp>
            <p:nvSpPr>
              <p:cNvPr id="3" name="内容占位符 2">
                <a:extLst>
                  <a:ext uri="{FF2B5EF4-FFF2-40B4-BE49-F238E27FC236}">
                    <a16:creationId xmlns:a16="http://schemas.microsoft.com/office/drawing/2014/main" id="{8C6D2022-6B88-C192-1B16-20551B2DFD2A}"/>
                  </a:ext>
                </a:extLst>
              </p:cNvPr>
              <p:cNvSpPr>
                <a:spLocks noGrp="1" noRot="1" noChangeAspect="1" noMove="1" noResize="1" noEditPoints="1" noAdjustHandles="1" noChangeArrowheads="1" noChangeShapeType="1" noTextEdit="1"/>
              </p:cNvSpPr>
              <p:nvPr>
                <p:ph idx="1"/>
              </p:nvPr>
            </p:nvSpPr>
            <p:spPr>
              <a:xfrm>
                <a:off x="838200" y="1325563"/>
                <a:ext cx="10515600" cy="5532437"/>
              </a:xfrm>
              <a:blipFill>
                <a:blip r:embed="rId2"/>
                <a:stretch>
                  <a:fillRect l="-1217" t="-1982" r="-696" b="-110"/>
                </a:stretch>
              </a:blipFill>
            </p:spPr>
            <p:txBody>
              <a:bodyPr/>
              <a:lstStyle/>
              <a:p>
                <a:r>
                  <a:rPr lang="zh-SG" altLang="en-US">
                    <a:noFill/>
                  </a:rPr>
                  <a:t> </a:t>
                </a:r>
              </a:p>
            </p:txBody>
          </p:sp>
        </mc:Fallback>
      </mc:AlternateContent>
    </p:spTree>
    <p:extLst>
      <p:ext uri="{BB962C8B-B14F-4D97-AF65-F5344CB8AC3E}">
        <p14:creationId xmlns:p14="http://schemas.microsoft.com/office/powerpoint/2010/main" val="375811277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8C89CC8-DB9A-7441-E5A6-CA4E74B873AB}"/>
              </a:ext>
            </a:extLst>
          </p:cNvPr>
          <p:cNvSpPr>
            <a:spLocks noGrp="1"/>
          </p:cNvSpPr>
          <p:nvPr>
            <p:ph type="title"/>
          </p:nvPr>
        </p:nvSpPr>
        <p:spPr>
          <a:xfrm>
            <a:off x="838200" y="0"/>
            <a:ext cx="10515600" cy="1325563"/>
          </a:xfrm>
        </p:spPr>
        <p:txBody>
          <a:bodyPr/>
          <a:lstStyle/>
          <a:p>
            <a:r>
              <a:rPr lang="zh-CN" altLang="en-US" dirty="0"/>
              <a:t>如何对系统进行建模</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F90DEE1D-2204-4E66-7E9A-460C42DB7648}"/>
                  </a:ext>
                </a:extLst>
              </p:cNvPr>
              <p:cNvSpPr>
                <a:spLocks noGrp="1"/>
              </p:cNvSpPr>
              <p:nvPr>
                <p:ph idx="1"/>
              </p:nvPr>
            </p:nvSpPr>
            <p:spPr>
              <a:xfrm>
                <a:off x="838200" y="1325563"/>
                <a:ext cx="10515600" cy="5532437"/>
              </a:xfrm>
            </p:spPr>
            <p:txBody>
              <a:bodyPr>
                <a:normAutofit/>
              </a:bodyPr>
              <a:lstStyle/>
              <a:p>
                <a:r>
                  <a:rPr lang="zh-CN" altLang="en-US" dirty="0"/>
                  <a:t>我们研究刚刚得到的系统的性质。</a:t>
                </a:r>
                <a:endParaRPr lang="en-US" altLang="zh-CN" dirty="0"/>
              </a:p>
              <a:p>
                <a:pPr marL="0" indent="0">
                  <a:buNone/>
                </a:pPr>
                <a:r>
                  <a:rPr lang="zh-CN" altLang="en-US" dirty="0"/>
                  <a:t>为书写方便，对时间的导数采用牛顿表示法，变量上面有几个点就表示对时间求几阶导</a:t>
                </a:r>
                <a:endParaRPr lang="en-US" altLang="zh-CN" dirty="0"/>
              </a:p>
              <a:p>
                <a:pPr marL="0" indent="0">
                  <a:buNone/>
                </a:pPr>
                <a14:m>
                  <m:oMathPara xmlns:m="http://schemas.openxmlformats.org/officeDocument/2006/math">
                    <m:oMathParaPr>
                      <m:jc m:val="centerGroup"/>
                    </m:oMathParaPr>
                    <m:oMath xmlns:m="http://schemas.openxmlformats.org/officeDocument/2006/math">
                      <m:r>
                        <a:rPr lang="en-US" altLang="zh-CN" i="1" dirty="0" smtClean="0">
                          <a:solidFill>
                            <a:schemeClr val="tx1"/>
                          </a:solidFill>
                          <a:latin typeface="Cambria Math" panose="02040503050406030204" pitchFamily="18" charset="0"/>
                        </a:rPr>
                        <m:t>𝐽</m:t>
                      </m:r>
                      <m:acc>
                        <m:accPr>
                          <m:chr m:val="̇"/>
                          <m:ctrlPr>
                            <a:rPr lang="en-US" altLang="zh-CN" i="1" dirty="0" smtClean="0">
                              <a:solidFill>
                                <a:schemeClr val="tx1"/>
                              </a:solidFill>
                              <a:latin typeface="Cambria Math" panose="02040503050406030204" pitchFamily="18" charset="0"/>
                            </a:rPr>
                          </m:ctrlPr>
                        </m:accPr>
                        <m:e>
                          <m:r>
                            <m:rPr>
                              <m:sty m:val="p"/>
                            </m:rPr>
                            <a:rPr lang="en-US" altLang="zh-CN" i="1"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𝜔</m:t>
                          </m:r>
                        </m:e>
                      </m:acc>
                      <m:r>
                        <a:rPr lang="en-US" altLang="zh-CN" i="0" dirty="0" smtClean="0">
                          <a:solidFill>
                            <a:schemeClr val="tx1"/>
                          </a:solidFill>
                          <a:latin typeface="Cambria Math" panose="02040503050406030204" pitchFamily="18" charset="0"/>
                        </a:rPr>
                        <m:t>+</m:t>
                      </m:r>
                      <m:r>
                        <a:rPr lang="en-US" altLang="zh-CN" i="1" dirty="0" smtClean="0">
                          <a:solidFill>
                            <a:schemeClr val="tx1"/>
                          </a:solidFill>
                          <a:latin typeface="Cambria Math" panose="02040503050406030204" pitchFamily="18" charset="0"/>
                        </a:rPr>
                        <m:t>𝑏</m:t>
                      </m:r>
                      <m:r>
                        <m:rPr>
                          <m:sty m:val="p"/>
                        </m:rPr>
                        <a:rPr lang="en-US" altLang="zh-CN" i="0"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𝜔</m:t>
                      </m:r>
                      <m:r>
                        <a:rPr lang="en-US" altLang="zh-CN" b="0" i="0" dirty="0" smtClean="0">
                          <a:solidFill>
                            <a:schemeClr val="tx1"/>
                          </a:solidFill>
                          <a:latin typeface="Cambria Math" panose="02040503050406030204" pitchFamily="18" charset="0"/>
                        </a:rPr>
                        <m:t>=</m:t>
                      </m:r>
                      <m:r>
                        <m:rPr>
                          <m:sty m:val="p"/>
                        </m:rPr>
                        <a:rPr lang="en-US" altLang="zh-CN" i="0"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𝜏</m:t>
                      </m:r>
                    </m:oMath>
                  </m:oMathPara>
                </a14:m>
                <a:endParaRPr lang="en-US" altLang="zh-CN" dirty="0">
                  <a:solidFill>
                    <a:schemeClr val="tx1"/>
                  </a:solidFill>
                </a:endParaRPr>
              </a:p>
              <a:p>
                <a:pPr marL="0" indent="0">
                  <a:buNone/>
                </a:pPr>
                <a:r>
                  <a:rPr lang="zh-CN" altLang="en-US" dirty="0"/>
                  <a:t>当</a:t>
                </a:r>
                <a14:m>
                  <m:oMath xmlns:m="http://schemas.openxmlformats.org/officeDocument/2006/math">
                    <m:r>
                      <m:rPr>
                        <m:sty m:val="p"/>
                      </m:rPr>
                      <a:rPr lang="en-US" altLang="zh-CN" i="0"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𝜏</m:t>
                    </m:r>
                  </m:oMath>
                </a14:m>
                <a:r>
                  <a:rPr lang="zh-CN" altLang="en-US" dirty="0"/>
                  <a:t>变为之前的</a:t>
                </a:r>
                <a:r>
                  <a:rPr lang="en-US" altLang="zh-CN" dirty="0"/>
                  <a:t>k</a:t>
                </a:r>
                <a:r>
                  <a:rPr lang="zh-CN" altLang="en-US" dirty="0"/>
                  <a:t>倍时，</a:t>
                </a:r>
                <a14:m>
                  <m:oMath xmlns:m="http://schemas.openxmlformats.org/officeDocument/2006/math">
                    <m:r>
                      <m:rPr>
                        <m:sty m:val="p"/>
                      </m:rPr>
                      <a:rPr lang="en-US" altLang="zh-CN" i="0"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𝜔</m:t>
                    </m:r>
                  </m:oMath>
                </a14:m>
                <a:r>
                  <a:rPr lang="zh-CN" altLang="en-US" dirty="0"/>
                  <a:t>变为原先的</a:t>
                </a:r>
                <a:r>
                  <a:rPr lang="en-US" altLang="zh-CN" dirty="0"/>
                  <a:t>k</a:t>
                </a:r>
                <a:r>
                  <a:rPr lang="zh-CN" altLang="en-US" dirty="0"/>
                  <a:t>倍，方程仍成立：</a:t>
                </a:r>
                <a:endParaRPr lang="en-US" altLang="zh-CN" dirty="0"/>
              </a:p>
              <a:p>
                <a:pPr marL="0" indent="0">
                  <a:buNone/>
                </a:pPr>
                <a14:m>
                  <m:oMathPara xmlns:m="http://schemas.openxmlformats.org/officeDocument/2006/math">
                    <m:oMathParaPr>
                      <m:jc m:val="centerGroup"/>
                    </m:oMathParaPr>
                    <m:oMath xmlns:m="http://schemas.openxmlformats.org/officeDocument/2006/math">
                      <m:r>
                        <a:rPr lang="en-US" altLang="zh-CN" i="1" dirty="0" smtClean="0">
                          <a:solidFill>
                            <a:schemeClr val="tx1"/>
                          </a:solidFill>
                          <a:latin typeface="Cambria Math" panose="02040503050406030204" pitchFamily="18" charset="0"/>
                        </a:rPr>
                        <m:t>𝐽</m:t>
                      </m:r>
                      <m:d>
                        <m:dPr>
                          <m:ctrlPr>
                            <a:rPr lang="en-US" altLang="zh-CN" b="0" i="1" dirty="0" smtClean="0">
                              <a:solidFill>
                                <a:schemeClr val="tx1"/>
                              </a:solidFill>
                              <a:latin typeface="Cambria Math" panose="02040503050406030204" pitchFamily="18" charset="0"/>
                            </a:rPr>
                          </m:ctrlPr>
                        </m:dPr>
                        <m:e>
                          <m:r>
                            <a:rPr lang="en-US" altLang="zh-CN" b="0" i="1" dirty="0" smtClean="0">
                              <a:solidFill>
                                <a:schemeClr val="tx1"/>
                              </a:solidFill>
                              <a:latin typeface="Cambria Math" panose="02040503050406030204" pitchFamily="18" charset="0"/>
                            </a:rPr>
                            <m:t>𝑘</m:t>
                          </m:r>
                          <m:acc>
                            <m:accPr>
                              <m:chr m:val="̇"/>
                              <m:ctrlPr>
                                <a:rPr lang="en-US" altLang="zh-CN" i="1" dirty="0" smtClean="0">
                                  <a:solidFill>
                                    <a:schemeClr val="tx1"/>
                                  </a:solidFill>
                                  <a:latin typeface="Cambria Math" panose="02040503050406030204" pitchFamily="18" charset="0"/>
                                </a:rPr>
                              </m:ctrlPr>
                            </m:accPr>
                            <m:e>
                              <m:r>
                                <m:rPr>
                                  <m:sty m:val="p"/>
                                </m:rPr>
                                <a:rPr lang="en-US" altLang="zh-CN" i="1"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𝜔</m:t>
                              </m:r>
                            </m:e>
                          </m:acc>
                        </m:e>
                      </m:d>
                      <m:r>
                        <a:rPr lang="en-US" altLang="zh-CN" i="0" dirty="0" smtClean="0">
                          <a:solidFill>
                            <a:schemeClr val="tx1"/>
                          </a:solidFill>
                          <a:latin typeface="Cambria Math" panose="02040503050406030204" pitchFamily="18" charset="0"/>
                        </a:rPr>
                        <m:t>+</m:t>
                      </m:r>
                      <m:r>
                        <a:rPr lang="en-US" altLang="zh-CN" i="1" dirty="0" smtClean="0">
                          <a:solidFill>
                            <a:schemeClr val="tx1"/>
                          </a:solidFill>
                          <a:latin typeface="Cambria Math" panose="02040503050406030204" pitchFamily="18" charset="0"/>
                        </a:rPr>
                        <m:t>𝑏</m:t>
                      </m:r>
                      <m:d>
                        <m:dPr>
                          <m:ctrlPr>
                            <a:rPr lang="en-US" altLang="zh-CN" b="0" i="1" dirty="0" smtClean="0">
                              <a:solidFill>
                                <a:schemeClr val="tx1"/>
                              </a:solidFill>
                              <a:latin typeface="Cambria Math" panose="02040503050406030204" pitchFamily="18" charset="0"/>
                            </a:rPr>
                          </m:ctrlPr>
                        </m:dPr>
                        <m:e>
                          <m:r>
                            <a:rPr lang="en-US" altLang="zh-CN" b="0" i="1" dirty="0" smtClean="0">
                              <a:solidFill>
                                <a:schemeClr val="tx1"/>
                              </a:solidFill>
                              <a:latin typeface="Cambria Math" panose="02040503050406030204" pitchFamily="18" charset="0"/>
                            </a:rPr>
                            <m:t>𝑘</m:t>
                          </m:r>
                          <m:r>
                            <m:rPr>
                              <m:sty m:val="p"/>
                            </m:rPr>
                            <a:rPr lang="en-US" altLang="zh-CN" i="0"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𝜔</m:t>
                          </m:r>
                        </m:e>
                      </m:d>
                      <m:r>
                        <a:rPr lang="en-US" altLang="zh-CN" b="0" i="0" dirty="0" smtClean="0">
                          <a:solidFill>
                            <a:schemeClr val="tx1"/>
                          </a:solidFill>
                          <a:latin typeface="Cambria Math" panose="02040503050406030204" pitchFamily="18" charset="0"/>
                        </a:rPr>
                        <m:t>=</m:t>
                      </m:r>
                      <m:r>
                        <m:rPr>
                          <m:sty m:val="p"/>
                        </m:rPr>
                        <a:rPr lang="en-US" altLang="zh-CN" b="0" i="0" dirty="0" smtClean="0">
                          <a:solidFill>
                            <a:schemeClr val="tx1"/>
                          </a:solidFill>
                          <a:latin typeface="Cambria Math" panose="02040503050406030204" pitchFamily="18" charset="0"/>
                        </a:rPr>
                        <m:t>kΔ</m:t>
                      </m:r>
                      <m:r>
                        <a:rPr lang="en-US" altLang="zh-CN" i="1" dirty="0" smtClean="0">
                          <a:solidFill>
                            <a:schemeClr val="tx1"/>
                          </a:solidFill>
                          <a:latin typeface="Cambria Math" panose="02040503050406030204" pitchFamily="18" charset="0"/>
                        </a:rPr>
                        <m:t>𝜏</m:t>
                      </m:r>
                    </m:oMath>
                  </m:oMathPara>
                </a14:m>
                <a:endParaRPr lang="en-US" altLang="zh-CN" dirty="0">
                  <a:solidFill>
                    <a:schemeClr val="tx1"/>
                  </a:solidFill>
                </a:endParaRPr>
              </a:p>
              <a:p>
                <a:pPr marL="0" indent="0">
                  <a:buNone/>
                </a:pPr>
                <a:r>
                  <a:rPr lang="zh-CN" altLang="en-US" dirty="0">
                    <a:solidFill>
                      <a:schemeClr val="tx1"/>
                    </a:solidFill>
                  </a:rPr>
                  <a:t>当</a:t>
                </a:r>
                <a14:m>
                  <m:oMath xmlns:m="http://schemas.openxmlformats.org/officeDocument/2006/math">
                    <m:r>
                      <m:rPr>
                        <m:sty m:val="p"/>
                      </m:rPr>
                      <a:rPr lang="en-US" altLang="zh-CN" i="0"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𝜏</m:t>
                    </m:r>
                  </m:oMath>
                </a14:m>
                <a:r>
                  <a:rPr lang="zh-CN" altLang="en-US" dirty="0">
                    <a:solidFill>
                      <a:schemeClr val="tx1"/>
                    </a:solidFill>
                  </a:rPr>
                  <a:t>是两个量的线性叠加时，</a:t>
                </a:r>
                <a:r>
                  <a:rPr lang="en-US" altLang="zh-CN" dirty="0">
                    <a:solidFill>
                      <a:schemeClr val="tx1"/>
                    </a:solidFill>
                  </a:rPr>
                  <a:t> </a:t>
                </a:r>
                <a14:m>
                  <m:oMath xmlns:m="http://schemas.openxmlformats.org/officeDocument/2006/math">
                    <m:r>
                      <m:rPr>
                        <m:sty m:val="p"/>
                      </m:rPr>
                      <a:rPr lang="en-US" altLang="zh-CN" i="0"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𝜔</m:t>
                    </m:r>
                  </m:oMath>
                </a14:m>
                <a:r>
                  <a:rPr lang="zh-CN" altLang="en-US" dirty="0">
                    <a:solidFill>
                      <a:schemeClr val="tx1"/>
                    </a:solidFill>
                  </a:rPr>
                  <a:t>也是各自对应量的线性叠加：</a:t>
                </a:r>
                <a:endParaRPr lang="en-US" altLang="zh-CN"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r>
                        <a:rPr lang="en-US" altLang="zh-CN" i="1" dirty="0" smtClean="0">
                          <a:solidFill>
                            <a:schemeClr val="tx1"/>
                          </a:solidFill>
                          <a:latin typeface="Cambria Math" panose="02040503050406030204" pitchFamily="18" charset="0"/>
                        </a:rPr>
                        <m:t>𝐽</m:t>
                      </m:r>
                      <m:d>
                        <m:dPr>
                          <m:ctrlPr>
                            <a:rPr lang="en-US" altLang="zh-CN" b="0" i="1" dirty="0" smtClean="0">
                              <a:solidFill>
                                <a:schemeClr val="tx1"/>
                              </a:solidFill>
                              <a:latin typeface="Cambria Math" panose="02040503050406030204" pitchFamily="18" charset="0"/>
                            </a:rPr>
                          </m:ctrlPr>
                        </m:dPr>
                        <m:e>
                          <m:sSub>
                            <m:sSubPr>
                              <m:ctrlPr>
                                <a:rPr lang="en-US" altLang="zh-CN" b="0" i="1" dirty="0" smtClean="0">
                                  <a:solidFill>
                                    <a:schemeClr val="tx1"/>
                                  </a:solidFill>
                                  <a:latin typeface="Cambria Math" panose="02040503050406030204" pitchFamily="18" charset="0"/>
                                </a:rPr>
                              </m:ctrlPr>
                            </m:sSubPr>
                            <m:e>
                              <m:r>
                                <m:rPr>
                                  <m:sty m:val="p"/>
                                </m:rPr>
                                <a:rPr lang="en-US" altLang="zh-CN" i="1" dirty="0">
                                  <a:latin typeface="Cambria Math" panose="02040503050406030204" pitchFamily="18" charset="0"/>
                                </a:rPr>
                                <m:t>k</m:t>
                              </m:r>
                            </m:e>
                            <m:sub>
                              <m:r>
                                <a:rPr lang="en-US" altLang="zh-CN" b="0" i="1" dirty="0" smtClean="0">
                                  <a:solidFill>
                                    <a:schemeClr val="tx1"/>
                                  </a:solidFill>
                                  <a:latin typeface="Cambria Math" panose="02040503050406030204" pitchFamily="18" charset="0"/>
                                </a:rPr>
                                <m:t>1</m:t>
                              </m:r>
                            </m:sub>
                          </m:sSub>
                          <m:r>
                            <m:rPr>
                              <m:sty m:val="p"/>
                            </m:rPr>
                            <a:rPr lang="en-US" altLang="zh-CN" i="1" dirty="0" smtClean="0">
                              <a:solidFill>
                                <a:schemeClr val="tx1"/>
                              </a:solidFill>
                              <a:latin typeface="Cambria Math" panose="02040503050406030204" pitchFamily="18" charset="0"/>
                            </a:rPr>
                            <m:t>Δ</m:t>
                          </m:r>
                          <m:acc>
                            <m:accPr>
                              <m:chr m:val="̇"/>
                              <m:ctrlPr>
                                <a:rPr lang="en-US" altLang="zh-CN" i="1" dirty="0" smtClean="0">
                                  <a:solidFill>
                                    <a:schemeClr val="tx1"/>
                                  </a:solidFill>
                                  <a:latin typeface="Cambria Math" panose="02040503050406030204" pitchFamily="18" charset="0"/>
                                </a:rPr>
                              </m:ctrlPr>
                            </m:accPr>
                            <m:e>
                              <m:sSub>
                                <m:sSubPr>
                                  <m:ctrlPr>
                                    <a:rPr lang="en-US" altLang="zh-CN" i="1" dirty="0" smtClean="0">
                                      <a:solidFill>
                                        <a:schemeClr val="tx1"/>
                                      </a:solidFill>
                                      <a:latin typeface="Cambria Math" panose="02040503050406030204" pitchFamily="18" charset="0"/>
                                    </a:rPr>
                                  </m:ctrlPr>
                                </m:sSubPr>
                                <m:e>
                                  <m:r>
                                    <a:rPr lang="en-US" altLang="zh-CN" i="1" dirty="0" smtClean="0">
                                      <a:solidFill>
                                        <a:schemeClr val="tx1"/>
                                      </a:solidFill>
                                      <a:latin typeface="Cambria Math" panose="02040503050406030204" pitchFamily="18" charset="0"/>
                                    </a:rPr>
                                    <m:t>𝜔</m:t>
                                  </m:r>
                                </m:e>
                                <m:sub>
                                  <m:r>
                                    <a:rPr lang="en-US" altLang="zh-CN" b="0" i="1" dirty="0" smtClean="0">
                                      <a:solidFill>
                                        <a:schemeClr val="tx1"/>
                                      </a:solidFill>
                                      <a:latin typeface="Cambria Math" panose="02040503050406030204" pitchFamily="18" charset="0"/>
                                    </a:rPr>
                                    <m:t>1</m:t>
                                  </m:r>
                                </m:sub>
                              </m:sSub>
                            </m:e>
                          </m:acc>
                          <m:r>
                            <a:rPr lang="en-US" altLang="zh-CN" b="0" i="1" dirty="0" smtClean="0">
                              <a:solidFill>
                                <a:schemeClr val="tx1"/>
                              </a:solidFill>
                              <a:latin typeface="Cambria Math" panose="02040503050406030204" pitchFamily="18" charset="0"/>
                            </a:rPr>
                            <m:t>+</m:t>
                          </m:r>
                          <m:sSub>
                            <m:sSubPr>
                              <m:ctrlPr>
                                <a:rPr lang="en-US" altLang="zh-CN" b="0" i="1" dirty="0" smtClean="0">
                                  <a:solidFill>
                                    <a:schemeClr val="tx1"/>
                                  </a:solidFill>
                                  <a:latin typeface="Cambria Math" panose="02040503050406030204" pitchFamily="18" charset="0"/>
                                </a:rPr>
                              </m:ctrlPr>
                            </m:sSubPr>
                            <m:e>
                              <m:r>
                                <m:rPr>
                                  <m:sty m:val="p"/>
                                </m:rPr>
                                <a:rPr lang="en-US" altLang="zh-CN" i="1" dirty="0">
                                  <a:latin typeface="Cambria Math" panose="02040503050406030204" pitchFamily="18" charset="0"/>
                                </a:rPr>
                                <m:t>k</m:t>
                              </m:r>
                            </m:e>
                            <m:sub>
                              <m:r>
                                <a:rPr lang="en-US" altLang="zh-CN" b="0" i="1" dirty="0" smtClean="0">
                                  <a:latin typeface="Cambria Math" panose="02040503050406030204" pitchFamily="18" charset="0"/>
                                </a:rPr>
                                <m:t>2</m:t>
                              </m:r>
                            </m:sub>
                          </m:sSub>
                          <m:r>
                            <m:rPr>
                              <m:sty m:val="p"/>
                            </m:rPr>
                            <a:rPr lang="en-US" altLang="zh-CN" i="1" dirty="0" smtClean="0">
                              <a:solidFill>
                                <a:schemeClr val="tx1"/>
                              </a:solidFill>
                              <a:latin typeface="Cambria Math" panose="02040503050406030204" pitchFamily="18" charset="0"/>
                            </a:rPr>
                            <m:t>Δ</m:t>
                          </m:r>
                          <m:acc>
                            <m:accPr>
                              <m:chr m:val="̇"/>
                              <m:ctrlPr>
                                <a:rPr lang="en-US" altLang="zh-CN" i="1" dirty="0" smtClean="0">
                                  <a:solidFill>
                                    <a:schemeClr val="tx1"/>
                                  </a:solidFill>
                                  <a:latin typeface="Cambria Math" panose="02040503050406030204" pitchFamily="18" charset="0"/>
                                </a:rPr>
                              </m:ctrlPr>
                            </m:accPr>
                            <m:e>
                              <m:sSub>
                                <m:sSubPr>
                                  <m:ctrlPr>
                                    <a:rPr lang="en-US" altLang="zh-CN" i="1" dirty="0" smtClean="0">
                                      <a:solidFill>
                                        <a:schemeClr val="tx1"/>
                                      </a:solidFill>
                                      <a:latin typeface="Cambria Math" panose="02040503050406030204" pitchFamily="18" charset="0"/>
                                    </a:rPr>
                                  </m:ctrlPr>
                                </m:sSubPr>
                                <m:e>
                                  <m:r>
                                    <a:rPr lang="en-US" altLang="zh-CN" i="1" dirty="0" smtClean="0">
                                      <a:solidFill>
                                        <a:schemeClr val="tx1"/>
                                      </a:solidFill>
                                      <a:latin typeface="Cambria Math" panose="02040503050406030204" pitchFamily="18" charset="0"/>
                                    </a:rPr>
                                    <m:t>𝜔</m:t>
                                  </m:r>
                                </m:e>
                                <m:sub>
                                  <m:r>
                                    <a:rPr lang="en-US" altLang="zh-CN" b="0" i="1" dirty="0" smtClean="0">
                                      <a:solidFill>
                                        <a:schemeClr val="tx1"/>
                                      </a:solidFill>
                                      <a:latin typeface="Cambria Math" panose="02040503050406030204" pitchFamily="18" charset="0"/>
                                    </a:rPr>
                                    <m:t>2</m:t>
                                  </m:r>
                                </m:sub>
                              </m:sSub>
                            </m:e>
                          </m:acc>
                        </m:e>
                      </m:d>
                      <m:r>
                        <a:rPr lang="en-US" altLang="zh-CN" i="0" dirty="0" smtClean="0">
                          <a:solidFill>
                            <a:schemeClr val="tx1"/>
                          </a:solidFill>
                          <a:latin typeface="Cambria Math" panose="02040503050406030204" pitchFamily="18" charset="0"/>
                        </a:rPr>
                        <m:t>+</m:t>
                      </m:r>
                      <m:r>
                        <a:rPr lang="en-US" altLang="zh-CN" i="1" dirty="0" smtClean="0">
                          <a:solidFill>
                            <a:schemeClr val="tx1"/>
                          </a:solidFill>
                          <a:latin typeface="Cambria Math" panose="02040503050406030204" pitchFamily="18" charset="0"/>
                        </a:rPr>
                        <m:t>𝑏</m:t>
                      </m:r>
                      <m:d>
                        <m:dPr>
                          <m:ctrlPr>
                            <a:rPr lang="en-US" altLang="zh-CN" b="0" i="1" dirty="0" smtClean="0">
                              <a:solidFill>
                                <a:schemeClr val="tx1"/>
                              </a:solidFill>
                              <a:latin typeface="Cambria Math" panose="02040503050406030204" pitchFamily="18" charset="0"/>
                            </a:rPr>
                          </m:ctrlPr>
                        </m:dPr>
                        <m:e>
                          <m:sSub>
                            <m:sSubPr>
                              <m:ctrlPr>
                                <a:rPr lang="en-US" altLang="zh-CN" b="0" i="1" dirty="0" smtClean="0">
                                  <a:solidFill>
                                    <a:schemeClr val="tx1"/>
                                  </a:solidFill>
                                  <a:latin typeface="Cambria Math" panose="02040503050406030204" pitchFamily="18" charset="0"/>
                                </a:rPr>
                              </m:ctrlPr>
                            </m:sSubPr>
                            <m:e>
                              <m:r>
                                <m:rPr>
                                  <m:sty m:val="p"/>
                                </m:rPr>
                                <a:rPr lang="en-US" altLang="zh-CN" i="1" dirty="0">
                                  <a:latin typeface="Cambria Math" panose="02040503050406030204" pitchFamily="18" charset="0"/>
                                </a:rPr>
                                <m:t>k</m:t>
                              </m:r>
                            </m:e>
                            <m:sub>
                              <m:r>
                                <a:rPr lang="en-US" altLang="zh-CN" b="0" i="1" dirty="0" smtClean="0">
                                  <a:solidFill>
                                    <a:schemeClr val="tx1"/>
                                  </a:solidFill>
                                  <a:latin typeface="Cambria Math" panose="02040503050406030204" pitchFamily="18" charset="0"/>
                                </a:rPr>
                                <m:t>1</m:t>
                              </m:r>
                            </m:sub>
                          </m:sSub>
                          <m:acc>
                            <m:accPr>
                              <m:chr m:val="̇"/>
                              <m:ctrlPr>
                                <a:rPr lang="en-US" altLang="zh-CN" i="1" dirty="0" smtClean="0">
                                  <a:solidFill>
                                    <a:schemeClr val="tx1"/>
                                  </a:solidFill>
                                  <a:latin typeface="Cambria Math" panose="02040503050406030204" pitchFamily="18" charset="0"/>
                                </a:rPr>
                              </m:ctrlPr>
                            </m:accPr>
                            <m:e>
                              <m:r>
                                <m:rPr>
                                  <m:sty m:val="p"/>
                                </m:rPr>
                                <a:rPr lang="en-US" altLang="zh-CN" i="1" dirty="0" smtClean="0">
                                  <a:solidFill>
                                    <a:schemeClr val="tx1"/>
                                  </a:solidFill>
                                  <a:latin typeface="Cambria Math" panose="02040503050406030204" pitchFamily="18" charset="0"/>
                                </a:rPr>
                                <m:t>Δ</m:t>
                              </m:r>
                              <m:sSub>
                                <m:sSubPr>
                                  <m:ctrlPr>
                                    <a:rPr lang="en-US" altLang="zh-CN" i="1" dirty="0" smtClean="0">
                                      <a:solidFill>
                                        <a:schemeClr val="tx1"/>
                                      </a:solidFill>
                                      <a:latin typeface="Cambria Math" panose="02040503050406030204" pitchFamily="18" charset="0"/>
                                    </a:rPr>
                                  </m:ctrlPr>
                                </m:sSubPr>
                                <m:e>
                                  <m:r>
                                    <a:rPr lang="en-US" altLang="zh-CN" i="1" dirty="0" smtClean="0">
                                      <a:solidFill>
                                        <a:schemeClr val="tx1"/>
                                      </a:solidFill>
                                      <a:latin typeface="Cambria Math" panose="02040503050406030204" pitchFamily="18" charset="0"/>
                                    </a:rPr>
                                    <m:t>𝜔</m:t>
                                  </m:r>
                                </m:e>
                                <m:sub>
                                  <m:r>
                                    <a:rPr lang="en-US" altLang="zh-CN" b="0" i="1" dirty="0" smtClean="0">
                                      <a:solidFill>
                                        <a:schemeClr val="tx1"/>
                                      </a:solidFill>
                                      <a:latin typeface="Cambria Math" panose="02040503050406030204" pitchFamily="18" charset="0"/>
                                    </a:rPr>
                                    <m:t>1</m:t>
                                  </m:r>
                                </m:sub>
                              </m:sSub>
                              <m:r>
                                <a:rPr lang="en-US" altLang="zh-CN" b="0" i="1" dirty="0" smtClean="0">
                                  <a:solidFill>
                                    <a:schemeClr val="tx1"/>
                                  </a:solidFill>
                                  <a:latin typeface="Cambria Math" panose="02040503050406030204" pitchFamily="18" charset="0"/>
                                </a:rPr>
                                <m:t>+</m:t>
                              </m:r>
                            </m:e>
                          </m:acc>
                          <m:sSub>
                            <m:sSubPr>
                              <m:ctrlPr>
                                <a:rPr lang="en-US" altLang="zh-CN" b="0" i="1" dirty="0" smtClean="0">
                                  <a:solidFill>
                                    <a:schemeClr val="tx1"/>
                                  </a:solidFill>
                                  <a:latin typeface="Cambria Math" panose="02040503050406030204" pitchFamily="18" charset="0"/>
                                </a:rPr>
                              </m:ctrlPr>
                            </m:sSubPr>
                            <m:e>
                              <m:r>
                                <m:rPr>
                                  <m:sty m:val="p"/>
                                </m:rPr>
                                <a:rPr lang="en-US" altLang="zh-CN" i="1" dirty="0">
                                  <a:latin typeface="Cambria Math" panose="02040503050406030204" pitchFamily="18" charset="0"/>
                                </a:rPr>
                                <m:t>k</m:t>
                              </m:r>
                            </m:e>
                            <m:sub>
                              <m:r>
                                <a:rPr lang="en-US" altLang="zh-CN" b="0" i="1" dirty="0" smtClean="0">
                                  <a:latin typeface="Cambria Math" panose="02040503050406030204" pitchFamily="18" charset="0"/>
                                </a:rPr>
                                <m:t>2</m:t>
                              </m:r>
                            </m:sub>
                          </m:sSub>
                          <m:acc>
                            <m:accPr>
                              <m:chr m:val="̇"/>
                              <m:ctrlPr>
                                <a:rPr lang="en-US" altLang="zh-CN" i="1" dirty="0" smtClean="0">
                                  <a:solidFill>
                                    <a:schemeClr val="tx1"/>
                                  </a:solidFill>
                                  <a:latin typeface="Cambria Math" panose="02040503050406030204" pitchFamily="18" charset="0"/>
                                </a:rPr>
                              </m:ctrlPr>
                            </m:accPr>
                            <m:e>
                              <m:r>
                                <m:rPr>
                                  <m:sty m:val="p"/>
                                </m:rPr>
                                <a:rPr lang="en-US" altLang="zh-CN" i="1" dirty="0" smtClean="0">
                                  <a:solidFill>
                                    <a:schemeClr val="tx1"/>
                                  </a:solidFill>
                                  <a:latin typeface="Cambria Math" panose="02040503050406030204" pitchFamily="18" charset="0"/>
                                </a:rPr>
                                <m:t>Δ</m:t>
                              </m:r>
                              <m:sSub>
                                <m:sSubPr>
                                  <m:ctrlPr>
                                    <a:rPr lang="en-US" altLang="zh-CN" i="1" dirty="0" smtClean="0">
                                      <a:solidFill>
                                        <a:schemeClr val="tx1"/>
                                      </a:solidFill>
                                      <a:latin typeface="Cambria Math" panose="02040503050406030204" pitchFamily="18" charset="0"/>
                                    </a:rPr>
                                  </m:ctrlPr>
                                </m:sSubPr>
                                <m:e>
                                  <m:r>
                                    <a:rPr lang="en-US" altLang="zh-CN" i="1" dirty="0" smtClean="0">
                                      <a:solidFill>
                                        <a:schemeClr val="tx1"/>
                                      </a:solidFill>
                                      <a:latin typeface="Cambria Math" panose="02040503050406030204" pitchFamily="18" charset="0"/>
                                    </a:rPr>
                                    <m:t>𝜔</m:t>
                                  </m:r>
                                </m:e>
                                <m:sub>
                                  <m:r>
                                    <a:rPr lang="en-US" altLang="zh-CN" b="0" i="1" dirty="0" smtClean="0">
                                      <a:solidFill>
                                        <a:schemeClr val="tx1"/>
                                      </a:solidFill>
                                      <a:latin typeface="Cambria Math" panose="02040503050406030204" pitchFamily="18" charset="0"/>
                                    </a:rPr>
                                    <m:t>2</m:t>
                                  </m:r>
                                </m:sub>
                              </m:sSub>
                            </m:e>
                          </m:acc>
                        </m:e>
                      </m:d>
                      <m:r>
                        <a:rPr lang="en-US" altLang="zh-CN" b="0" i="0" dirty="0" smtClean="0">
                          <a:solidFill>
                            <a:schemeClr val="tx1"/>
                          </a:solidFill>
                          <a:latin typeface="Cambria Math" panose="02040503050406030204" pitchFamily="18" charset="0"/>
                        </a:rPr>
                        <m:t>=</m:t>
                      </m:r>
                      <m:sSub>
                        <m:sSubPr>
                          <m:ctrlPr>
                            <a:rPr lang="en-US" altLang="zh-CN" b="0" i="1" dirty="0" smtClean="0">
                              <a:solidFill>
                                <a:schemeClr val="tx1"/>
                              </a:solidFill>
                              <a:latin typeface="Cambria Math" panose="02040503050406030204" pitchFamily="18" charset="0"/>
                            </a:rPr>
                          </m:ctrlPr>
                        </m:sSubPr>
                        <m:e>
                          <m:r>
                            <m:rPr>
                              <m:sty m:val="p"/>
                            </m:rPr>
                            <a:rPr lang="en-US" altLang="zh-CN" i="1" dirty="0">
                              <a:latin typeface="Cambria Math" panose="02040503050406030204" pitchFamily="18" charset="0"/>
                            </a:rPr>
                            <m:t>k</m:t>
                          </m:r>
                        </m:e>
                        <m:sub>
                          <m:r>
                            <a:rPr lang="en-US" altLang="zh-CN" b="0" i="1" dirty="0" smtClean="0">
                              <a:solidFill>
                                <a:schemeClr val="tx1"/>
                              </a:solidFill>
                              <a:latin typeface="Cambria Math" panose="02040503050406030204" pitchFamily="18" charset="0"/>
                            </a:rPr>
                            <m:t>1</m:t>
                          </m:r>
                        </m:sub>
                      </m:sSub>
                      <m:sSub>
                        <m:sSubPr>
                          <m:ctrlPr>
                            <a:rPr lang="en-US" altLang="zh-CN" b="0" i="1" dirty="0" smtClean="0">
                              <a:solidFill>
                                <a:schemeClr val="tx1"/>
                              </a:solidFill>
                              <a:latin typeface="Cambria Math" panose="02040503050406030204" pitchFamily="18" charset="0"/>
                            </a:rPr>
                          </m:ctrlPr>
                        </m:sSubPr>
                        <m:e>
                          <m:r>
                            <m:rPr>
                              <m:sty m:val="p"/>
                            </m:rPr>
                            <a:rPr lang="en-US" altLang="zh-CN" i="0"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𝜏</m:t>
                          </m:r>
                        </m:e>
                        <m:sub>
                          <m:r>
                            <a:rPr lang="en-US" altLang="zh-CN" b="0" i="1" dirty="0" smtClean="0">
                              <a:solidFill>
                                <a:schemeClr val="tx1"/>
                              </a:solidFill>
                              <a:latin typeface="Cambria Math" panose="02040503050406030204" pitchFamily="18" charset="0"/>
                            </a:rPr>
                            <m:t>1</m:t>
                          </m:r>
                        </m:sub>
                      </m:sSub>
                      <m:r>
                        <a:rPr lang="en-US" altLang="zh-CN" b="0" i="1" dirty="0" smtClean="0">
                          <a:solidFill>
                            <a:schemeClr val="tx1"/>
                          </a:solidFill>
                          <a:latin typeface="Cambria Math" panose="02040503050406030204" pitchFamily="18" charset="0"/>
                        </a:rPr>
                        <m:t>+</m:t>
                      </m:r>
                      <m:sSub>
                        <m:sSubPr>
                          <m:ctrlPr>
                            <a:rPr lang="en-US" altLang="zh-CN" b="0" i="1" dirty="0" smtClean="0">
                              <a:solidFill>
                                <a:schemeClr val="tx1"/>
                              </a:solidFill>
                              <a:latin typeface="Cambria Math" panose="02040503050406030204" pitchFamily="18" charset="0"/>
                            </a:rPr>
                          </m:ctrlPr>
                        </m:sSubPr>
                        <m:e>
                          <m:r>
                            <m:rPr>
                              <m:sty m:val="p"/>
                            </m:rPr>
                            <a:rPr lang="en-US" altLang="zh-CN" i="1" dirty="0">
                              <a:latin typeface="Cambria Math" panose="02040503050406030204" pitchFamily="18" charset="0"/>
                            </a:rPr>
                            <m:t>k</m:t>
                          </m:r>
                        </m:e>
                        <m:sub>
                          <m:r>
                            <a:rPr lang="en-US" altLang="zh-CN" b="0" i="1" dirty="0" smtClean="0">
                              <a:latin typeface="Cambria Math" panose="02040503050406030204" pitchFamily="18" charset="0"/>
                            </a:rPr>
                            <m:t>2</m:t>
                          </m:r>
                        </m:sub>
                      </m:sSub>
                      <m:sSub>
                        <m:sSubPr>
                          <m:ctrlPr>
                            <a:rPr lang="en-US" altLang="zh-CN" b="0" i="1" dirty="0" smtClean="0">
                              <a:solidFill>
                                <a:schemeClr val="tx1"/>
                              </a:solidFill>
                              <a:latin typeface="Cambria Math" panose="02040503050406030204" pitchFamily="18" charset="0"/>
                            </a:rPr>
                          </m:ctrlPr>
                        </m:sSubPr>
                        <m:e>
                          <m:r>
                            <m:rPr>
                              <m:sty m:val="p"/>
                            </m:rPr>
                            <a:rPr lang="en-US" altLang="zh-CN" i="0"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𝜏</m:t>
                          </m:r>
                        </m:e>
                        <m:sub>
                          <m:r>
                            <a:rPr lang="en-US" altLang="zh-CN" b="0" i="1" dirty="0" smtClean="0">
                              <a:solidFill>
                                <a:schemeClr val="tx1"/>
                              </a:solidFill>
                              <a:latin typeface="Cambria Math" panose="02040503050406030204" pitchFamily="18" charset="0"/>
                            </a:rPr>
                            <m:t>2</m:t>
                          </m:r>
                        </m:sub>
                      </m:sSub>
                    </m:oMath>
                  </m:oMathPara>
                </a14:m>
                <a:endParaRPr lang="en-US" altLang="zh-CN" dirty="0">
                  <a:solidFill>
                    <a:schemeClr val="tx1"/>
                  </a:solidFill>
                </a:endParaRPr>
              </a:p>
              <a:p>
                <a:pPr marL="0" indent="0">
                  <a:buNone/>
                </a:pPr>
                <a:r>
                  <a:rPr lang="zh-CN" altLang="en-US" dirty="0"/>
                  <a:t>这种在加倍和叠加后仍然能够相互对应的性质称为线性。</a:t>
                </a:r>
                <a:endParaRPr lang="en-US" altLang="zh-CN" dirty="0"/>
              </a:p>
              <a:p>
                <a:pPr marL="0" indent="0">
                  <a:buNone/>
                </a:pPr>
                <a:r>
                  <a:rPr lang="zh-CN" altLang="en-US" dirty="0"/>
                  <a:t>可以认为</a:t>
                </a:r>
                <a:r>
                  <a:rPr lang="en-US" altLang="zh-CN" dirty="0"/>
                  <a:t>J</a:t>
                </a:r>
                <a:r>
                  <a:rPr lang="zh-CN" altLang="en-US" dirty="0"/>
                  <a:t>和</a:t>
                </a:r>
                <a:r>
                  <a:rPr lang="en-US" altLang="zh-CN" dirty="0"/>
                  <a:t>b</a:t>
                </a:r>
                <a:r>
                  <a:rPr lang="zh-CN" altLang="en-US" dirty="0"/>
                  <a:t>不随时间改变，因此在不同时间该方程都成立，称为时不变性。</a:t>
                </a:r>
                <a:endParaRPr lang="en-US" altLang="zh-CN" dirty="0"/>
              </a:p>
            </p:txBody>
          </p:sp>
        </mc:Choice>
        <mc:Fallback xmlns="">
          <p:sp>
            <p:nvSpPr>
              <p:cNvPr id="3" name="内容占位符 2">
                <a:extLst>
                  <a:ext uri="{FF2B5EF4-FFF2-40B4-BE49-F238E27FC236}">
                    <a16:creationId xmlns:a16="http://schemas.microsoft.com/office/drawing/2014/main" id="{F90DEE1D-2204-4E66-7E9A-460C42DB7648}"/>
                  </a:ext>
                </a:extLst>
              </p:cNvPr>
              <p:cNvSpPr>
                <a:spLocks noGrp="1" noRot="1" noChangeAspect="1" noMove="1" noResize="1" noEditPoints="1" noAdjustHandles="1" noChangeArrowheads="1" noChangeShapeType="1" noTextEdit="1"/>
              </p:cNvSpPr>
              <p:nvPr>
                <p:ph idx="1"/>
              </p:nvPr>
            </p:nvSpPr>
            <p:spPr>
              <a:xfrm>
                <a:off x="838200" y="1325563"/>
                <a:ext cx="10515600" cy="5532437"/>
              </a:xfrm>
              <a:blipFill>
                <a:blip r:embed="rId2"/>
                <a:stretch>
                  <a:fillRect l="-1217" t="-1982" r="-696"/>
                </a:stretch>
              </a:blipFill>
            </p:spPr>
            <p:txBody>
              <a:bodyPr/>
              <a:lstStyle/>
              <a:p>
                <a:r>
                  <a:rPr lang="zh-SG" altLang="en-US">
                    <a:noFill/>
                  </a:rPr>
                  <a:t> </a:t>
                </a:r>
              </a:p>
            </p:txBody>
          </p:sp>
        </mc:Fallback>
      </mc:AlternateContent>
    </p:spTree>
    <p:extLst>
      <p:ext uri="{BB962C8B-B14F-4D97-AF65-F5344CB8AC3E}">
        <p14:creationId xmlns:p14="http://schemas.microsoft.com/office/powerpoint/2010/main" val="21541527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6F1534-09BB-3498-9C84-4F32F8CE51D6}"/>
              </a:ext>
            </a:extLst>
          </p:cNvPr>
          <p:cNvSpPr>
            <a:spLocks noGrp="1"/>
          </p:cNvSpPr>
          <p:nvPr>
            <p:ph type="title"/>
          </p:nvPr>
        </p:nvSpPr>
        <p:spPr/>
        <p:txBody>
          <a:bodyPr/>
          <a:lstStyle/>
          <a:p>
            <a:r>
              <a:rPr lang="zh-CN" altLang="en-US" dirty="0"/>
              <a:t>线性时不变系统的描述</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2C035C41-C2FB-60FE-A002-DD51B4D2759A}"/>
                  </a:ext>
                </a:extLst>
              </p:cNvPr>
              <p:cNvSpPr>
                <a:spLocks noGrp="1"/>
              </p:cNvSpPr>
              <p:nvPr>
                <p:ph idx="1"/>
              </p:nvPr>
            </p:nvSpPr>
            <p:spPr/>
            <p:txBody>
              <a:bodyPr>
                <a:normAutofit/>
              </a:bodyPr>
              <a:lstStyle/>
              <a:p>
                <a:r>
                  <a:rPr lang="zh-CN" altLang="en-US" dirty="0"/>
                  <a:t>我们得到了一个一阶，线性，时不变的系统。如何计算它对输入的响应？</a:t>
                </a:r>
                <a:endParaRPr lang="en-US" altLang="zh-CN" dirty="0"/>
              </a:p>
              <a:p>
                <a:pPr marL="0" indent="0">
                  <a:buNone/>
                </a:pPr>
                <a:r>
                  <a:rPr lang="zh-CN" altLang="en-US" dirty="0"/>
                  <a:t>由于系统的线性和时不变性，可以把一段时间内的转矩输入看成许多不同时刻的极短小转矩脉冲之和，每个冲激都对应一个响应，再将它们按时刻叠加起来，就能得到总的响应。</a:t>
                </a:r>
                <a:endParaRPr lang="en-US" altLang="zh-CN" dirty="0"/>
              </a:p>
              <a:p>
                <a:pPr marL="0" indent="0">
                  <a:buNone/>
                </a:pPr>
                <a14:m>
                  <m:oMathPara xmlns:m="http://schemas.openxmlformats.org/officeDocument/2006/math">
                    <m:oMathParaPr>
                      <m:jc m:val="centerGroup"/>
                    </m:oMathParaPr>
                    <m:oMath xmlns:m="http://schemas.openxmlformats.org/officeDocument/2006/math">
                      <m:r>
                        <m:rPr>
                          <m:sty m:val="p"/>
                        </m:rPr>
                        <a:rPr lang="zh-SG" altLang="en-US" i="1" smtClean="0">
                          <a:solidFill>
                            <a:schemeClr val="tx1"/>
                          </a:solidFill>
                          <a:latin typeface="Cambria Math" panose="02040503050406030204" pitchFamily="18" charset="0"/>
                        </a:rPr>
                        <m:t>Δ</m:t>
                      </m:r>
                      <m:r>
                        <a:rPr lang="zh-SG" altLang="en-US" i="1" smtClean="0">
                          <a:solidFill>
                            <a:schemeClr val="tx1"/>
                          </a:solidFill>
                          <a:latin typeface="Cambria Math" panose="02040503050406030204" pitchFamily="18" charset="0"/>
                        </a:rPr>
                        <m:t>𝑤</m:t>
                      </m:r>
                      <m:d>
                        <m:dPr>
                          <m:ctrlPr>
                            <a:rPr lang="zh-SG" altLang="en-US" i="1" smtClean="0">
                              <a:solidFill>
                                <a:schemeClr val="tx1"/>
                              </a:solidFill>
                              <a:latin typeface="Cambria Math" panose="02040503050406030204" pitchFamily="18" charset="0"/>
                            </a:rPr>
                          </m:ctrlPr>
                        </m:dPr>
                        <m:e>
                          <m:r>
                            <a:rPr lang="zh-SG" altLang="en-US" i="1" smtClean="0">
                              <a:solidFill>
                                <a:schemeClr val="tx1"/>
                              </a:solidFill>
                              <a:latin typeface="Cambria Math" panose="02040503050406030204" pitchFamily="18" charset="0"/>
                            </a:rPr>
                            <m:t>𝑡</m:t>
                          </m:r>
                        </m:e>
                      </m:d>
                      <m:r>
                        <a:rPr lang="zh-SG" altLang="en-US" i="1" smtClean="0">
                          <a:solidFill>
                            <a:schemeClr val="tx1"/>
                          </a:solidFill>
                          <a:latin typeface="Cambria Math" panose="02040503050406030204" pitchFamily="18" charset="0"/>
                        </a:rPr>
                        <m:t>=</m:t>
                      </m:r>
                      <m:nary>
                        <m:naryPr>
                          <m:ctrlPr>
                            <a:rPr lang="zh-SG" altLang="en-US" i="1" smtClean="0">
                              <a:solidFill>
                                <a:schemeClr val="tx1"/>
                              </a:solidFill>
                              <a:latin typeface="Cambria Math" panose="02040503050406030204" pitchFamily="18" charset="0"/>
                            </a:rPr>
                          </m:ctrlPr>
                        </m:naryPr>
                        <m:sub>
                          <m:r>
                            <m:rPr>
                              <m:brk m:alnAt="23"/>
                            </m:rPr>
                            <a:rPr lang="en-US" altLang="zh-SG" b="0" i="1" smtClean="0">
                              <a:solidFill>
                                <a:schemeClr val="tx1"/>
                              </a:solidFill>
                              <a:latin typeface="Cambria Math" panose="02040503050406030204" pitchFamily="18" charset="0"/>
                            </a:rPr>
                            <m:t>0</m:t>
                          </m:r>
                        </m:sub>
                        <m:sup>
                          <m:r>
                            <m:rPr>
                              <m:sty m:val="p"/>
                            </m:rPr>
                            <a:rPr lang="en-US" altLang="zh-CN" i="1">
                              <a:solidFill>
                                <a:schemeClr val="tx1"/>
                              </a:solidFill>
                              <a:latin typeface="Cambria Math" panose="02040503050406030204" pitchFamily="18" charset="0"/>
                            </a:rPr>
                            <m:t>t</m:t>
                          </m:r>
                        </m:sup>
                        <m:e>
                          <m:r>
                            <a:rPr lang="en-US" altLang="zh-SG" b="0" i="1" smtClean="0">
                              <a:solidFill>
                                <a:schemeClr val="tx1"/>
                              </a:solidFill>
                              <a:latin typeface="Cambria Math" panose="02040503050406030204" pitchFamily="18" charset="0"/>
                            </a:rPr>
                            <m:t>h</m:t>
                          </m:r>
                          <m:d>
                            <m:dPr>
                              <m:ctrlPr>
                                <a:rPr lang="en-US" altLang="zh-SG" b="0" i="1" smtClean="0">
                                  <a:solidFill>
                                    <a:schemeClr val="tx1"/>
                                  </a:solidFill>
                                  <a:latin typeface="Cambria Math" panose="02040503050406030204" pitchFamily="18" charset="0"/>
                                </a:rPr>
                              </m:ctrlPr>
                            </m:dPr>
                            <m:e>
                              <m:r>
                                <a:rPr lang="en-US" altLang="zh-SG" b="0" i="1" smtClean="0">
                                  <a:solidFill>
                                    <a:schemeClr val="tx1"/>
                                  </a:solidFill>
                                  <a:latin typeface="Cambria Math" panose="02040503050406030204" pitchFamily="18" charset="0"/>
                                </a:rPr>
                                <m:t>𝑡</m:t>
                              </m:r>
                              <m:r>
                                <a:rPr lang="en-US" altLang="zh-SG" b="0" i="1" smtClean="0">
                                  <a:solidFill>
                                    <a:schemeClr val="tx1"/>
                                  </a:solidFill>
                                  <a:latin typeface="Cambria Math" panose="02040503050406030204" pitchFamily="18" charset="0"/>
                                </a:rPr>
                                <m:t>−</m:t>
                              </m:r>
                              <m:r>
                                <a:rPr lang="en-US" altLang="zh-SG" b="0" i="1" smtClean="0">
                                  <a:solidFill>
                                    <a:schemeClr val="tx1"/>
                                  </a:solidFill>
                                  <a:latin typeface="Cambria Math" panose="02040503050406030204" pitchFamily="18" charset="0"/>
                                </a:rPr>
                                <m:t>𝜉</m:t>
                              </m:r>
                            </m:e>
                          </m:d>
                          <m:r>
                            <m:rPr>
                              <m:sty m:val="p"/>
                            </m:rPr>
                            <a:rPr lang="en-US" altLang="zh-SG" i="1" smtClean="0">
                              <a:solidFill>
                                <a:schemeClr val="tx1"/>
                              </a:solidFill>
                              <a:latin typeface="Cambria Math" panose="02040503050406030204" pitchFamily="18" charset="0"/>
                            </a:rPr>
                            <m:t>Δ</m:t>
                          </m:r>
                          <m:r>
                            <a:rPr lang="en-US" altLang="zh-SG" i="1" smtClean="0">
                              <a:solidFill>
                                <a:schemeClr val="tx1"/>
                              </a:solidFill>
                              <a:latin typeface="Cambria Math" panose="02040503050406030204" pitchFamily="18" charset="0"/>
                            </a:rPr>
                            <m:t>𝜏</m:t>
                          </m:r>
                          <m:d>
                            <m:dPr>
                              <m:ctrlPr>
                                <a:rPr lang="en-US" altLang="zh-SG" b="0" i="1" smtClean="0">
                                  <a:solidFill>
                                    <a:schemeClr val="tx1"/>
                                  </a:solidFill>
                                  <a:latin typeface="Cambria Math" panose="02040503050406030204" pitchFamily="18" charset="0"/>
                                </a:rPr>
                              </m:ctrlPr>
                            </m:dPr>
                            <m:e>
                              <m:r>
                                <a:rPr lang="en-US" altLang="zh-SG" b="0" i="1" smtClean="0">
                                  <a:solidFill>
                                    <a:schemeClr val="tx1"/>
                                  </a:solidFill>
                                  <a:latin typeface="Cambria Math" panose="02040503050406030204" pitchFamily="18" charset="0"/>
                                </a:rPr>
                                <m:t>𝜉</m:t>
                              </m:r>
                            </m:e>
                          </m:d>
                          <m:r>
                            <a:rPr lang="en-US" altLang="zh-SG" b="0" i="1" smtClean="0">
                              <a:solidFill>
                                <a:schemeClr val="tx1"/>
                              </a:solidFill>
                              <a:latin typeface="Cambria Math" panose="02040503050406030204" pitchFamily="18" charset="0"/>
                            </a:rPr>
                            <m:t>𝑑</m:t>
                          </m:r>
                          <m:r>
                            <a:rPr lang="en-US" altLang="zh-SG" b="0" i="1" smtClean="0">
                              <a:solidFill>
                                <a:schemeClr val="tx1"/>
                              </a:solidFill>
                              <a:latin typeface="Cambria Math" panose="02040503050406030204" pitchFamily="18" charset="0"/>
                            </a:rPr>
                            <m:t>𝜉</m:t>
                          </m:r>
                        </m:e>
                      </m:nary>
                    </m:oMath>
                  </m:oMathPara>
                </a14:m>
                <a:endParaRPr lang="en-US" altLang="zh-SG" dirty="0">
                  <a:solidFill>
                    <a:schemeClr val="tx1"/>
                  </a:solidFill>
                </a:endParaRPr>
              </a:p>
              <a:p>
                <a:pPr marL="0" indent="0">
                  <a:buNone/>
                </a:pPr>
                <a:r>
                  <a:rPr lang="zh-CN" altLang="en-US" dirty="0"/>
                  <a:t>这个形式叫</a:t>
                </a:r>
                <a:r>
                  <a:rPr lang="zh-CN" altLang="en-US" dirty="0">
                    <a:solidFill>
                      <a:schemeClr val="tx1"/>
                    </a:solidFill>
                  </a:rPr>
                  <a:t>卷积。它能帮我们把输入拆开，得到对应响应再叠加。</a:t>
                </a:r>
                <a:endParaRPr lang="zh-SG" altLang="en-US" dirty="0">
                  <a:solidFill>
                    <a:schemeClr val="tx1"/>
                  </a:solidFill>
                </a:endParaRPr>
              </a:p>
            </p:txBody>
          </p:sp>
        </mc:Choice>
        <mc:Fallback xmlns="">
          <p:sp>
            <p:nvSpPr>
              <p:cNvPr id="3" name="内容占位符 2">
                <a:extLst>
                  <a:ext uri="{FF2B5EF4-FFF2-40B4-BE49-F238E27FC236}">
                    <a16:creationId xmlns:a16="http://schemas.microsoft.com/office/drawing/2014/main" id="{2C035C41-C2FB-60FE-A002-DD51B4D2759A}"/>
                  </a:ext>
                </a:extLst>
              </p:cNvPr>
              <p:cNvSpPr>
                <a:spLocks noGrp="1" noRot="1" noChangeAspect="1" noMove="1" noResize="1" noEditPoints="1" noAdjustHandles="1" noChangeArrowheads="1" noChangeShapeType="1" noTextEdit="1"/>
              </p:cNvSpPr>
              <p:nvPr>
                <p:ph idx="1"/>
              </p:nvPr>
            </p:nvSpPr>
            <p:spPr>
              <a:blipFill>
                <a:blip r:embed="rId2"/>
                <a:stretch>
                  <a:fillRect l="-1217" t="-2521" r="-696"/>
                </a:stretch>
              </a:blipFill>
            </p:spPr>
            <p:txBody>
              <a:bodyPr/>
              <a:lstStyle/>
              <a:p>
                <a:r>
                  <a:rPr lang="zh-SG" altLang="en-US">
                    <a:noFill/>
                  </a:rPr>
                  <a:t> </a:t>
                </a:r>
              </a:p>
            </p:txBody>
          </p:sp>
        </mc:Fallback>
      </mc:AlternateContent>
    </p:spTree>
    <p:extLst>
      <p:ext uri="{BB962C8B-B14F-4D97-AF65-F5344CB8AC3E}">
        <p14:creationId xmlns:p14="http://schemas.microsoft.com/office/powerpoint/2010/main" val="4419097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000339-1B04-FF3E-31B6-F059B0CF40B1}"/>
              </a:ext>
            </a:extLst>
          </p:cNvPr>
          <p:cNvSpPr>
            <a:spLocks noGrp="1"/>
          </p:cNvSpPr>
          <p:nvPr>
            <p:ph type="title"/>
          </p:nvPr>
        </p:nvSpPr>
        <p:spPr/>
        <p:txBody>
          <a:bodyPr/>
          <a:lstStyle/>
          <a:p>
            <a:r>
              <a:rPr lang="zh-CN" altLang="en-US" dirty="0"/>
              <a:t>微积分算起来太复杂，能不能少一些？</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83F8F1EB-0D8B-9C09-1EB9-6039E5EB1715}"/>
                  </a:ext>
                </a:extLst>
              </p:cNvPr>
              <p:cNvSpPr>
                <a:spLocks noGrp="1"/>
              </p:cNvSpPr>
              <p:nvPr>
                <p:ph idx="1"/>
              </p:nvPr>
            </p:nvSpPr>
            <p:spPr>
              <a:xfrm>
                <a:off x="838200" y="1825624"/>
                <a:ext cx="10515600" cy="5032375"/>
              </a:xfrm>
            </p:spPr>
            <p:txBody>
              <a:bodyPr/>
              <a:lstStyle/>
              <a:p>
                <a:pPr marL="0" indent="0">
                  <a:buNone/>
                </a:pPr>
                <a:r>
                  <a:rPr lang="zh-CN" altLang="en-US" dirty="0"/>
                  <a:t>能不能避免对时间进行复杂的微积分运算，先转化为一种能够通过简单的代数运算处理的形式，处理完之后再转换回去？</a:t>
                </a:r>
                <a:endParaRPr lang="en-US" altLang="zh-CN" dirty="0"/>
              </a:p>
              <a:p>
                <a:pPr marL="0" indent="0">
                  <a:buNone/>
                </a:pPr>
                <a:r>
                  <a:rPr lang="zh-CN" altLang="en-US" dirty="0"/>
                  <a:t>数学家们告诉我们可以。有一种工具叫“拉普拉斯变换”，可以将求导和卷积转化为加减乘除的运算，再原模原样地转换回去。</a:t>
                </a:r>
                <a:endParaRPr lang="en-US" altLang="zh-CN" dirty="0"/>
              </a:p>
              <a:p>
                <a:pPr marL="0" indent="0">
                  <a:buNone/>
                </a:pPr>
                <a14:m>
                  <m:oMathPara xmlns:m="http://schemas.openxmlformats.org/officeDocument/2006/math">
                    <m:oMathParaPr>
                      <m:jc m:val="centerGroup"/>
                    </m:oMathParaPr>
                    <m:oMath xmlns:m="http://schemas.openxmlformats.org/officeDocument/2006/math">
                      <m:r>
                        <a:rPr lang="en-US" altLang="zh-CN" i="1" dirty="0">
                          <a:latin typeface="Cambria Math" panose="02040503050406030204" pitchFamily="18" charset="0"/>
                        </a:rPr>
                        <m:t>ℒ</m:t>
                      </m:r>
                      <m:r>
                        <a:rPr lang="en-US" altLang="zh-CN" i="1" dirty="0">
                          <a:latin typeface="Cambria Math" panose="02040503050406030204" pitchFamily="18" charset="0"/>
                        </a:rPr>
                        <m:t> </m:t>
                      </m:r>
                      <m:d>
                        <m:dPr>
                          <m:begChr m:val="{"/>
                          <m:endChr m:val="}"/>
                          <m:ctrlPr>
                            <a:rPr lang="en-US" altLang="zh-CN" b="0" i="1" dirty="0" smtClean="0">
                              <a:solidFill>
                                <a:schemeClr val="tx1"/>
                              </a:solidFill>
                              <a:latin typeface="Cambria Math" panose="02040503050406030204" pitchFamily="18" charset="0"/>
                            </a:rPr>
                          </m:ctrlPr>
                        </m:dPr>
                        <m:e>
                          <m:acc>
                            <m:accPr>
                              <m:chr m:val="̇"/>
                              <m:ctrlPr>
                                <a:rPr lang="en-US" altLang="zh-CN" i="1" dirty="0" smtClean="0">
                                  <a:solidFill>
                                    <a:schemeClr val="tx1"/>
                                  </a:solidFill>
                                  <a:latin typeface="Cambria Math" panose="02040503050406030204" pitchFamily="18" charset="0"/>
                                </a:rPr>
                              </m:ctrlPr>
                            </m:accPr>
                            <m:e>
                              <m:r>
                                <a:rPr lang="en-US" altLang="zh-CN" b="0" i="1" dirty="0" smtClean="0">
                                  <a:solidFill>
                                    <a:schemeClr val="tx1"/>
                                  </a:solidFill>
                                  <a:latin typeface="Cambria Math" panose="02040503050406030204" pitchFamily="18" charset="0"/>
                                </a:rPr>
                                <m:t>𝑓</m:t>
                              </m:r>
                              <m:r>
                                <a:rPr lang="en-US" altLang="zh-CN" b="0" i="1" dirty="0" smtClean="0">
                                  <a:solidFill>
                                    <a:schemeClr val="tx1"/>
                                  </a:solidFill>
                                  <a:latin typeface="Cambria Math" panose="02040503050406030204" pitchFamily="18" charset="0"/>
                                </a:rPr>
                                <m:t>(</m:t>
                              </m:r>
                              <m:r>
                                <a:rPr lang="en-US" altLang="zh-CN" b="0" i="1" dirty="0" smtClean="0">
                                  <a:solidFill>
                                    <a:schemeClr val="tx1"/>
                                  </a:solidFill>
                                  <a:latin typeface="Cambria Math" panose="02040503050406030204" pitchFamily="18" charset="0"/>
                                </a:rPr>
                                <m:t>𝑡</m:t>
                              </m:r>
                              <m:r>
                                <a:rPr lang="en-US" altLang="zh-CN" b="0" i="1" dirty="0" smtClean="0">
                                  <a:solidFill>
                                    <a:schemeClr val="tx1"/>
                                  </a:solidFill>
                                  <a:latin typeface="Cambria Math" panose="02040503050406030204" pitchFamily="18" charset="0"/>
                                </a:rPr>
                                <m:t>)</m:t>
                              </m:r>
                            </m:e>
                          </m:acc>
                        </m:e>
                      </m:d>
                      <m:r>
                        <a:rPr lang="en-US" altLang="zh-CN" b="0" i="0" dirty="0" smtClean="0">
                          <a:solidFill>
                            <a:schemeClr val="tx1"/>
                          </a:solidFill>
                          <a:latin typeface="Cambria Math" panose="02040503050406030204" pitchFamily="18" charset="0"/>
                        </a:rPr>
                        <m:t>=</m:t>
                      </m:r>
                      <m:r>
                        <m:rPr>
                          <m:sty m:val="p"/>
                        </m:rPr>
                        <a:rPr lang="en-US" altLang="zh-CN" b="0" i="0" dirty="0" smtClean="0">
                          <a:solidFill>
                            <a:schemeClr val="tx1"/>
                          </a:solidFill>
                          <a:latin typeface="Cambria Math" panose="02040503050406030204" pitchFamily="18" charset="0"/>
                        </a:rPr>
                        <m:t>s</m:t>
                      </m:r>
                      <m:r>
                        <a:rPr lang="en-US" altLang="zh-CN" i="1" dirty="0">
                          <a:latin typeface="Cambria Math" panose="02040503050406030204" pitchFamily="18" charset="0"/>
                        </a:rPr>
                        <m:t>ℒ</m:t>
                      </m:r>
                      <m:d>
                        <m:dPr>
                          <m:begChr m:val="{"/>
                          <m:endChr m:val="}"/>
                          <m:ctrlPr>
                            <a:rPr lang="en-US" altLang="zh-CN" b="0" i="1" dirty="0" smtClean="0">
                              <a:latin typeface="Cambria Math" panose="02040503050406030204" pitchFamily="18" charset="0"/>
                            </a:rPr>
                          </m:ctrlPr>
                        </m:dPr>
                        <m:e>
                          <m:r>
                            <a:rPr lang="en-US" altLang="zh-CN" b="0" i="1" dirty="0" smtClean="0">
                              <a:latin typeface="Cambria Math" panose="02040503050406030204" pitchFamily="18" charset="0"/>
                            </a:rPr>
                            <m:t>𝑓</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𝑡</m:t>
                          </m:r>
                          <m:r>
                            <a:rPr lang="en-US" altLang="zh-CN" b="0" i="1" dirty="0" smtClean="0">
                              <a:latin typeface="Cambria Math" panose="02040503050406030204" pitchFamily="18" charset="0"/>
                            </a:rPr>
                            <m:t>)</m:t>
                          </m:r>
                        </m:e>
                      </m:d>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𝑓</m:t>
                      </m:r>
                      <m:d>
                        <m:dPr>
                          <m:ctrlPr>
                            <a:rPr lang="en-US" altLang="zh-CN" b="0" i="1" dirty="0" smtClean="0">
                              <a:latin typeface="Cambria Math" panose="02040503050406030204" pitchFamily="18" charset="0"/>
                            </a:rPr>
                          </m:ctrlPr>
                        </m:dPr>
                        <m:e>
                          <m:r>
                            <a:rPr lang="en-US" altLang="zh-CN" b="0" i="1" dirty="0" smtClean="0">
                              <a:latin typeface="Cambria Math" panose="02040503050406030204" pitchFamily="18" charset="0"/>
                            </a:rPr>
                            <m:t>0</m:t>
                          </m:r>
                        </m:e>
                      </m:d>
                    </m:oMath>
                  </m:oMathPara>
                </a14:m>
                <a:endParaRPr lang="en-US" altLang="zh-CN" b="0" dirty="0"/>
              </a:p>
              <a:p>
                <a:pPr marL="0" indent="0">
                  <a:buNone/>
                </a:pPr>
                <a:endParaRPr lang="en-US" altLang="zh-CN" sz="800" b="0" dirty="0"/>
              </a:p>
              <a:p>
                <a:pPr marL="0" indent="0">
                  <a:buNone/>
                </a:pPr>
                <a14:m>
                  <m:oMathPara xmlns:m="http://schemas.openxmlformats.org/officeDocument/2006/math">
                    <m:oMathParaPr>
                      <m:jc m:val="centerGroup"/>
                    </m:oMathParaPr>
                    <m:oMath xmlns:m="http://schemas.openxmlformats.org/officeDocument/2006/math">
                      <m:r>
                        <a:rPr lang="en-US" altLang="zh-CN" i="1" dirty="0" smtClean="0">
                          <a:latin typeface="Cambria Math" panose="02040503050406030204" pitchFamily="18" charset="0"/>
                        </a:rPr>
                        <m:t>ℒ</m:t>
                      </m:r>
                      <m:r>
                        <a:rPr lang="en-US" altLang="zh-CN" i="1" dirty="0" smtClean="0">
                          <a:latin typeface="Cambria Math" panose="02040503050406030204" pitchFamily="18" charset="0"/>
                        </a:rPr>
                        <m:t> </m:t>
                      </m:r>
                      <m:d>
                        <m:dPr>
                          <m:begChr m:val="{"/>
                          <m:endChr m:val="}"/>
                          <m:ctrlPr>
                            <a:rPr lang="en-US" altLang="zh-CN" b="0" i="1" dirty="0" smtClean="0">
                              <a:solidFill>
                                <a:schemeClr val="tx1"/>
                              </a:solidFill>
                              <a:latin typeface="Cambria Math" panose="02040503050406030204" pitchFamily="18" charset="0"/>
                            </a:rPr>
                          </m:ctrlPr>
                        </m:dPr>
                        <m:e>
                          <m:nary>
                            <m:naryPr>
                              <m:ctrlPr>
                                <a:rPr lang="en-US" altLang="zh-CN" b="0" i="1" dirty="0" smtClean="0">
                                  <a:solidFill>
                                    <a:schemeClr val="tx1"/>
                                  </a:solidFill>
                                  <a:latin typeface="Cambria Math" panose="02040503050406030204" pitchFamily="18" charset="0"/>
                                </a:rPr>
                              </m:ctrlPr>
                            </m:naryPr>
                            <m:sub>
                              <m:r>
                                <m:rPr>
                                  <m:brk m:alnAt="23"/>
                                </m:rPr>
                                <a:rPr lang="en-US" altLang="zh-CN" b="0" i="1" dirty="0" smtClean="0">
                                  <a:solidFill>
                                    <a:schemeClr val="tx1"/>
                                  </a:solidFill>
                                  <a:latin typeface="Cambria Math" panose="02040503050406030204" pitchFamily="18" charset="0"/>
                                </a:rPr>
                                <m:t>0</m:t>
                              </m:r>
                            </m:sub>
                            <m:sup>
                              <m:r>
                                <a:rPr lang="en-US" altLang="zh-CN" b="0" i="1" dirty="0" smtClean="0">
                                  <a:solidFill>
                                    <a:schemeClr val="tx1"/>
                                  </a:solidFill>
                                  <a:latin typeface="Cambria Math" panose="02040503050406030204" pitchFamily="18" charset="0"/>
                                </a:rPr>
                                <m:t>𝑡</m:t>
                              </m:r>
                            </m:sup>
                            <m:e>
                              <m:r>
                                <a:rPr lang="en-US" altLang="zh-CN" b="0" i="1" dirty="0" smtClean="0">
                                  <a:solidFill>
                                    <a:schemeClr val="tx1"/>
                                  </a:solidFill>
                                  <a:latin typeface="Cambria Math" panose="02040503050406030204" pitchFamily="18" charset="0"/>
                                </a:rPr>
                                <m:t>𝑓</m:t>
                              </m:r>
                              <m:d>
                                <m:dPr>
                                  <m:ctrlPr>
                                    <a:rPr lang="en-US" altLang="zh-CN" b="0" i="1" dirty="0" smtClean="0">
                                      <a:solidFill>
                                        <a:schemeClr val="tx1"/>
                                      </a:solidFill>
                                      <a:latin typeface="Cambria Math" panose="02040503050406030204" pitchFamily="18" charset="0"/>
                                    </a:rPr>
                                  </m:ctrlPr>
                                </m:dPr>
                                <m:e>
                                  <m:r>
                                    <a:rPr lang="en-US" altLang="zh-CN" b="0" i="1" dirty="0" smtClean="0">
                                      <a:solidFill>
                                        <a:schemeClr val="tx1"/>
                                      </a:solidFill>
                                      <a:latin typeface="Cambria Math" panose="02040503050406030204" pitchFamily="18" charset="0"/>
                                    </a:rPr>
                                    <m:t>𝑥</m:t>
                                  </m:r>
                                </m:e>
                              </m:d>
                              <m:r>
                                <a:rPr lang="en-US" altLang="zh-CN" b="0" i="1" dirty="0" smtClean="0">
                                  <a:solidFill>
                                    <a:schemeClr val="tx1"/>
                                  </a:solidFill>
                                  <a:latin typeface="Cambria Math" panose="02040503050406030204" pitchFamily="18" charset="0"/>
                                </a:rPr>
                                <m:t>𝑑𝑥</m:t>
                              </m:r>
                            </m:e>
                          </m:nary>
                        </m:e>
                      </m:d>
                      <m:r>
                        <a:rPr lang="en-US" altLang="zh-CN" b="0" i="0" dirty="0" smtClean="0">
                          <a:solidFill>
                            <a:schemeClr val="tx1"/>
                          </a:solidFill>
                          <a:latin typeface="Cambria Math" panose="02040503050406030204" pitchFamily="18" charset="0"/>
                        </a:rPr>
                        <m:t>=</m:t>
                      </m:r>
                      <m:f>
                        <m:fPr>
                          <m:ctrlPr>
                            <a:rPr lang="en-US" altLang="zh-CN" b="0" i="1" dirty="0" smtClean="0">
                              <a:solidFill>
                                <a:schemeClr val="tx1"/>
                              </a:solidFill>
                              <a:latin typeface="Cambria Math" panose="02040503050406030204" pitchFamily="18" charset="0"/>
                            </a:rPr>
                          </m:ctrlPr>
                        </m:fPr>
                        <m:num>
                          <m:r>
                            <a:rPr lang="en-US" altLang="zh-CN" i="1" dirty="0">
                              <a:latin typeface="Cambria Math" panose="02040503050406030204" pitchFamily="18" charset="0"/>
                            </a:rPr>
                            <m:t>ℒ</m:t>
                          </m:r>
                          <m:d>
                            <m:dPr>
                              <m:begChr m:val="{"/>
                              <m:endChr m:val="}"/>
                              <m:ctrlPr>
                                <a:rPr lang="en-US" altLang="zh-CN" i="1" dirty="0">
                                  <a:latin typeface="Cambria Math" panose="02040503050406030204" pitchFamily="18" charset="0"/>
                                </a:rPr>
                              </m:ctrlPr>
                            </m:dPr>
                            <m:e>
                              <m:r>
                                <a:rPr lang="en-US" altLang="zh-CN" i="1" dirty="0">
                                  <a:latin typeface="Cambria Math" panose="02040503050406030204" pitchFamily="18" charset="0"/>
                                </a:rPr>
                                <m:t>𝑓</m:t>
                              </m:r>
                              <m:r>
                                <a:rPr lang="en-US" altLang="zh-CN" i="1" dirty="0">
                                  <a:latin typeface="Cambria Math" panose="02040503050406030204" pitchFamily="18" charset="0"/>
                                </a:rPr>
                                <m:t>(</m:t>
                              </m:r>
                              <m:r>
                                <a:rPr lang="en-US" altLang="zh-CN" i="1" dirty="0">
                                  <a:latin typeface="Cambria Math" panose="02040503050406030204" pitchFamily="18" charset="0"/>
                                </a:rPr>
                                <m:t>𝑡</m:t>
                              </m:r>
                              <m:r>
                                <a:rPr lang="en-US" altLang="zh-CN" i="1" dirty="0">
                                  <a:latin typeface="Cambria Math" panose="02040503050406030204" pitchFamily="18" charset="0"/>
                                </a:rPr>
                                <m:t>)</m:t>
                              </m:r>
                            </m:e>
                          </m:d>
                        </m:num>
                        <m:den>
                          <m:r>
                            <a:rPr lang="en-US" altLang="zh-CN" b="0" i="1" dirty="0" smtClean="0">
                              <a:solidFill>
                                <a:schemeClr val="tx1"/>
                              </a:solidFill>
                              <a:latin typeface="Cambria Math" panose="02040503050406030204" pitchFamily="18" charset="0"/>
                            </a:rPr>
                            <m:t>𝑠</m:t>
                          </m:r>
                        </m:den>
                      </m:f>
                    </m:oMath>
                  </m:oMathPara>
                </a14:m>
                <a:endParaRPr lang="en-US" altLang="zh-CN" b="0" dirty="0"/>
              </a:p>
              <a:p>
                <a:pPr marL="0" indent="0">
                  <a:buNone/>
                </a:pPr>
                <a:endParaRPr lang="en-US" altLang="zh-CN" sz="800" b="0" dirty="0"/>
              </a:p>
              <a:p>
                <a:pPr marL="0" indent="0">
                  <a:buNone/>
                </a:pPr>
                <a14:m>
                  <m:oMathPara xmlns:m="http://schemas.openxmlformats.org/officeDocument/2006/math">
                    <m:oMathParaPr>
                      <m:jc m:val="centerGroup"/>
                    </m:oMathParaPr>
                    <m:oMath xmlns:m="http://schemas.openxmlformats.org/officeDocument/2006/math">
                      <m:r>
                        <a:rPr lang="en-US" altLang="zh-CN" i="1" dirty="0" smtClean="0">
                          <a:latin typeface="Cambria Math" panose="02040503050406030204" pitchFamily="18" charset="0"/>
                        </a:rPr>
                        <m:t>ℒ</m:t>
                      </m:r>
                      <m:d>
                        <m:dPr>
                          <m:begChr m:val="{"/>
                          <m:endChr m:val="}"/>
                          <m:ctrlPr>
                            <a:rPr lang="en-US" altLang="zh-CN" b="0" i="1" dirty="0" smtClean="0">
                              <a:latin typeface="Cambria Math" panose="02040503050406030204" pitchFamily="18" charset="0"/>
                            </a:rPr>
                          </m:ctrlPr>
                        </m:dPr>
                        <m:e>
                          <m:r>
                            <a:rPr lang="en-US" altLang="zh-CN" b="0" i="1" dirty="0" smtClean="0">
                              <a:latin typeface="Cambria Math" panose="02040503050406030204" pitchFamily="18" charset="0"/>
                            </a:rPr>
                            <m:t>𝑓</m:t>
                          </m:r>
                          <m:d>
                            <m:dPr>
                              <m:ctrlPr>
                                <a:rPr lang="en-US" altLang="zh-CN" b="0" i="1" dirty="0" smtClean="0">
                                  <a:latin typeface="Cambria Math" panose="02040503050406030204" pitchFamily="18" charset="0"/>
                                </a:rPr>
                              </m:ctrlPr>
                            </m:dPr>
                            <m:e>
                              <m:r>
                                <a:rPr lang="en-US" altLang="zh-CN" b="0" i="1" dirty="0" smtClean="0">
                                  <a:latin typeface="Cambria Math" panose="02040503050406030204" pitchFamily="18" charset="0"/>
                                </a:rPr>
                                <m:t>𝑡</m:t>
                              </m:r>
                            </m:e>
                          </m:d>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𝑔</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𝑡</m:t>
                          </m:r>
                          <m:r>
                            <a:rPr lang="en-US" altLang="zh-CN" b="0" i="1" dirty="0" smtClean="0">
                              <a:latin typeface="Cambria Math" panose="02040503050406030204" pitchFamily="18" charset="0"/>
                            </a:rPr>
                            <m:t>)</m:t>
                          </m:r>
                        </m:e>
                      </m:d>
                      <m:r>
                        <a:rPr lang="en-US" altLang="zh-CN" b="0" i="1" dirty="0" smtClean="0">
                          <a:latin typeface="Cambria Math" panose="02040503050406030204" pitchFamily="18" charset="0"/>
                        </a:rPr>
                        <m:t>=</m:t>
                      </m:r>
                      <m:r>
                        <a:rPr lang="en-US" altLang="zh-CN" i="1" dirty="0">
                          <a:latin typeface="Cambria Math" panose="02040503050406030204" pitchFamily="18" charset="0"/>
                        </a:rPr>
                        <m:t>ℒ</m:t>
                      </m:r>
                      <m:d>
                        <m:dPr>
                          <m:begChr m:val="{"/>
                          <m:endChr m:val="}"/>
                          <m:ctrlPr>
                            <a:rPr lang="en-US" altLang="zh-CN" i="1" dirty="0">
                              <a:latin typeface="Cambria Math" panose="02040503050406030204" pitchFamily="18" charset="0"/>
                            </a:rPr>
                          </m:ctrlPr>
                        </m:dPr>
                        <m:e>
                          <m:r>
                            <a:rPr lang="en-US" altLang="zh-CN" i="1" dirty="0">
                              <a:latin typeface="Cambria Math" panose="02040503050406030204" pitchFamily="18" charset="0"/>
                            </a:rPr>
                            <m:t>𝑓</m:t>
                          </m:r>
                          <m:r>
                            <a:rPr lang="en-US" altLang="zh-CN" i="1" dirty="0">
                              <a:latin typeface="Cambria Math" panose="02040503050406030204" pitchFamily="18" charset="0"/>
                            </a:rPr>
                            <m:t>(</m:t>
                          </m:r>
                          <m:r>
                            <a:rPr lang="en-US" altLang="zh-CN" i="1" dirty="0">
                              <a:latin typeface="Cambria Math" panose="02040503050406030204" pitchFamily="18" charset="0"/>
                            </a:rPr>
                            <m:t>𝑡</m:t>
                          </m:r>
                          <m:r>
                            <a:rPr lang="en-US" altLang="zh-CN" i="1" dirty="0">
                              <a:latin typeface="Cambria Math" panose="02040503050406030204" pitchFamily="18" charset="0"/>
                            </a:rPr>
                            <m:t>)</m:t>
                          </m:r>
                        </m:e>
                      </m:d>
                      <m:r>
                        <a:rPr lang="en-US" altLang="zh-CN" i="1" dirty="0">
                          <a:latin typeface="Cambria Math" panose="02040503050406030204" pitchFamily="18" charset="0"/>
                        </a:rPr>
                        <m:t>ℒ</m:t>
                      </m:r>
                      <m:d>
                        <m:dPr>
                          <m:begChr m:val="{"/>
                          <m:endChr m:val="}"/>
                          <m:ctrlPr>
                            <a:rPr lang="en-US" altLang="zh-CN" i="1" dirty="0">
                              <a:latin typeface="Cambria Math" panose="02040503050406030204" pitchFamily="18" charset="0"/>
                            </a:rPr>
                          </m:ctrlPr>
                        </m:dPr>
                        <m:e>
                          <m:r>
                            <a:rPr lang="en-US" altLang="zh-CN" b="0" i="1" dirty="0" smtClean="0">
                              <a:latin typeface="Cambria Math" panose="02040503050406030204" pitchFamily="18" charset="0"/>
                            </a:rPr>
                            <m:t>𝑔</m:t>
                          </m:r>
                          <m:r>
                            <a:rPr lang="en-US" altLang="zh-CN" i="1" dirty="0">
                              <a:latin typeface="Cambria Math" panose="02040503050406030204" pitchFamily="18" charset="0"/>
                            </a:rPr>
                            <m:t>(</m:t>
                          </m:r>
                          <m:r>
                            <a:rPr lang="en-US" altLang="zh-CN" i="1" dirty="0">
                              <a:latin typeface="Cambria Math" panose="02040503050406030204" pitchFamily="18" charset="0"/>
                            </a:rPr>
                            <m:t>𝑡</m:t>
                          </m:r>
                          <m:r>
                            <a:rPr lang="en-US" altLang="zh-CN" i="1" dirty="0">
                              <a:latin typeface="Cambria Math" panose="02040503050406030204" pitchFamily="18" charset="0"/>
                            </a:rPr>
                            <m:t>)</m:t>
                          </m:r>
                        </m:e>
                      </m:d>
                    </m:oMath>
                  </m:oMathPara>
                </a14:m>
                <a:endParaRPr lang="en-US" altLang="zh-CN" b="0" dirty="0"/>
              </a:p>
            </p:txBody>
          </p:sp>
        </mc:Choice>
        <mc:Fallback xmlns="">
          <p:sp>
            <p:nvSpPr>
              <p:cNvPr id="3" name="内容占位符 2">
                <a:extLst>
                  <a:ext uri="{FF2B5EF4-FFF2-40B4-BE49-F238E27FC236}">
                    <a16:creationId xmlns:a16="http://schemas.microsoft.com/office/drawing/2014/main" id="{83F8F1EB-0D8B-9C09-1EB9-6039E5EB171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2179" r="-696"/>
                </a:stretch>
              </a:blipFill>
            </p:spPr>
            <p:txBody>
              <a:bodyPr/>
              <a:lstStyle/>
              <a:p>
                <a:r>
                  <a:rPr lang="zh-SG" altLang="en-US">
                    <a:noFill/>
                  </a:rPr>
                  <a:t> </a:t>
                </a:r>
              </a:p>
            </p:txBody>
          </p:sp>
        </mc:Fallback>
      </mc:AlternateContent>
    </p:spTree>
    <p:extLst>
      <p:ext uri="{BB962C8B-B14F-4D97-AF65-F5344CB8AC3E}">
        <p14:creationId xmlns:p14="http://schemas.microsoft.com/office/powerpoint/2010/main" val="35148530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CBA37F-BC5A-E814-8652-AC322E5F67D1}"/>
              </a:ext>
            </a:extLst>
          </p:cNvPr>
          <p:cNvSpPr>
            <a:spLocks noGrp="1"/>
          </p:cNvSpPr>
          <p:nvPr>
            <p:ph type="title"/>
          </p:nvPr>
        </p:nvSpPr>
        <p:spPr/>
        <p:txBody>
          <a:bodyPr/>
          <a:lstStyle/>
          <a:p>
            <a:r>
              <a:rPr lang="zh-CN" altLang="en-US" dirty="0"/>
              <a:t>借助拉普拉斯变换简化对系统的描述</a:t>
            </a:r>
            <a:endParaRPr lang="zh-SG" altLang="en-US" dirty="0"/>
          </a:p>
        </p:txBody>
      </p:sp>
      <p:sp>
        <p:nvSpPr>
          <p:cNvPr id="3" name="内容占位符 2">
            <a:extLst>
              <a:ext uri="{FF2B5EF4-FFF2-40B4-BE49-F238E27FC236}">
                <a16:creationId xmlns:a16="http://schemas.microsoft.com/office/drawing/2014/main" id="{957E90AC-037B-8DC6-8965-478DAB0E1DBA}"/>
              </a:ext>
            </a:extLst>
          </p:cNvPr>
          <p:cNvSpPr>
            <a:spLocks noGrp="1"/>
          </p:cNvSpPr>
          <p:nvPr>
            <p:ph idx="1"/>
          </p:nvPr>
        </p:nvSpPr>
        <p:spPr/>
        <p:txBody>
          <a:bodyPr/>
          <a:lstStyle/>
          <a:p>
            <a:r>
              <a:rPr lang="zh-CN" altLang="en-US" dirty="0"/>
              <a:t>对微分方程两边作拉氏变换，得到变化后的输入和输出</a:t>
            </a:r>
            <a:r>
              <a:rPr lang="en-US" altLang="zh-CN" dirty="0"/>
              <a:t>U(s)</a:t>
            </a:r>
            <a:r>
              <a:rPr lang="zh-CN" altLang="en-US" dirty="0"/>
              <a:t>和</a:t>
            </a:r>
            <a:r>
              <a:rPr lang="en-US" altLang="zh-CN" dirty="0"/>
              <a:t>Y(s)</a:t>
            </a:r>
          </a:p>
          <a:p>
            <a:r>
              <a:rPr lang="zh-CN" altLang="en-US" dirty="0"/>
              <a:t>将输出的拉氏变换除以输入的拉氏变换，得到的结果</a:t>
            </a:r>
            <a:r>
              <a:rPr lang="en-US" altLang="zh-CN" dirty="0"/>
              <a:t>G(s)</a:t>
            </a:r>
            <a:r>
              <a:rPr lang="zh-CN" altLang="en-US" dirty="0"/>
              <a:t>叫系统的传递函数。</a:t>
            </a:r>
            <a:endParaRPr lang="en-US" altLang="zh-CN" dirty="0"/>
          </a:p>
          <a:p>
            <a:r>
              <a:rPr lang="zh-CN" altLang="en-US" dirty="0"/>
              <a:t>对任意输入作拉氏变换，乘以系统函数，得到输出的拉氏变换</a:t>
            </a:r>
            <a:endParaRPr lang="en-US" altLang="zh-CN" dirty="0"/>
          </a:p>
          <a:p>
            <a:r>
              <a:rPr lang="zh-CN" altLang="en-US" dirty="0"/>
              <a:t>再逆变换回去，就能得到系统的响应。</a:t>
            </a:r>
            <a:endParaRPr lang="en-US" altLang="zh-CN" dirty="0"/>
          </a:p>
        </p:txBody>
      </p:sp>
    </p:spTree>
    <p:extLst>
      <p:ext uri="{BB962C8B-B14F-4D97-AF65-F5344CB8AC3E}">
        <p14:creationId xmlns:p14="http://schemas.microsoft.com/office/powerpoint/2010/main" val="22818021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DADF88-CDDD-C9CB-99D3-F244B8F4EE1B}"/>
              </a:ext>
            </a:extLst>
          </p:cNvPr>
          <p:cNvSpPr>
            <a:spLocks noGrp="1"/>
          </p:cNvSpPr>
          <p:nvPr>
            <p:ph type="title"/>
          </p:nvPr>
        </p:nvSpPr>
        <p:spPr>
          <a:xfrm>
            <a:off x="838200" y="0"/>
            <a:ext cx="10515600" cy="1325563"/>
          </a:xfrm>
        </p:spPr>
        <p:txBody>
          <a:bodyPr/>
          <a:lstStyle/>
          <a:p>
            <a:r>
              <a:rPr lang="zh-CN" altLang="en-US" dirty="0"/>
              <a:t>从微分方程到传递函数</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6CEA0F66-5455-C9CC-A254-295C56799759}"/>
                  </a:ext>
                </a:extLst>
              </p:cNvPr>
              <p:cNvSpPr>
                <a:spLocks noGrp="1"/>
              </p:cNvSpPr>
              <p:nvPr>
                <p:ph idx="1"/>
              </p:nvPr>
            </p:nvSpPr>
            <p:spPr>
              <a:xfrm>
                <a:off x="838200" y="1325562"/>
                <a:ext cx="10515600" cy="5532437"/>
              </a:xfrm>
            </p:spPr>
            <p:txBody>
              <a:bodyPr/>
              <a:lstStyle/>
              <a:p>
                <a:r>
                  <a:rPr lang="zh-CN" altLang="en-US" dirty="0">
                    <a:solidFill>
                      <a:schemeClr val="tx1"/>
                    </a:solidFill>
                  </a:rPr>
                  <a:t>已知微分方程</a:t>
                </a:r>
                <a14:m>
                  <m:oMath xmlns:m="http://schemas.openxmlformats.org/officeDocument/2006/math">
                    <m:r>
                      <a:rPr lang="en-US" altLang="zh-CN" i="1" dirty="0" smtClean="0">
                        <a:solidFill>
                          <a:schemeClr val="tx1"/>
                        </a:solidFill>
                        <a:latin typeface="Cambria Math" panose="02040503050406030204" pitchFamily="18" charset="0"/>
                      </a:rPr>
                      <m:t>𝐽</m:t>
                    </m:r>
                    <m:acc>
                      <m:accPr>
                        <m:chr m:val="̇"/>
                        <m:ctrlPr>
                          <a:rPr lang="en-US" altLang="zh-CN" i="1" dirty="0" smtClean="0">
                            <a:solidFill>
                              <a:schemeClr val="tx1"/>
                            </a:solidFill>
                            <a:latin typeface="Cambria Math" panose="02040503050406030204" pitchFamily="18" charset="0"/>
                          </a:rPr>
                        </m:ctrlPr>
                      </m:accPr>
                      <m:e>
                        <m:r>
                          <m:rPr>
                            <m:sty m:val="p"/>
                          </m:rPr>
                          <a:rPr lang="en-US" altLang="zh-CN" i="1"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𝜔</m:t>
                        </m:r>
                      </m:e>
                    </m:acc>
                    <m:r>
                      <a:rPr lang="en-US" altLang="zh-CN" i="0" dirty="0" smtClean="0">
                        <a:solidFill>
                          <a:schemeClr val="tx1"/>
                        </a:solidFill>
                        <a:latin typeface="Cambria Math" panose="02040503050406030204" pitchFamily="18" charset="0"/>
                      </a:rPr>
                      <m:t>+</m:t>
                    </m:r>
                    <m:r>
                      <a:rPr lang="en-US" altLang="zh-CN" i="1" dirty="0" smtClean="0">
                        <a:solidFill>
                          <a:schemeClr val="tx1"/>
                        </a:solidFill>
                        <a:latin typeface="Cambria Math" panose="02040503050406030204" pitchFamily="18" charset="0"/>
                      </a:rPr>
                      <m:t>𝑏</m:t>
                    </m:r>
                    <m:r>
                      <m:rPr>
                        <m:sty m:val="p"/>
                      </m:rPr>
                      <a:rPr lang="en-US" altLang="zh-CN" i="0"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𝜔</m:t>
                    </m:r>
                    <m:r>
                      <a:rPr lang="en-US" altLang="zh-CN" b="0" i="0" dirty="0" smtClean="0">
                        <a:solidFill>
                          <a:schemeClr val="tx1"/>
                        </a:solidFill>
                        <a:latin typeface="Cambria Math" panose="02040503050406030204" pitchFamily="18" charset="0"/>
                      </a:rPr>
                      <m:t>=</m:t>
                    </m:r>
                    <m:r>
                      <m:rPr>
                        <m:sty m:val="p"/>
                      </m:rPr>
                      <a:rPr lang="en-US" altLang="zh-CN" i="0" dirty="0" smtClean="0">
                        <a:solidFill>
                          <a:schemeClr val="tx1"/>
                        </a:solidFill>
                        <a:latin typeface="Cambria Math" panose="02040503050406030204" pitchFamily="18" charset="0"/>
                      </a:rPr>
                      <m:t>Δ</m:t>
                    </m:r>
                    <m:r>
                      <a:rPr lang="en-US" altLang="zh-CN" i="1" dirty="0" smtClean="0">
                        <a:solidFill>
                          <a:schemeClr val="tx1"/>
                        </a:solidFill>
                        <a:latin typeface="Cambria Math" panose="02040503050406030204" pitchFamily="18" charset="0"/>
                      </a:rPr>
                      <m:t>𝜏</m:t>
                    </m:r>
                  </m:oMath>
                </a14:m>
                <a:endParaRPr lang="en-US" altLang="zh-CN" dirty="0">
                  <a:solidFill>
                    <a:schemeClr val="tx1"/>
                  </a:solidFill>
                </a:endParaRPr>
              </a:p>
              <a:p>
                <a:pPr marL="0" indent="0">
                  <a:buNone/>
                </a:pPr>
                <a:r>
                  <a:rPr lang="zh-CN" altLang="en-US" dirty="0">
                    <a:solidFill>
                      <a:schemeClr val="tx1"/>
                    </a:solidFill>
                  </a:rPr>
                  <a:t>根据拉氏变换规则得到</a:t>
                </a:r>
                <a14:m>
                  <m:oMath xmlns:m="http://schemas.openxmlformats.org/officeDocument/2006/math">
                    <m:r>
                      <m:rPr>
                        <m:sty m:val="p"/>
                      </m:rPr>
                      <a:rPr lang="en-US" altLang="zh-CN" b="0" i="0" dirty="0" smtClean="0">
                        <a:solidFill>
                          <a:schemeClr val="tx1"/>
                        </a:solidFill>
                        <a:latin typeface="Cambria Math" panose="02040503050406030204" pitchFamily="18" charset="0"/>
                      </a:rPr>
                      <m:t>J</m:t>
                    </m:r>
                    <m:d>
                      <m:dPr>
                        <m:ctrlPr>
                          <a:rPr lang="en-US" altLang="zh-CN" b="0" i="1" dirty="0" smtClean="0">
                            <a:solidFill>
                              <a:schemeClr val="tx1"/>
                            </a:solidFill>
                            <a:latin typeface="Cambria Math" panose="02040503050406030204" pitchFamily="18" charset="0"/>
                          </a:rPr>
                        </m:ctrlPr>
                      </m:dPr>
                      <m:e>
                        <m:r>
                          <m:rPr>
                            <m:sty m:val="p"/>
                          </m:rPr>
                          <a:rPr lang="en-US" altLang="zh-CN" b="0" i="0" dirty="0" smtClean="0">
                            <a:solidFill>
                              <a:schemeClr val="tx1"/>
                            </a:solidFill>
                            <a:latin typeface="Cambria Math" panose="02040503050406030204" pitchFamily="18" charset="0"/>
                          </a:rPr>
                          <m:t>s</m:t>
                        </m:r>
                        <m:r>
                          <m:rPr>
                            <m:sty m:val="p"/>
                          </m:rPr>
                          <a:rPr lang="en-US" altLang="zh-CN" dirty="0" smtClean="0">
                            <a:solidFill>
                              <a:schemeClr val="tx1"/>
                            </a:solidFill>
                            <a:latin typeface="Cambria Math" panose="02040503050406030204" pitchFamily="18" charset="0"/>
                          </a:rPr>
                          <m:t>Δ</m:t>
                        </m:r>
                        <m:r>
                          <a:rPr lang="en-US" altLang="zh-CN" i="1" dirty="0">
                            <a:solidFill>
                              <a:schemeClr val="tx1"/>
                            </a:solidFill>
                            <a:latin typeface="Cambria Math" panose="02040503050406030204" pitchFamily="18" charset="0"/>
                          </a:rPr>
                          <m:t>𝛺</m:t>
                        </m:r>
                        <m:d>
                          <m:dPr>
                            <m:ctrlPr>
                              <a:rPr lang="en-US" altLang="zh-CN" b="0" i="1" dirty="0" smtClean="0">
                                <a:solidFill>
                                  <a:schemeClr val="tx1"/>
                                </a:solidFill>
                                <a:latin typeface="Cambria Math" panose="02040503050406030204" pitchFamily="18" charset="0"/>
                              </a:rPr>
                            </m:ctrlPr>
                          </m:dPr>
                          <m:e>
                            <m:r>
                              <a:rPr lang="en-US" altLang="zh-CN" b="0" i="1" dirty="0" smtClean="0">
                                <a:solidFill>
                                  <a:schemeClr val="tx1"/>
                                </a:solidFill>
                                <a:latin typeface="Cambria Math" panose="02040503050406030204" pitchFamily="18" charset="0"/>
                              </a:rPr>
                              <m:t>𝑠</m:t>
                            </m:r>
                          </m:e>
                        </m:d>
                        <m:r>
                          <a:rPr lang="en-US" altLang="zh-CN" b="0" i="1" dirty="0" smtClean="0">
                            <a:solidFill>
                              <a:schemeClr val="tx1"/>
                            </a:solidFill>
                            <a:latin typeface="Cambria Math" panose="02040503050406030204" pitchFamily="18" charset="0"/>
                          </a:rPr>
                          <m:t>−</m:t>
                        </m:r>
                        <m:r>
                          <m:rPr>
                            <m:sty m:val="p"/>
                          </m:rPr>
                          <a:rPr lang="en-US" altLang="zh-CN" dirty="0">
                            <a:latin typeface="Cambria Math" panose="02040503050406030204" pitchFamily="18" charset="0"/>
                          </a:rPr>
                          <m:t>Δ</m:t>
                        </m:r>
                        <m:r>
                          <a:rPr lang="en-US" altLang="zh-CN" i="1" dirty="0">
                            <a:latin typeface="Cambria Math" panose="02040503050406030204" pitchFamily="18" charset="0"/>
                          </a:rPr>
                          <m:t>𝜔</m:t>
                        </m:r>
                        <m:d>
                          <m:dPr>
                            <m:ctrlPr>
                              <a:rPr lang="en-US" altLang="zh-CN" b="0" i="1" dirty="0" smtClean="0">
                                <a:latin typeface="Cambria Math" panose="02040503050406030204" pitchFamily="18" charset="0"/>
                              </a:rPr>
                            </m:ctrlPr>
                          </m:dPr>
                          <m:e>
                            <m:r>
                              <a:rPr lang="en-US" altLang="zh-CN" b="0" i="1" dirty="0" smtClean="0">
                                <a:latin typeface="Cambria Math" panose="02040503050406030204" pitchFamily="18" charset="0"/>
                              </a:rPr>
                              <m:t>0</m:t>
                            </m:r>
                          </m:e>
                        </m:d>
                      </m:e>
                    </m:d>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𝑏</m:t>
                    </m:r>
                    <m:d>
                      <m:dPr>
                        <m:ctrlPr>
                          <a:rPr lang="en-US" altLang="zh-CN" b="0" i="1" dirty="0" smtClean="0">
                            <a:latin typeface="Cambria Math" panose="02040503050406030204" pitchFamily="18" charset="0"/>
                          </a:rPr>
                        </m:ctrlPr>
                      </m:dPr>
                      <m:e>
                        <m:r>
                          <m:rPr>
                            <m:sty m:val="p"/>
                          </m:rPr>
                          <a:rPr lang="en-US" altLang="zh-CN" dirty="0">
                            <a:latin typeface="Cambria Math" panose="02040503050406030204" pitchFamily="18" charset="0"/>
                          </a:rPr>
                          <m:t>Δ</m:t>
                        </m:r>
                        <m:r>
                          <a:rPr lang="en-US" altLang="zh-CN" i="1" dirty="0">
                            <a:latin typeface="Cambria Math" panose="02040503050406030204" pitchFamily="18" charset="0"/>
                          </a:rPr>
                          <m:t>𝛺</m:t>
                        </m:r>
                        <m:d>
                          <m:dPr>
                            <m:ctrlPr>
                              <a:rPr lang="en-US" altLang="zh-CN" i="1" dirty="0">
                                <a:latin typeface="Cambria Math" panose="02040503050406030204" pitchFamily="18" charset="0"/>
                              </a:rPr>
                            </m:ctrlPr>
                          </m:dPr>
                          <m:e>
                            <m:r>
                              <a:rPr lang="en-US" altLang="zh-CN" i="1" dirty="0">
                                <a:latin typeface="Cambria Math" panose="02040503050406030204" pitchFamily="18" charset="0"/>
                              </a:rPr>
                              <m:t>𝑠</m:t>
                            </m:r>
                          </m:e>
                        </m:d>
                      </m:e>
                    </m:d>
                    <m:r>
                      <a:rPr lang="en-US" altLang="zh-CN" b="0" i="1" dirty="0" smtClean="0">
                        <a:latin typeface="Cambria Math" panose="02040503050406030204" pitchFamily="18" charset="0"/>
                      </a:rPr>
                      <m:t>=</m:t>
                    </m:r>
                    <m:r>
                      <m:rPr>
                        <m:sty m:val="p"/>
                      </m:rPr>
                      <a:rPr lang="en-US" altLang="zh-CN" dirty="0">
                        <a:latin typeface="Cambria Math" panose="02040503050406030204" pitchFamily="18" charset="0"/>
                      </a:rPr>
                      <m:t>Δ</m:t>
                    </m:r>
                    <m:r>
                      <m:rPr>
                        <m:sty m:val="p"/>
                      </m:rPr>
                      <a:rPr lang="en-US" altLang="zh-CN" b="0" i="0" dirty="0" smtClean="0">
                        <a:latin typeface="Cambria Math" panose="02040503050406030204" pitchFamily="18" charset="0"/>
                      </a:rPr>
                      <m:t>T</m:t>
                    </m:r>
                    <m:r>
                      <a:rPr lang="en-US" altLang="zh-CN" b="0" i="0" dirty="0" smtClean="0">
                        <a:latin typeface="Cambria Math" panose="02040503050406030204" pitchFamily="18" charset="0"/>
                      </a:rPr>
                      <m:t>(</m:t>
                    </m:r>
                    <m:r>
                      <m:rPr>
                        <m:sty m:val="p"/>
                      </m:rPr>
                      <a:rPr lang="en-US" altLang="zh-CN" b="0" i="0" dirty="0" smtClean="0">
                        <a:latin typeface="Cambria Math" panose="02040503050406030204" pitchFamily="18" charset="0"/>
                      </a:rPr>
                      <m:t>s</m:t>
                    </m:r>
                    <m:r>
                      <a:rPr lang="en-US" altLang="zh-CN" b="0" i="0" dirty="0" smtClean="0">
                        <a:latin typeface="Cambria Math" panose="02040503050406030204" pitchFamily="18" charset="0"/>
                      </a:rPr>
                      <m:t>)</m:t>
                    </m:r>
                  </m:oMath>
                </a14:m>
                <a:endParaRPr lang="en-US" altLang="zh-CN" dirty="0">
                  <a:solidFill>
                    <a:schemeClr val="tx1"/>
                  </a:solidFill>
                </a:endParaRPr>
              </a:p>
              <a:p>
                <a:pPr marL="0" indent="0">
                  <a:buNone/>
                </a:pPr>
                <a:r>
                  <a:rPr lang="zh-CN" altLang="en-US" dirty="0"/>
                  <a:t>假设初始角速度为</a:t>
                </a:r>
                <a:r>
                  <a:rPr lang="en-US" altLang="zh-CN" dirty="0"/>
                  <a:t>0</a:t>
                </a:r>
                <a:r>
                  <a:rPr lang="zh-CN" altLang="en-US" dirty="0"/>
                  <a:t>，</a:t>
                </a:r>
                <a:r>
                  <a:rPr lang="en-US" altLang="zh-CN" dirty="0"/>
                  <a:t> </a:t>
                </a:r>
                <a14:m>
                  <m:oMath xmlns:m="http://schemas.openxmlformats.org/officeDocument/2006/math">
                    <m:r>
                      <m:rPr>
                        <m:sty m:val="p"/>
                      </m:rPr>
                      <a:rPr lang="en-US" altLang="zh-CN" dirty="0">
                        <a:latin typeface="Cambria Math" panose="02040503050406030204" pitchFamily="18" charset="0"/>
                      </a:rPr>
                      <m:t>Δ</m:t>
                    </m:r>
                    <m:r>
                      <a:rPr lang="en-US" altLang="zh-CN" i="1" dirty="0">
                        <a:latin typeface="Cambria Math" panose="02040503050406030204" pitchFamily="18" charset="0"/>
                      </a:rPr>
                      <m:t>𝜔</m:t>
                    </m:r>
                    <m:d>
                      <m:dPr>
                        <m:ctrlPr>
                          <a:rPr lang="en-US" altLang="zh-CN" b="0" i="1" dirty="0" smtClean="0">
                            <a:latin typeface="Cambria Math" panose="02040503050406030204" pitchFamily="18" charset="0"/>
                          </a:rPr>
                        </m:ctrlPr>
                      </m:dPr>
                      <m:e>
                        <m:r>
                          <a:rPr lang="en-US" altLang="zh-CN" b="0" i="1" dirty="0" smtClean="0">
                            <a:latin typeface="Cambria Math" panose="02040503050406030204" pitchFamily="18" charset="0"/>
                          </a:rPr>
                          <m:t>0</m:t>
                        </m:r>
                      </m:e>
                    </m:d>
                    <m:r>
                      <a:rPr lang="en-US" altLang="zh-CN" b="0" i="1" dirty="0" smtClean="0">
                        <a:latin typeface="Cambria Math" panose="02040503050406030204" pitchFamily="18" charset="0"/>
                      </a:rPr>
                      <m:t>=0</m:t>
                    </m:r>
                    <m:r>
                      <a:rPr lang="zh-CN" altLang="en-US" i="1" dirty="0">
                        <a:latin typeface="Cambria Math" panose="02040503050406030204" pitchFamily="18" charset="0"/>
                      </a:rPr>
                      <m:t>，</m:t>
                    </m:r>
                  </m:oMath>
                </a14:m>
                <a:r>
                  <a:rPr lang="zh-CN" altLang="en-US" dirty="0"/>
                  <a:t>则</a:t>
                </a:r>
                <a14:m>
                  <m:oMath xmlns:m="http://schemas.openxmlformats.org/officeDocument/2006/math">
                    <m:d>
                      <m:dPr>
                        <m:ctrlPr>
                          <a:rPr lang="en-US" altLang="zh-SG" b="0" i="1" dirty="0" smtClean="0">
                            <a:latin typeface="Cambria Math" panose="02040503050406030204" pitchFamily="18" charset="0"/>
                          </a:rPr>
                        </m:ctrlPr>
                      </m:dPr>
                      <m:e>
                        <m:r>
                          <a:rPr lang="zh-SG" altLang="en-US" i="1" dirty="0" smtClean="0">
                            <a:latin typeface="Cambria Math" panose="02040503050406030204" pitchFamily="18" charset="0"/>
                          </a:rPr>
                          <m:t>𝐽</m:t>
                        </m:r>
                        <m:r>
                          <m:rPr>
                            <m:sty m:val="p"/>
                          </m:rPr>
                          <a:rPr lang="en-US" altLang="zh-CN" i="1" dirty="0">
                            <a:latin typeface="Cambria Math" panose="02040503050406030204" pitchFamily="18" charset="0"/>
                          </a:rPr>
                          <m:t>s</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𝑏</m:t>
                        </m:r>
                      </m:e>
                    </m:d>
                    <m:r>
                      <m:rPr>
                        <m:sty m:val="p"/>
                      </m:rPr>
                      <a:rPr lang="en-US" altLang="zh-CN" dirty="0">
                        <a:latin typeface="Cambria Math" panose="02040503050406030204" pitchFamily="18" charset="0"/>
                      </a:rPr>
                      <m:t>Δ</m:t>
                    </m:r>
                    <m:r>
                      <a:rPr lang="en-US" altLang="zh-CN" i="1" dirty="0">
                        <a:latin typeface="Cambria Math" panose="02040503050406030204" pitchFamily="18" charset="0"/>
                      </a:rPr>
                      <m:t>𝛺</m:t>
                    </m:r>
                    <m:d>
                      <m:dPr>
                        <m:ctrlPr>
                          <a:rPr lang="en-US" altLang="zh-CN" i="1" dirty="0">
                            <a:latin typeface="Cambria Math" panose="02040503050406030204" pitchFamily="18" charset="0"/>
                          </a:rPr>
                        </m:ctrlPr>
                      </m:dPr>
                      <m:e>
                        <m:r>
                          <a:rPr lang="en-US" altLang="zh-CN" i="1" dirty="0">
                            <a:latin typeface="Cambria Math" panose="02040503050406030204" pitchFamily="18" charset="0"/>
                          </a:rPr>
                          <m:t>𝑠</m:t>
                        </m:r>
                      </m:e>
                    </m:d>
                    <m:r>
                      <a:rPr lang="en-US" altLang="zh-CN" b="0" i="1" dirty="0" smtClean="0">
                        <a:latin typeface="Cambria Math" panose="02040503050406030204" pitchFamily="18" charset="0"/>
                      </a:rPr>
                      <m:t>=</m:t>
                    </m:r>
                    <m:r>
                      <m:rPr>
                        <m:sty m:val="p"/>
                      </m:rPr>
                      <a:rPr lang="en-US" altLang="zh-CN" dirty="0">
                        <a:latin typeface="Cambria Math" panose="02040503050406030204" pitchFamily="18" charset="0"/>
                      </a:rPr>
                      <m:t>ΔT</m:t>
                    </m:r>
                    <m:r>
                      <a:rPr lang="en-US" altLang="zh-CN" dirty="0">
                        <a:latin typeface="Cambria Math" panose="02040503050406030204" pitchFamily="18" charset="0"/>
                      </a:rPr>
                      <m:t>(</m:t>
                    </m:r>
                    <m:r>
                      <m:rPr>
                        <m:sty m:val="p"/>
                      </m:rPr>
                      <a:rPr lang="en-US" altLang="zh-CN" dirty="0">
                        <a:latin typeface="Cambria Math" panose="02040503050406030204" pitchFamily="18" charset="0"/>
                      </a:rPr>
                      <m:t>s</m:t>
                    </m:r>
                    <m:r>
                      <a:rPr lang="en-US" altLang="zh-CN" dirty="0">
                        <a:latin typeface="Cambria Math" panose="02040503050406030204" pitchFamily="18" charset="0"/>
                      </a:rPr>
                      <m:t>)</m:t>
                    </m:r>
                  </m:oMath>
                </a14:m>
                <a:endParaRPr lang="en-US" altLang="zh-SG" dirty="0"/>
              </a:p>
              <a:p>
                <a:pPr marL="0" indent="0">
                  <a:buNone/>
                </a:pPr>
                <a:r>
                  <a:rPr lang="zh-CN" altLang="en-US" dirty="0"/>
                  <a:t>得到传递函数</a:t>
                </a:r>
                <a14:m>
                  <m:oMath xmlns:m="http://schemas.openxmlformats.org/officeDocument/2006/math">
                    <m:r>
                      <a:rPr lang="zh-SG" altLang="en-US" i="1" dirty="0" smtClean="0">
                        <a:latin typeface="Cambria Math" panose="02040503050406030204" pitchFamily="18" charset="0"/>
                      </a:rPr>
                      <m:t>𝐺</m:t>
                    </m:r>
                    <m:d>
                      <m:dPr>
                        <m:ctrlPr>
                          <a:rPr lang="en-US" altLang="zh-SG" b="0" i="1" dirty="0" smtClean="0">
                            <a:latin typeface="Cambria Math" panose="02040503050406030204" pitchFamily="18" charset="0"/>
                          </a:rPr>
                        </m:ctrlPr>
                      </m:dPr>
                      <m:e>
                        <m:r>
                          <a:rPr lang="en-US" altLang="zh-SG" b="0" i="1" dirty="0" smtClean="0">
                            <a:latin typeface="Cambria Math" panose="02040503050406030204" pitchFamily="18" charset="0"/>
                          </a:rPr>
                          <m:t>𝑠</m:t>
                        </m:r>
                      </m:e>
                    </m:d>
                    <m:r>
                      <a:rPr lang="en-US" altLang="zh-SG" b="0" i="1" dirty="0" smtClean="0">
                        <a:latin typeface="Cambria Math" panose="02040503050406030204" pitchFamily="18" charset="0"/>
                      </a:rPr>
                      <m:t>=</m:t>
                    </m:r>
                    <m:f>
                      <m:fPr>
                        <m:ctrlPr>
                          <a:rPr lang="en-US" altLang="zh-SG" b="0" i="1" dirty="0" smtClean="0">
                            <a:latin typeface="Cambria Math" panose="02040503050406030204" pitchFamily="18" charset="0"/>
                          </a:rPr>
                        </m:ctrlPr>
                      </m:fPr>
                      <m:num>
                        <m:r>
                          <m:rPr>
                            <m:sty m:val="p"/>
                          </m:rPr>
                          <a:rPr lang="en-US" altLang="zh-CN" dirty="0">
                            <a:latin typeface="Cambria Math" panose="02040503050406030204" pitchFamily="18" charset="0"/>
                          </a:rPr>
                          <m:t>Δ</m:t>
                        </m:r>
                        <m:r>
                          <a:rPr lang="en-US" altLang="zh-CN" i="1" dirty="0">
                            <a:latin typeface="Cambria Math" panose="02040503050406030204" pitchFamily="18" charset="0"/>
                          </a:rPr>
                          <m:t>𝛺</m:t>
                        </m:r>
                        <m:d>
                          <m:dPr>
                            <m:ctrlPr>
                              <a:rPr lang="en-US" altLang="zh-CN" i="1" dirty="0">
                                <a:latin typeface="Cambria Math" panose="02040503050406030204" pitchFamily="18" charset="0"/>
                              </a:rPr>
                            </m:ctrlPr>
                          </m:dPr>
                          <m:e>
                            <m:r>
                              <a:rPr lang="en-US" altLang="zh-CN" i="1" dirty="0">
                                <a:latin typeface="Cambria Math" panose="02040503050406030204" pitchFamily="18" charset="0"/>
                              </a:rPr>
                              <m:t>𝑠</m:t>
                            </m:r>
                          </m:e>
                        </m:d>
                      </m:num>
                      <m:den>
                        <m:r>
                          <m:rPr>
                            <m:sty m:val="p"/>
                          </m:rPr>
                          <a:rPr lang="en-US" altLang="zh-CN" dirty="0">
                            <a:latin typeface="Cambria Math" panose="02040503050406030204" pitchFamily="18" charset="0"/>
                          </a:rPr>
                          <m:t>ΔT</m:t>
                        </m:r>
                        <m:r>
                          <a:rPr lang="en-US" altLang="zh-CN" dirty="0">
                            <a:latin typeface="Cambria Math" panose="02040503050406030204" pitchFamily="18" charset="0"/>
                          </a:rPr>
                          <m:t>(</m:t>
                        </m:r>
                        <m:r>
                          <m:rPr>
                            <m:sty m:val="p"/>
                          </m:rPr>
                          <a:rPr lang="en-US" altLang="zh-CN" dirty="0">
                            <a:latin typeface="Cambria Math" panose="02040503050406030204" pitchFamily="18" charset="0"/>
                          </a:rPr>
                          <m:t>s</m:t>
                        </m:r>
                        <m:r>
                          <a:rPr lang="en-US" altLang="zh-CN" dirty="0">
                            <a:latin typeface="Cambria Math" panose="02040503050406030204" pitchFamily="18" charset="0"/>
                          </a:rPr>
                          <m:t>)</m:t>
                        </m:r>
                      </m:den>
                    </m:f>
                    <m:r>
                      <a:rPr lang="en-US" altLang="zh-SG" b="0" i="0" dirty="0" smtClean="0">
                        <a:latin typeface="Cambria Math" panose="02040503050406030204" pitchFamily="18" charset="0"/>
                      </a:rPr>
                      <m:t>=</m:t>
                    </m:r>
                    <m:f>
                      <m:fPr>
                        <m:ctrlPr>
                          <a:rPr lang="en-US" altLang="zh-SG" b="0" i="1" dirty="0" smtClean="0">
                            <a:latin typeface="Cambria Math" panose="02040503050406030204" pitchFamily="18" charset="0"/>
                          </a:rPr>
                        </m:ctrlPr>
                      </m:fPr>
                      <m:num>
                        <m:r>
                          <a:rPr lang="en-US" altLang="zh-SG" b="0" i="1" dirty="0" smtClean="0">
                            <a:latin typeface="Cambria Math" panose="02040503050406030204" pitchFamily="18" charset="0"/>
                          </a:rPr>
                          <m:t>1</m:t>
                        </m:r>
                      </m:num>
                      <m:den>
                        <m:r>
                          <a:rPr lang="en-US" altLang="zh-SG" b="0" i="1" dirty="0" smtClean="0">
                            <a:latin typeface="Cambria Math" panose="02040503050406030204" pitchFamily="18" charset="0"/>
                          </a:rPr>
                          <m:t>𝐽𝑠</m:t>
                        </m:r>
                        <m:r>
                          <a:rPr lang="en-US" altLang="zh-SG" b="0" i="1" dirty="0" smtClean="0">
                            <a:latin typeface="Cambria Math" panose="02040503050406030204" pitchFamily="18" charset="0"/>
                          </a:rPr>
                          <m:t>+</m:t>
                        </m:r>
                        <m:r>
                          <a:rPr lang="en-US" altLang="zh-SG" b="0" i="1" dirty="0" smtClean="0">
                            <a:latin typeface="Cambria Math" panose="02040503050406030204" pitchFamily="18" charset="0"/>
                          </a:rPr>
                          <m:t>𝑏</m:t>
                        </m:r>
                      </m:den>
                    </m:f>
                  </m:oMath>
                </a14:m>
                <a:endParaRPr lang="en-US" altLang="zh-SG" b="0" i="1" dirty="0">
                  <a:latin typeface="Cambria Math" panose="02040503050406030204" pitchFamily="18" charset="0"/>
                </a:endParaRPr>
              </a:p>
              <a:p>
                <a:pPr marL="0" indent="0">
                  <a:buNone/>
                </a:pPr>
                <a:r>
                  <a:rPr lang="zh-CN" altLang="en-US" dirty="0"/>
                  <a:t>可以用一阶系统标准方程</a:t>
                </a:r>
                <a14:m>
                  <m:oMath xmlns:m="http://schemas.openxmlformats.org/officeDocument/2006/math">
                    <m:f>
                      <m:fPr>
                        <m:ctrlPr>
                          <a:rPr lang="en-US" altLang="zh-SG" b="0" i="1" dirty="0" smtClean="0">
                            <a:latin typeface="Cambria Math" panose="02040503050406030204" pitchFamily="18" charset="0"/>
                          </a:rPr>
                        </m:ctrlPr>
                      </m:fPr>
                      <m:num>
                        <m:r>
                          <a:rPr lang="en-US" altLang="zh-SG" b="0" i="1" dirty="0" smtClean="0">
                            <a:latin typeface="Cambria Math" panose="02040503050406030204" pitchFamily="18" charset="0"/>
                          </a:rPr>
                          <m:t>𝐾</m:t>
                        </m:r>
                      </m:num>
                      <m:den>
                        <m:r>
                          <a:rPr lang="en-US" altLang="zh-SG" b="0" i="1" dirty="0" smtClean="0">
                            <a:latin typeface="Cambria Math" panose="02040503050406030204" pitchFamily="18" charset="0"/>
                          </a:rPr>
                          <m:t>𝑇𝑠</m:t>
                        </m:r>
                        <m:r>
                          <a:rPr lang="en-US" altLang="zh-SG" b="0" i="1" dirty="0" smtClean="0">
                            <a:latin typeface="Cambria Math" panose="02040503050406030204" pitchFamily="18" charset="0"/>
                          </a:rPr>
                          <m:t>+1</m:t>
                        </m:r>
                      </m:den>
                    </m:f>
                  </m:oMath>
                </a14:m>
                <a:r>
                  <a:rPr lang="zh-CN" altLang="en-US" dirty="0"/>
                  <a:t>表示，此时</a:t>
                </a:r>
                <a14:m>
                  <m:oMath xmlns:m="http://schemas.openxmlformats.org/officeDocument/2006/math">
                    <m:r>
                      <m:rPr>
                        <m:sty m:val="p"/>
                      </m:rPr>
                      <a:rPr lang="en-US" altLang="zh-CN" b="0" i="1" dirty="0">
                        <a:latin typeface="Cambria Math" panose="02040503050406030204" pitchFamily="18" charset="0"/>
                      </a:rPr>
                      <m:t>K</m:t>
                    </m:r>
                    <m:r>
                      <a:rPr lang="en-US" altLang="zh-SG" b="0" i="0" dirty="0" smtClean="0">
                        <a:latin typeface="Cambria Math" panose="02040503050406030204" pitchFamily="18" charset="0"/>
                      </a:rPr>
                      <m:t>=</m:t>
                    </m:r>
                    <m:f>
                      <m:fPr>
                        <m:ctrlPr>
                          <a:rPr lang="en-US" altLang="zh-SG" i="1" dirty="0">
                            <a:latin typeface="Cambria Math" panose="02040503050406030204" pitchFamily="18" charset="0"/>
                          </a:rPr>
                        </m:ctrlPr>
                      </m:fPr>
                      <m:num>
                        <m:r>
                          <a:rPr lang="en-US" altLang="zh-SG" i="1" dirty="0">
                            <a:latin typeface="Cambria Math" panose="02040503050406030204" pitchFamily="18" charset="0"/>
                          </a:rPr>
                          <m:t>1</m:t>
                        </m:r>
                      </m:num>
                      <m:den>
                        <m:r>
                          <a:rPr lang="en-US" altLang="zh-SG" i="1" dirty="0">
                            <a:latin typeface="Cambria Math" panose="02040503050406030204" pitchFamily="18" charset="0"/>
                          </a:rPr>
                          <m:t>𝑏</m:t>
                        </m:r>
                      </m:den>
                    </m:f>
                  </m:oMath>
                </a14:m>
                <a:r>
                  <a:rPr lang="zh-CN" altLang="en-US" dirty="0"/>
                  <a:t>，</a:t>
                </a:r>
                <a:r>
                  <a:rPr lang="en-US" altLang="zh-SG" dirty="0"/>
                  <a:t> </a:t>
                </a:r>
                <a14:m>
                  <m:oMath xmlns:m="http://schemas.openxmlformats.org/officeDocument/2006/math">
                    <m:r>
                      <m:rPr>
                        <m:sty m:val="p"/>
                      </m:rPr>
                      <a:rPr lang="en-US" altLang="zh-CN" i="1" dirty="0" smtClean="0">
                        <a:latin typeface="Cambria Math" panose="02040503050406030204" pitchFamily="18" charset="0"/>
                      </a:rPr>
                      <m:t>T</m:t>
                    </m:r>
                    <m:r>
                      <a:rPr lang="en-US" altLang="zh-CN" b="0" i="1" dirty="0" smtClean="0">
                        <a:latin typeface="Cambria Math" panose="02040503050406030204" pitchFamily="18" charset="0"/>
                      </a:rPr>
                      <m:t>=</m:t>
                    </m:r>
                    <m:f>
                      <m:fPr>
                        <m:ctrlPr>
                          <a:rPr lang="en-US" altLang="zh-SG" i="1" dirty="0">
                            <a:latin typeface="Cambria Math" panose="02040503050406030204" pitchFamily="18" charset="0"/>
                          </a:rPr>
                        </m:ctrlPr>
                      </m:fPr>
                      <m:num>
                        <m:r>
                          <a:rPr lang="en-US" altLang="zh-SG" b="0" i="1" dirty="0" smtClean="0">
                            <a:latin typeface="Cambria Math" panose="02040503050406030204" pitchFamily="18" charset="0"/>
                          </a:rPr>
                          <m:t>𝐽</m:t>
                        </m:r>
                      </m:num>
                      <m:den>
                        <m:r>
                          <a:rPr lang="en-US" altLang="zh-SG" b="0" i="1" dirty="0" smtClean="0">
                            <a:latin typeface="Cambria Math" panose="02040503050406030204" pitchFamily="18" charset="0"/>
                          </a:rPr>
                          <m:t>𝑏</m:t>
                        </m:r>
                      </m:den>
                    </m:f>
                  </m:oMath>
                </a14:m>
                <a:endParaRPr lang="en-US" altLang="zh-SG" dirty="0"/>
              </a:p>
              <a:p>
                <a:pPr marL="0" indent="0">
                  <a:buNone/>
                </a:pPr>
                <a:r>
                  <a:rPr lang="en-US" altLang="zh-SG" dirty="0"/>
                  <a:t>K</a:t>
                </a:r>
                <a:r>
                  <a:rPr lang="zh-CN" altLang="en-US" dirty="0"/>
                  <a:t>的单位是</a:t>
                </a:r>
                <a:r>
                  <a:rPr lang="en-US" altLang="zh-CN" dirty="0"/>
                  <a:t>(rad/s)/(Nm)</a:t>
                </a:r>
                <a:r>
                  <a:rPr lang="zh-CN" altLang="en-US" dirty="0"/>
                  <a:t>，是输出的单位除以输入的单位</a:t>
                </a:r>
                <a:endParaRPr lang="en-US" altLang="zh-CN" dirty="0"/>
              </a:p>
              <a:p>
                <a:pPr marL="0" indent="0">
                  <a:buNone/>
                </a:pPr>
                <a:r>
                  <a:rPr lang="en-US" altLang="zh-CN" dirty="0"/>
                  <a:t>T</a:t>
                </a:r>
                <a:r>
                  <a:rPr lang="zh-CN" altLang="en-US" dirty="0"/>
                  <a:t>的单位是</a:t>
                </a:r>
                <a14:m>
                  <m:oMath xmlns:m="http://schemas.openxmlformats.org/officeDocument/2006/math">
                    <m:f>
                      <m:fPr>
                        <m:ctrlPr>
                          <a:rPr lang="en-US" altLang="zh-CN" i="1" smtClean="0">
                            <a:latin typeface="Cambria Math" panose="02040503050406030204" pitchFamily="18" charset="0"/>
                          </a:rPr>
                        </m:ctrlPr>
                      </m:fPr>
                      <m:num>
                        <m:r>
                          <a:rPr lang="en-US" altLang="zh-CN" b="0" i="1" smtClean="0">
                            <a:latin typeface="Cambria Math" panose="02040503050406030204" pitchFamily="18" charset="0"/>
                          </a:rPr>
                          <m:t>(</m:t>
                        </m:r>
                        <m:r>
                          <a:rPr lang="en-US" altLang="zh-CN" b="0" i="1" smtClean="0">
                            <a:latin typeface="Cambria Math" panose="02040503050406030204" pitchFamily="18" charset="0"/>
                          </a:rPr>
                          <m:t>𝑁𝑚</m:t>
                        </m:r>
                        <m:r>
                          <a:rPr lang="en-US" altLang="zh-CN" b="0" i="1" smtClean="0">
                            <a:latin typeface="Cambria Math" panose="02040503050406030204" pitchFamily="18" charset="0"/>
                          </a:rPr>
                          <m:t>)/(</m:t>
                        </m:r>
                        <m:r>
                          <a:rPr lang="en-US" altLang="zh-CN" b="0" i="1" smtClean="0">
                            <a:latin typeface="Cambria Math" panose="02040503050406030204" pitchFamily="18" charset="0"/>
                          </a:rPr>
                          <m:t>𝑟𝑎𝑑</m:t>
                        </m:r>
                        <m:r>
                          <a:rPr lang="en-US" altLang="zh-CN" b="0" i="1" smtClean="0">
                            <a:latin typeface="Cambria Math" panose="02040503050406030204" pitchFamily="18" charset="0"/>
                          </a:rPr>
                          <m:t>/</m:t>
                        </m:r>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𝑠</m:t>
                            </m:r>
                          </m:e>
                          <m:sup>
                            <m:r>
                              <a:rPr lang="en-US" altLang="zh-CN" b="0" i="1" smtClean="0">
                                <a:latin typeface="Cambria Math" panose="02040503050406030204" pitchFamily="18" charset="0"/>
                              </a:rPr>
                              <m:t>2</m:t>
                            </m:r>
                          </m:sup>
                        </m:sSup>
                        <m:r>
                          <a:rPr lang="en-US" altLang="zh-CN" b="0" i="1" smtClean="0">
                            <a:latin typeface="Cambria Math" panose="02040503050406030204" pitchFamily="18" charset="0"/>
                          </a:rPr>
                          <m:t>)</m:t>
                        </m:r>
                      </m:num>
                      <m:den>
                        <m:r>
                          <a:rPr lang="en-US" altLang="zh-CN" b="0" i="1" smtClean="0">
                            <a:latin typeface="Cambria Math" panose="02040503050406030204" pitchFamily="18" charset="0"/>
                          </a:rPr>
                          <m:t>(</m:t>
                        </m:r>
                        <m:r>
                          <a:rPr lang="en-US" altLang="zh-CN" b="0" i="1" smtClean="0">
                            <a:latin typeface="Cambria Math" panose="02040503050406030204" pitchFamily="18" charset="0"/>
                          </a:rPr>
                          <m:t>𝑁𝑚</m:t>
                        </m:r>
                        <m:r>
                          <a:rPr lang="en-US" altLang="zh-CN" b="0" i="1" smtClean="0">
                            <a:latin typeface="Cambria Math" panose="02040503050406030204" pitchFamily="18" charset="0"/>
                          </a:rPr>
                          <m:t>)/(</m:t>
                        </m:r>
                        <m:r>
                          <a:rPr lang="en-US" altLang="zh-CN" b="0" i="1" smtClean="0">
                            <a:latin typeface="Cambria Math" panose="02040503050406030204" pitchFamily="18" charset="0"/>
                          </a:rPr>
                          <m:t>𝑟𝑎𝑑</m:t>
                        </m:r>
                        <m:r>
                          <a:rPr lang="en-US" altLang="zh-CN" b="0" i="1" smtClean="0">
                            <a:latin typeface="Cambria Math" panose="02040503050406030204" pitchFamily="18" charset="0"/>
                          </a:rPr>
                          <m:t>/</m:t>
                        </m:r>
                        <m:r>
                          <a:rPr lang="en-US" altLang="zh-CN" b="0" i="1" smtClean="0">
                            <a:latin typeface="Cambria Math" panose="02040503050406030204" pitchFamily="18" charset="0"/>
                          </a:rPr>
                          <m:t>𝑠</m:t>
                        </m:r>
                        <m:r>
                          <a:rPr lang="en-US" altLang="zh-CN" b="0" i="1" smtClean="0">
                            <a:latin typeface="Cambria Math" panose="02040503050406030204" pitchFamily="18" charset="0"/>
                          </a:rPr>
                          <m:t>)</m:t>
                        </m:r>
                      </m:den>
                    </m:f>
                    <m:r>
                      <a:rPr lang="en-US" altLang="zh-CN" b="0" i="1" smtClean="0">
                        <a:latin typeface="Cambria Math" panose="02040503050406030204" pitchFamily="18" charset="0"/>
                      </a:rPr>
                      <m:t>=</m:t>
                    </m:r>
                  </m:oMath>
                </a14:m>
                <a:r>
                  <a:rPr lang="zh-CN" altLang="en-US" dirty="0"/>
                  <a:t>秒</a:t>
                </a:r>
                <a:endParaRPr lang="en-US" altLang="zh-CN" dirty="0"/>
              </a:p>
              <a:p>
                <a:pPr marL="0" indent="0">
                  <a:buNone/>
                </a:pPr>
                <a:r>
                  <a:rPr lang="en-US" altLang="zh-CN" dirty="0"/>
                  <a:t>K</a:t>
                </a:r>
                <a:r>
                  <a:rPr lang="zh-CN" altLang="en-US" dirty="0"/>
                  <a:t>称为增益，</a:t>
                </a:r>
                <a:r>
                  <a:rPr lang="en-US" altLang="zh-CN" dirty="0"/>
                  <a:t>T</a:t>
                </a:r>
                <a:r>
                  <a:rPr lang="zh-CN" altLang="en-US" dirty="0"/>
                  <a:t>称为时间常数</a:t>
                </a:r>
                <a:endParaRPr lang="en-US" altLang="zh-CN" dirty="0"/>
              </a:p>
            </p:txBody>
          </p:sp>
        </mc:Choice>
        <mc:Fallback xmlns="">
          <p:sp>
            <p:nvSpPr>
              <p:cNvPr id="3" name="内容占位符 2">
                <a:extLst>
                  <a:ext uri="{FF2B5EF4-FFF2-40B4-BE49-F238E27FC236}">
                    <a16:creationId xmlns:a16="http://schemas.microsoft.com/office/drawing/2014/main" id="{6CEA0F66-5455-C9CC-A254-295C56799759}"/>
                  </a:ext>
                </a:extLst>
              </p:cNvPr>
              <p:cNvSpPr>
                <a:spLocks noGrp="1" noRot="1" noChangeAspect="1" noMove="1" noResize="1" noEditPoints="1" noAdjustHandles="1" noChangeArrowheads="1" noChangeShapeType="1" noTextEdit="1"/>
              </p:cNvSpPr>
              <p:nvPr>
                <p:ph idx="1"/>
              </p:nvPr>
            </p:nvSpPr>
            <p:spPr>
              <a:xfrm>
                <a:off x="838200" y="1325562"/>
                <a:ext cx="10515600" cy="5532437"/>
              </a:xfrm>
              <a:blipFill>
                <a:blip r:embed="rId2"/>
                <a:stretch>
                  <a:fillRect l="-1217" t="-1652"/>
                </a:stretch>
              </a:blipFill>
            </p:spPr>
            <p:txBody>
              <a:bodyPr/>
              <a:lstStyle/>
              <a:p>
                <a:r>
                  <a:rPr lang="zh-SG" altLang="en-US">
                    <a:noFill/>
                  </a:rPr>
                  <a:t> </a:t>
                </a:r>
              </a:p>
            </p:txBody>
          </p:sp>
        </mc:Fallback>
      </mc:AlternateContent>
    </p:spTree>
    <p:extLst>
      <p:ext uri="{BB962C8B-B14F-4D97-AF65-F5344CB8AC3E}">
        <p14:creationId xmlns:p14="http://schemas.microsoft.com/office/powerpoint/2010/main" val="2432554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28F716-59E5-FFFA-90CE-19F64BDD48BC}"/>
              </a:ext>
            </a:extLst>
          </p:cNvPr>
          <p:cNvSpPr>
            <a:spLocks noGrp="1"/>
          </p:cNvSpPr>
          <p:nvPr>
            <p:ph type="title"/>
          </p:nvPr>
        </p:nvSpPr>
        <p:spPr/>
        <p:txBody>
          <a:bodyPr/>
          <a:lstStyle/>
          <a:p>
            <a:r>
              <a:rPr lang="zh-CN" altLang="en-US" dirty="0"/>
              <a:t>一阶系统的阶跃响应</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23A166AC-CC26-E416-24C5-DF4EE2219305}"/>
                  </a:ext>
                </a:extLst>
              </p:cNvPr>
              <p:cNvSpPr>
                <a:spLocks noGrp="1"/>
              </p:cNvSpPr>
              <p:nvPr>
                <p:ph idx="1"/>
              </p:nvPr>
            </p:nvSpPr>
            <p:spPr/>
            <p:txBody>
              <a:bodyPr>
                <a:normAutofit/>
              </a:bodyPr>
              <a:lstStyle/>
              <a:p>
                <a:r>
                  <a:rPr lang="zh-CN" altLang="en-US" dirty="0"/>
                  <a:t>阶跃输入</a:t>
                </a:r>
                <a14:m>
                  <m:oMath xmlns:m="http://schemas.openxmlformats.org/officeDocument/2006/math">
                    <m:r>
                      <m:rPr>
                        <m:sty m:val="p"/>
                      </m:rPr>
                      <a:rPr lang="en-US" altLang="zh-CN" i="0" dirty="0" smtClean="0">
                        <a:solidFill>
                          <a:schemeClr val="tx1"/>
                        </a:solidFill>
                        <a:latin typeface="Cambria Math" panose="02040503050406030204" pitchFamily="18" charset="0"/>
                      </a:rPr>
                      <m:t>Δ</m:t>
                    </m:r>
                    <m:sSub>
                      <m:sSubPr>
                        <m:ctrlPr>
                          <a:rPr lang="en-US" altLang="zh-CN" i="1" dirty="0" smtClean="0">
                            <a:solidFill>
                              <a:schemeClr val="tx1"/>
                            </a:solidFill>
                            <a:latin typeface="Cambria Math" panose="02040503050406030204" pitchFamily="18" charset="0"/>
                          </a:rPr>
                        </m:ctrlPr>
                      </m:sSubPr>
                      <m:e>
                        <m:r>
                          <a:rPr lang="en-US" altLang="zh-CN" i="1" dirty="0">
                            <a:latin typeface="Cambria Math" panose="02040503050406030204" pitchFamily="18" charset="0"/>
                          </a:rPr>
                          <m:t>𝜏</m:t>
                        </m:r>
                      </m:e>
                      <m:sub>
                        <m:r>
                          <a:rPr lang="en-US" altLang="zh-CN" b="0" i="1" dirty="0" smtClean="0">
                            <a:solidFill>
                              <a:schemeClr val="tx1"/>
                            </a:solidFill>
                            <a:latin typeface="Cambria Math" panose="02040503050406030204" pitchFamily="18" charset="0"/>
                          </a:rPr>
                          <m:t>0</m:t>
                        </m:r>
                      </m:sub>
                    </m:sSub>
                  </m:oMath>
                </a14:m>
                <a:r>
                  <a:rPr lang="zh-CN" altLang="en-US" dirty="0"/>
                  <a:t>，计算得响应</a:t>
                </a:r>
                <a14:m>
                  <m:oMath xmlns:m="http://schemas.openxmlformats.org/officeDocument/2006/math">
                    <m:f>
                      <m:fPr>
                        <m:ctrlPr>
                          <a:rPr lang="zh-CN" altLang="en-US" i="1" smtClean="0">
                            <a:solidFill>
                              <a:schemeClr val="tx1"/>
                            </a:solidFill>
                            <a:latin typeface="Cambria Math" panose="02040503050406030204" pitchFamily="18" charset="0"/>
                          </a:rPr>
                        </m:ctrlPr>
                      </m:fPr>
                      <m:num>
                        <m:r>
                          <m:rPr>
                            <m:sty m:val="p"/>
                          </m:rPr>
                          <a:rPr lang="zh-CN" altLang="en-US" i="1" smtClean="0">
                            <a:solidFill>
                              <a:schemeClr val="tx1"/>
                            </a:solidFill>
                            <a:latin typeface="Cambria Math" panose="02040503050406030204" pitchFamily="18" charset="0"/>
                          </a:rPr>
                          <m:t>Δ</m:t>
                        </m:r>
                        <m:sSub>
                          <m:sSubPr>
                            <m:ctrlPr>
                              <a:rPr lang="zh-CN" altLang="en-US" i="1" smtClean="0">
                                <a:solidFill>
                                  <a:schemeClr val="tx1"/>
                                </a:solidFill>
                                <a:latin typeface="Cambria Math" panose="02040503050406030204" pitchFamily="18" charset="0"/>
                              </a:rPr>
                            </m:ctrlPr>
                          </m:sSubPr>
                          <m:e>
                            <m:r>
                              <a:rPr lang="zh-CN" altLang="en-US" i="1" smtClean="0">
                                <a:solidFill>
                                  <a:schemeClr val="tx1"/>
                                </a:solidFill>
                                <a:latin typeface="Cambria Math" panose="02040503050406030204" pitchFamily="18" charset="0"/>
                              </a:rPr>
                              <m:t>𝜏</m:t>
                            </m:r>
                          </m:e>
                          <m:sub>
                            <m:r>
                              <a:rPr lang="zh-CN" altLang="en-US" i="1" smtClean="0">
                                <a:solidFill>
                                  <a:schemeClr val="tx1"/>
                                </a:solidFill>
                                <a:latin typeface="Cambria Math" panose="02040503050406030204" pitchFamily="18" charset="0"/>
                              </a:rPr>
                              <m:t>0</m:t>
                            </m:r>
                          </m:sub>
                        </m:sSub>
                      </m:num>
                      <m:den>
                        <m:r>
                          <a:rPr lang="zh-CN" altLang="en-US" i="1" smtClean="0">
                            <a:solidFill>
                              <a:schemeClr val="tx1"/>
                            </a:solidFill>
                            <a:latin typeface="Cambria Math" panose="02040503050406030204" pitchFamily="18" charset="0"/>
                          </a:rPr>
                          <m:t>𝑏</m:t>
                        </m:r>
                      </m:den>
                    </m:f>
                    <m:r>
                      <a:rPr lang="en-US" altLang="zh-CN" i="1">
                        <a:latin typeface="Cambria Math" panose="02040503050406030204" pitchFamily="18" charset="0"/>
                      </a:rPr>
                      <m:t>(1−</m:t>
                    </m:r>
                    <m:sSup>
                      <m:sSupPr>
                        <m:ctrlPr>
                          <a:rPr lang="en-US" altLang="zh-CN" i="1">
                            <a:latin typeface="Cambria Math" panose="02040503050406030204" pitchFamily="18" charset="0"/>
                          </a:rPr>
                        </m:ctrlPr>
                      </m:sSupPr>
                      <m:e>
                        <m:r>
                          <a:rPr lang="en-US" altLang="zh-CN" i="1">
                            <a:latin typeface="Cambria Math" panose="02040503050406030204" pitchFamily="18" charset="0"/>
                          </a:rPr>
                          <m:t>𝑒</m:t>
                        </m:r>
                      </m:e>
                      <m:sup>
                        <m:r>
                          <a:rPr lang="en-US" altLang="zh-CN" i="1">
                            <a:latin typeface="Cambria Math" panose="02040503050406030204" pitchFamily="18" charset="0"/>
                          </a:rPr>
                          <m:t>−</m:t>
                        </m:r>
                        <m:f>
                          <m:fPr>
                            <m:ctrlPr>
                              <a:rPr lang="en-US" altLang="zh-CN" i="1">
                                <a:latin typeface="Cambria Math" panose="02040503050406030204" pitchFamily="18" charset="0"/>
                              </a:rPr>
                            </m:ctrlPr>
                          </m:fPr>
                          <m:num>
                            <m:r>
                              <a:rPr lang="en-US" altLang="zh-CN" i="1">
                                <a:latin typeface="Cambria Math" panose="02040503050406030204" pitchFamily="18" charset="0"/>
                              </a:rPr>
                              <m:t>𝑡</m:t>
                            </m:r>
                          </m:num>
                          <m:den>
                            <m:r>
                              <a:rPr lang="en-US" altLang="zh-CN" i="1">
                                <a:latin typeface="Cambria Math" panose="02040503050406030204" pitchFamily="18" charset="0"/>
                              </a:rPr>
                              <m:t>𝑇</m:t>
                            </m:r>
                          </m:den>
                        </m:f>
                      </m:sup>
                    </m:sSup>
                    <m:r>
                      <a:rPr lang="en-US" altLang="zh-CN" b="0" i="1" smtClean="0">
                        <a:solidFill>
                          <a:schemeClr val="tx1"/>
                        </a:solidFill>
                        <a:latin typeface="Cambria Math" panose="02040503050406030204" pitchFamily="18" charset="0"/>
                      </a:rPr>
                      <m:t>)</m:t>
                    </m:r>
                  </m:oMath>
                </a14:m>
                <a:endParaRPr lang="en-US" altLang="zh-CN" b="0" dirty="0"/>
              </a:p>
              <a:p>
                <a:pPr marL="0" indent="0">
                  <a:buNone/>
                </a:pPr>
                <a:r>
                  <a:rPr lang="zh-CN" altLang="en-US" dirty="0"/>
                  <a:t>变化率随时间指数衰减，</a:t>
                </a:r>
                <a:r>
                  <a:rPr lang="en-US" altLang="zh-CN" dirty="0"/>
                  <a:t>t=T</a:t>
                </a:r>
                <a:r>
                  <a:rPr lang="zh-CN" altLang="en-US" dirty="0"/>
                  <a:t>时达到最终值的约</a:t>
                </a:r>
                <a:r>
                  <a:rPr lang="en-US" altLang="zh-CN" dirty="0"/>
                  <a:t>63%</a:t>
                </a:r>
              </a:p>
              <a:p>
                <a:pPr marL="0" indent="0">
                  <a:buNone/>
                </a:pPr>
                <a:r>
                  <a:rPr lang="en-US" altLang="zh-CN" dirty="0"/>
                  <a:t>t=3T</a:t>
                </a:r>
                <a:r>
                  <a:rPr lang="zh-CN" altLang="en-US" dirty="0"/>
                  <a:t>时达到约</a:t>
                </a:r>
                <a:r>
                  <a:rPr lang="en-US" altLang="zh-CN" dirty="0"/>
                  <a:t>95%</a:t>
                </a:r>
                <a:r>
                  <a:rPr lang="zh-CN" altLang="en-US" dirty="0"/>
                  <a:t>，</a:t>
                </a:r>
                <a:r>
                  <a:rPr lang="en-US" altLang="zh-CN" dirty="0"/>
                  <a:t>t=4T</a:t>
                </a:r>
                <a:r>
                  <a:rPr lang="zh-CN" altLang="en-US" dirty="0"/>
                  <a:t>时达到约</a:t>
                </a:r>
                <a:r>
                  <a:rPr lang="en-US" altLang="zh-CN" dirty="0"/>
                  <a:t>98%</a:t>
                </a:r>
              </a:p>
              <a:p>
                <a:pPr marL="0" indent="0">
                  <a:buNone/>
                </a:pPr>
                <a:r>
                  <a:rPr lang="zh-CN" altLang="en-US" dirty="0"/>
                  <a:t>（联想调节时间定义中为什么选择</a:t>
                </a:r>
                <a:r>
                  <a:rPr lang="en-US" altLang="zh-CN" dirty="0"/>
                  <a:t>5%</a:t>
                </a:r>
                <a:r>
                  <a:rPr lang="zh-CN" altLang="en-US" dirty="0"/>
                  <a:t>或</a:t>
                </a:r>
                <a:r>
                  <a:rPr lang="en-US" altLang="zh-CN" dirty="0"/>
                  <a:t>2%</a:t>
                </a:r>
                <a:r>
                  <a:rPr lang="zh-CN" altLang="en-US" dirty="0"/>
                  <a:t>误差带）</a:t>
                </a:r>
                <a:endParaRPr lang="zh-SG" altLang="en-US" dirty="0"/>
              </a:p>
            </p:txBody>
          </p:sp>
        </mc:Choice>
        <mc:Fallback xmlns="">
          <p:sp>
            <p:nvSpPr>
              <p:cNvPr id="3" name="内容占位符 2">
                <a:extLst>
                  <a:ext uri="{FF2B5EF4-FFF2-40B4-BE49-F238E27FC236}">
                    <a16:creationId xmlns:a16="http://schemas.microsoft.com/office/drawing/2014/main" id="{23A166AC-CC26-E416-24C5-DF4EE2219305}"/>
                  </a:ext>
                </a:extLst>
              </p:cNvPr>
              <p:cNvSpPr>
                <a:spLocks noGrp="1" noRot="1" noChangeAspect="1" noMove="1" noResize="1" noEditPoints="1" noAdjustHandles="1" noChangeArrowheads="1" noChangeShapeType="1" noTextEdit="1"/>
              </p:cNvSpPr>
              <p:nvPr>
                <p:ph idx="1"/>
              </p:nvPr>
            </p:nvSpPr>
            <p:spPr>
              <a:blipFill>
                <a:blip r:embed="rId2"/>
                <a:stretch>
                  <a:fillRect l="-1217"/>
                </a:stretch>
              </a:blipFill>
            </p:spPr>
            <p:txBody>
              <a:bodyPr/>
              <a:lstStyle/>
              <a:p>
                <a:r>
                  <a:rPr lang="zh-SG" altLang="en-US">
                    <a:noFill/>
                  </a:rPr>
                  <a:t> </a:t>
                </a:r>
              </a:p>
            </p:txBody>
          </p:sp>
        </mc:Fallback>
      </mc:AlternateContent>
    </p:spTree>
    <p:extLst>
      <p:ext uri="{BB962C8B-B14F-4D97-AF65-F5344CB8AC3E}">
        <p14:creationId xmlns:p14="http://schemas.microsoft.com/office/powerpoint/2010/main" val="24180129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ABEE168-9A18-45BD-F2FA-34133763734B}"/>
              </a:ext>
            </a:extLst>
          </p:cNvPr>
          <p:cNvSpPr>
            <a:spLocks noGrp="1"/>
          </p:cNvSpPr>
          <p:nvPr>
            <p:ph type="title"/>
          </p:nvPr>
        </p:nvSpPr>
        <p:spPr/>
        <p:txBody>
          <a:bodyPr/>
          <a:lstStyle/>
          <a:p>
            <a:r>
              <a:rPr lang="zh-CN" altLang="en-US" dirty="0"/>
              <a:t>一阶系统特征与传递函数的关系</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5B751CE6-275F-9D87-1832-A0BA0459F4E8}"/>
                  </a:ext>
                </a:extLst>
              </p:cNvPr>
              <p:cNvSpPr>
                <a:spLocks noGrp="1"/>
              </p:cNvSpPr>
              <p:nvPr>
                <p:ph idx="1"/>
              </p:nvPr>
            </p:nvSpPr>
            <p:spPr/>
            <p:txBody>
              <a:bodyPr>
                <a:normAutofit/>
              </a:bodyPr>
              <a:lstStyle/>
              <a:p>
                <a:r>
                  <a:rPr lang="zh-CN" altLang="en-US" dirty="0"/>
                  <a:t>一阶系统</a:t>
                </a:r>
                <a14:m>
                  <m:oMath xmlns:m="http://schemas.openxmlformats.org/officeDocument/2006/math">
                    <m:f>
                      <m:fPr>
                        <m:ctrlPr>
                          <a:rPr lang="en-US" altLang="zh-SG" i="1" dirty="0">
                            <a:latin typeface="Cambria Math" panose="02040503050406030204" pitchFamily="18" charset="0"/>
                          </a:rPr>
                        </m:ctrlPr>
                      </m:fPr>
                      <m:num>
                        <m:r>
                          <a:rPr lang="en-US" altLang="zh-SG" i="1" dirty="0">
                            <a:latin typeface="Cambria Math" panose="02040503050406030204" pitchFamily="18" charset="0"/>
                          </a:rPr>
                          <m:t>𝐾</m:t>
                        </m:r>
                      </m:num>
                      <m:den>
                        <m:r>
                          <a:rPr lang="en-US" altLang="zh-SG" i="1" dirty="0">
                            <a:latin typeface="Cambria Math" panose="02040503050406030204" pitchFamily="18" charset="0"/>
                          </a:rPr>
                          <m:t>𝑇𝑠</m:t>
                        </m:r>
                        <m:r>
                          <a:rPr lang="en-US" altLang="zh-SG" i="1" dirty="0">
                            <a:latin typeface="Cambria Math" panose="02040503050406030204" pitchFamily="18" charset="0"/>
                          </a:rPr>
                          <m:t>+1</m:t>
                        </m:r>
                      </m:den>
                    </m:f>
                  </m:oMath>
                </a14:m>
                <a:r>
                  <a:rPr lang="zh-CN" altLang="en-US" dirty="0"/>
                  <a:t>，在轮电机的例子中</a:t>
                </a:r>
                <a:r>
                  <a:rPr lang="en-US" altLang="zh-CN" dirty="0"/>
                  <a:t> </a:t>
                </a:r>
                <a14:m>
                  <m:oMath xmlns:m="http://schemas.openxmlformats.org/officeDocument/2006/math">
                    <m:r>
                      <m:rPr>
                        <m:sty m:val="p"/>
                      </m:rPr>
                      <a:rPr lang="en-US" altLang="zh-CN" i="1" dirty="0">
                        <a:latin typeface="Cambria Math" panose="02040503050406030204" pitchFamily="18" charset="0"/>
                      </a:rPr>
                      <m:t>K</m:t>
                    </m:r>
                    <m:r>
                      <a:rPr lang="en-US" altLang="zh-SG" dirty="0">
                        <a:latin typeface="Cambria Math" panose="02040503050406030204" pitchFamily="18" charset="0"/>
                      </a:rPr>
                      <m:t>=</m:t>
                    </m:r>
                    <m:f>
                      <m:fPr>
                        <m:ctrlPr>
                          <a:rPr lang="en-US" altLang="zh-SG" i="1" dirty="0">
                            <a:latin typeface="Cambria Math" panose="02040503050406030204" pitchFamily="18" charset="0"/>
                          </a:rPr>
                        </m:ctrlPr>
                      </m:fPr>
                      <m:num>
                        <m:r>
                          <a:rPr lang="en-US" altLang="zh-SG" i="1" dirty="0">
                            <a:latin typeface="Cambria Math" panose="02040503050406030204" pitchFamily="18" charset="0"/>
                          </a:rPr>
                          <m:t>1</m:t>
                        </m:r>
                      </m:num>
                      <m:den>
                        <m:r>
                          <a:rPr lang="en-US" altLang="zh-SG" i="1" dirty="0">
                            <a:latin typeface="Cambria Math" panose="02040503050406030204" pitchFamily="18" charset="0"/>
                          </a:rPr>
                          <m:t>𝑏</m:t>
                        </m:r>
                      </m:den>
                    </m:f>
                  </m:oMath>
                </a14:m>
                <a:r>
                  <a:rPr lang="zh-CN" altLang="en-US" dirty="0"/>
                  <a:t>，</a:t>
                </a:r>
                <a:r>
                  <a:rPr lang="en-US" altLang="zh-SG" dirty="0"/>
                  <a:t> </a:t>
                </a:r>
                <a14:m>
                  <m:oMath xmlns:m="http://schemas.openxmlformats.org/officeDocument/2006/math">
                    <m:r>
                      <m:rPr>
                        <m:sty m:val="p"/>
                      </m:rPr>
                      <a:rPr lang="en-US" altLang="zh-CN" i="1" dirty="0">
                        <a:latin typeface="Cambria Math" panose="02040503050406030204" pitchFamily="18" charset="0"/>
                      </a:rPr>
                      <m:t>T</m:t>
                    </m:r>
                    <m:r>
                      <a:rPr lang="en-US" altLang="zh-CN" i="1" dirty="0">
                        <a:latin typeface="Cambria Math" panose="02040503050406030204" pitchFamily="18" charset="0"/>
                      </a:rPr>
                      <m:t>=</m:t>
                    </m:r>
                    <m:f>
                      <m:fPr>
                        <m:ctrlPr>
                          <a:rPr lang="en-US" altLang="zh-SG" i="1" dirty="0">
                            <a:latin typeface="Cambria Math" panose="02040503050406030204" pitchFamily="18" charset="0"/>
                          </a:rPr>
                        </m:ctrlPr>
                      </m:fPr>
                      <m:num>
                        <m:r>
                          <a:rPr lang="en-US" altLang="zh-SG" i="1" dirty="0">
                            <a:latin typeface="Cambria Math" panose="02040503050406030204" pitchFamily="18" charset="0"/>
                          </a:rPr>
                          <m:t>𝐽</m:t>
                        </m:r>
                      </m:num>
                      <m:den>
                        <m:r>
                          <a:rPr lang="en-US" altLang="zh-SG" i="1" dirty="0">
                            <a:latin typeface="Cambria Math" panose="02040503050406030204" pitchFamily="18" charset="0"/>
                          </a:rPr>
                          <m:t>𝑏</m:t>
                        </m:r>
                      </m:den>
                    </m:f>
                  </m:oMath>
                </a14:m>
                <a:endParaRPr lang="en-US" altLang="zh-CN" dirty="0"/>
              </a:p>
              <a:p>
                <a:pPr marL="0" indent="0">
                  <a:buNone/>
                </a:pPr>
                <a:r>
                  <a:rPr lang="zh-CN" altLang="en-US" dirty="0"/>
                  <a:t>当</a:t>
                </a:r>
                <a14:m>
                  <m:oMath xmlns:m="http://schemas.openxmlformats.org/officeDocument/2006/math">
                    <m:r>
                      <a:rPr lang="en-US" altLang="zh-CN" i="1">
                        <a:latin typeface="Cambria Math" panose="02040503050406030204" pitchFamily="18" charset="0"/>
                      </a:rPr>
                      <m:t>𝑠</m:t>
                    </m:r>
                    <m:r>
                      <a:rPr lang="en-US" altLang="zh-CN" i="1">
                        <a:latin typeface="Cambria Math" panose="02040503050406030204" pitchFamily="18" charset="0"/>
                      </a:rPr>
                      <m:t>=−</m:t>
                    </m:r>
                    <m:f>
                      <m:fPr>
                        <m:ctrlPr>
                          <a:rPr lang="en-US" altLang="zh-CN" i="1">
                            <a:latin typeface="Cambria Math" panose="02040503050406030204" pitchFamily="18" charset="0"/>
                          </a:rPr>
                        </m:ctrlPr>
                      </m:fPr>
                      <m:num>
                        <m:r>
                          <a:rPr lang="en-US" altLang="zh-CN" i="1">
                            <a:latin typeface="Cambria Math" panose="02040503050406030204" pitchFamily="18" charset="0"/>
                          </a:rPr>
                          <m:t>𝑏</m:t>
                        </m:r>
                      </m:num>
                      <m:den>
                        <m:r>
                          <a:rPr lang="en-US" altLang="zh-CN" i="1">
                            <a:latin typeface="Cambria Math" panose="02040503050406030204" pitchFamily="18" charset="0"/>
                          </a:rPr>
                          <m:t>𝐽</m:t>
                        </m:r>
                      </m:den>
                    </m:f>
                  </m:oMath>
                </a14:m>
                <a:r>
                  <a:rPr lang="zh-CN" altLang="en-US" dirty="0"/>
                  <a:t>时，传递函数分母为</a:t>
                </a:r>
                <a:r>
                  <a:rPr lang="en-US" altLang="zh-CN" dirty="0"/>
                  <a:t>0</a:t>
                </a:r>
                <a:r>
                  <a:rPr lang="zh-CN" altLang="en-US" dirty="0"/>
                  <a:t>，称</a:t>
                </a:r>
                <a14:m>
                  <m:oMath xmlns:m="http://schemas.openxmlformats.org/officeDocument/2006/math">
                    <m:r>
                      <a:rPr lang="en-US" altLang="zh-CN" i="1">
                        <a:latin typeface="Cambria Math" panose="02040503050406030204" pitchFamily="18" charset="0"/>
                      </a:rPr>
                      <m:t>−</m:t>
                    </m:r>
                    <m:f>
                      <m:fPr>
                        <m:ctrlPr>
                          <a:rPr lang="en-US" altLang="zh-CN" i="1">
                            <a:latin typeface="Cambria Math" panose="02040503050406030204" pitchFamily="18" charset="0"/>
                          </a:rPr>
                        </m:ctrlPr>
                      </m:fPr>
                      <m:num>
                        <m:r>
                          <a:rPr lang="en-US" altLang="zh-CN" i="1">
                            <a:latin typeface="Cambria Math" panose="02040503050406030204" pitchFamily="18" charset="0"/>
                          </a:rPr>
                          <m:t>𝑏</m:t>
                        </m:r>
                      </m:num>
                      <m:den>
                        <m:r>
                          <a:rPr lang="en-US" altLang="zh-CN" i="1">
                            <a:latin typeface="Cambria Math" panose="02040503050406030204" pitchFamily="18" charset="0"/>
                          </a:rPr>
                          <m:t>𝐽</m:t>
                        </m:r>
                      </m:den>
                    </m:f>
                  </m:oMath>
                </a14:m>
                <a:r>
                  <a:rPr lang="zh-CN" altLang="en-US" dirty="0"/>
                  <a:t>为系统的极点</a:t>
                </a:r>
                <a:endParaRPr lang="en-US" altLang="zh-CN" dirty="0"/>
              </a:p>
              <a:p>
                <a:pPr marL="0" indent="0">
                  <a:buNone/>
                </a:pPr>
                <a:r>
                  <a:rPr lang="zh-CN" altLang="en-US" dirty="0"/>
                  <a:t>实际场景中</a:t>
                </a:r>
                <a14:m>
                  <m:oMath xmlns:m="http://schemas.openxmlformats.org/officeDocument/2006/math">
                    <m:r>
                      <a:rPr lang="en-US" altLang="zh-CN" i="1">
                        <a:latin typeface="Cambria Math" panose="02040503050406030204" pitchFamily="18" charset="0"/>
                      </a:rPr>
                      <m:t>𝑏</m:t>
                    </m:r>
                    <m:r>
                      <a:rPr lang="en-US" altLang="zh-CN" i="1">
                        <a:latin typeface="Cambria Math" panose="02040503050406030204" pitchFamily="18" charset="0"/>
                      </a:rPr>
                      <m:t>&gt;0</m:t>
                    </m:r>
                  </m:oMath>
                </a14:m>
                <a:r>
                  <a:rPr lang="zh-CN" altLang="en-US" dirty="0"/>
                  <a:t>，</a:t>
                </a:r>
                <a:r>
                  <a:rPr lang="en-US" altLang="zh-CN" dirty="0"/>
                  <a:t> </a:t>
                </a:r>
                <a14:m>
                  <m:oMath xmlns:m="http://schemas.openxmlformats.org/officeDocument/2006/math">
                    <m:r>
                      <a:rPr lang="en-US" altLang="zh-CN" i="1">
                        <a:latin typeface="Cambria Math" panose="02040503050406030204" pitchFamily="18" charset="0"/>
                      </a:rPr>
                      <m:t>𝐽</m:t>
                    </m:r>
                    <m:r>
                      <a:rPr lang="en-US" altLang="zh-CN" i="1">
                        <a:latin typeface="Cambria Math" panose="02040503050406030204" pitchFamily="18" charset="0"/>
                      </a:rPr>
                      <m:t>&gt;0</m:t>
                    </m:r>
                  </m:oMath>
                </a14:m>
                <a:r>
                  <a:rPr lang="zh-CN" altLang="en-US" dirty="0"/>
                  <a:t>，</a:t>
                </a:r>
                <a:r>
                  <a:rPr lang="en-US" altLang="zh-CN" dirty="0"/>
                  <a:t> </a:t>
                </a:r>
                <a14:m>
                  <m:oMath xmlns:m="http://schemas.openxmlformats.org/officeDocument/2006/math">
                    <m:r>
                      <m:rPr>
                        <m:sty m:val="p"/>
                      </m:rPr>
                      <a:rPr lang="en-US" altLang="zh-CN" i="1" dirty="0" smtClean="0">
                        <a:latin typeface="Cambria Math" panose="02040503050406030204" pitchFamily="18" charset="0"/>
                      </a:rPr>
                      <m:t>b</m:t>
                    </m:r>
                    <m:r>
                      <a:rPr lang="en-US" altLang="zh-CN" b="0" i="1" dirty="0" smtClean="0">
                        <a:latin typeface="Cambria Math" panose="02040503050406030204" pitchFamily="18" charset="0"/>
                      </a:rPr>
                      <m:t>,  </m:t>
                    </m:r>
                    <m:r>
                      <a:rPr lang="en-US" altLang="zh-CN" i="1">
                        <a:latin typeface="Cambria Math" panose="02040503050406030204" pitchFamily="18" charset="0"/>
                      </a:rPr>
                      <m:t>𝐽</m:t>
                    </m:r>
                    <m:r>
                      <a:rPr lang="en-US" altLang="zh-CN" i="1" smtClean="0">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𝑅</m:t>
                    </m:r>
                  </m:oMath>
                </a14:m>
                <a:r>
                  <a:rPr lang="zh-CN" altLang="en-US" dirty="0"/>
                  <a:t>，极点在实轴负半轴上</a:t>
                </a:r>
                <a:endParaRPr lang="en-US" altLang="zh-CN" dirty="0"/>
              </a:p>
              <a:p>
                <a:pPr marL="0" indent="0">
                  <a:buNone/>
                </a:pPr>
                <a:r>
                  <a:rPr lang="en-US" altLang="zh-CN" dirty="0"/>
                  <a:t>b</a:t>
                </a:r>
                <a:r>
                  <a:rPr lang="zh-CN" altLang="en-US" dirty="0"/>
                  <a:t>越大，系统增益越小（相同转矩，摩擦力越大最终速度越小）</a:t>
                </a:r>
                <a:endParaRPr lang="en-US" altLang="zh-CN" dirty="0"/>
              </a:p>
              <a:p>
                <a:pPr marL="0" indent="0">
                  <a:buNone/>
                </a:pPr>
                <a14:m>
                  <m:oMath xmlns:m="http://schemas.openxmlformats.org/officeDocument/2006/math">
                    <m:f>
                      <m:fPr>
                        <m:ctrlPr>
                          <a:rPr lang="en-US" altLang="zh-SG" i="1" dirty="0" smtClean="0">
                            <a:latin typeface="Cambria Math" panose="02040503050406030204" pitchFamily="18" charset="0"/>
                          </a:rPr>
                        </m:ctrlPr>
                      </m:fPr>
                      <m:num>
                        <m:r>
                          <a:rPr lang="en-US" altLang="zh-SG" i="1" dirty="0">
                            <a:latin typeface="Cambria Math" panose="02040503050406030204" pitchFamily="18" charset="0"/>
                          </a:rPr>
                          <m:t>𝐽</m:t>
                        </m:r>
                      </m:num>
                      <m:den>
                        <m:r>
                          <a:rPr lang="en-US" altLang="zh-SG" i="1" dirty="0">
                            <a:latin typeface="Cambria Math" panose="02040503050406030204" pitchFamily="18" charset="0"/>
                          </a:rPr>
                          <m:t>𝑏</m:t>
                        </m:r>
                      </m:den>
                    </m:f>
                  </m:oMath>
                </a14:m>
                <a:r>
                  <a:rPr lang="zh-CN" altLang="en-US" dirty="0"/>
                  <a:t>越大，进入稳态的时间越长（相同转矩，惯量越大越难加速）</a:t>
                </a:r>
                <a:endParaRPr lang="en-US" altLang="zh-CN" dirty="0"/>
              </a:p>
              <a:p>
                <a:r>
                  <a:rPr lang="zh-CN" altLang="en-US" dirty="0"/>
                  <a:t>极点越靠左，动态越快。</a:t>
                </a:r>
                <a:endParaRPr lang="en-US" altLang="zh-CN" dirty="0"/>
              </a:p>
              <a:p>
                <a:r>
                  <a:rPr lang="zh-CN" altLang="en-US" dirty="0"/>
                  <a:t>思考：假如在安东星上</a:t>
                </a:r>
                <a:r>
                  <a:rPr lang="en-US" altLang="zh-CN" dirty="0"/>
                  <a:t> </a:t>
                </a:r>
                <a14:m>
                  <m:oMath xmlns:m="http://schemas.openxmlformats.org/officeDocument/2006/math">
                    <m:r>
                      <a:rPr lang="en-US" altLang="zh-CN" i="1">
                        <a:latin typeface="Cambria Math" panose="02040503050406030204" pitchFamily="18" charset="0"/>
                      </a:rPr>
                      <m:t>−</m:t>
                    </m:r>
                    <m:f>
                      <m:fPr>
                        <m:ctrlPr>
                          <a:rPr lang="en-US" altLang="zh-CN" i="1">
                            <a:latin typeface="Cambria Math" panose="02040503050406030204" pitchFamily="18" charset="0"/>
                          </a:rPr>
                        </m:ctrlPr>
                      </m:fPr>
                      <m:num>
                        <m:r>
                          <a:rPr lang="en-US" altLang="zh-CN" i="1">
                            <a:latin typeface="Cambria Math" panose="02040503050406030204" pitchFamily="18" charset="0"/>
                          </a:rPr>
                          <m:t>𝑏</m:t>
                        </m:r>
                      </m:num>
                      <m:den>
                        <m:r>
                          <a:rPr lang="en-US" altLang="zh-CN" i="1">
                            <a:latin typeface="Cambria Math" panose="02040503050406030204" pitchFamily="18" charset="0"/>
                          </a:rPr>
                          <m:t>𝐽</m:t>
                        </m:r>
                      </m:den>
                    </m:f>
                    <m:r>
                      <a:rPr lang="en-US" altLang="zh-CN" i="1">
                        <a:latin typeface="Cambria Math" panose="02040503050406030204" pitchFamily="18" charset="0"/>
                      </a:rPr>
                      <m:t>&gt;0</m:t>
                    </m:r>
                  </m:oMath>
                </a14:m>
                <a:r>
                  <a:rPr lang="zh-CN" altLang="en-US" dirty="0"/>
                  <a:t>，系统特性会怎样？</a:t>
                </a:r>
                <a:endParaRPr lang="en-US" altLang="zh-CN" dirty="0"/>
              </a:p>
            </p:txBody>
          </p:sp>
        </mc:Choice>
        <mc:Fallback xmlns="">
          <p:sp>
            <p:nvSpPr>
              <p:cNvPr id="3" name="内容占位符 2">
                <a:extLst>
                  <a:ext uri="{FF2B5EF4-FFF2-40B4-BE49-F238E27FC236}">
                    <a16:creationId xmlns:a16="http://schemas.microsoft.com/office/drawing/2014/main" id="{5B751CE6-275F-9D87-1832-A0BA0459F4E8}"/>
                  </a:ext>
                </a:extLst>
              </p:cNvPr>
              <p:cNvSpPr>
                <a:spLocks noGrp="1" noRot="1" noChangeAspect="1" noMove="1" noResize="1" noEditPoints="1" noAdjustHandles="1" noChangeArrowheads="1" noChangeShapeType="1" noTextEdit="1"/>
              </p:cNvSpPr>
              <p:nvPr>
                <p:ph idx="1"/>
              </p:nvPr>
            </p:nvSpPr>
            <p:spPr>
              <a:blipFill>
                <a:blip r:embed="rId2"/>
                <a:stretch>
                  <a:fillRect l="-1217" t="-420"/>
                </a:stretch>
              </a:blipFill>
            </p:spPr>
            <p:txBody>
              <a:bodyPr/>
              <a:lstStyle/>
              <a:p>
                <a:r>
                  <a:rPr lang="zh-SG" altLang="en-US">
                    <a:noFill/>
                  </a:rPr>
                  <a:t> </a:t>
                </a:r>
              </a:p>
            </p:txBody>
          </p:sp>
        </mc:Fallback>
      </mc:AlternateContent>
    </p:spTree>
    <p:extLst>
      <p:ext uri="{BB962C8B-B14F-4D97-AF65-F5344CB8AC3E}">
        <p14:creationId xmlns:p14="http://schemas.microsoft.com/office/powerpoint/2010/main" val="34362367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5915E33-0222-98F7-6539-E8D86FCAD373}"/>
              </a:ext>
            </a:extLst>
          </p:cNvPr>
          <p:cNvSpPr>
            <a:spLocks noGrp="1"/>
          </p:cNvSpPr>
          <p:nvPr>
            <p:ph type="title"/>
          </p:nvPr>
        </p:nvSpPr>
        <p:spPr/>
        <p:txBody>
          <a:bodyPr/>
          <a:lstStyle/>
          <a:p>
            <a:r>
              <a:rPr lang="zh-CN" altLang="en-US" dirty="0"/>
              <a:t>二阶系统模型</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70E3CCFE-EF43-CE9A-81D7-BFF9BAE429A1}"/>
                  </a:ext>
                </a:extLst>
              </p:cNvPr>
              <p:cNvSpPr>
                <a:spLocks noGrp="1"/>
              </p:cNvSpPr>
              <p:nvPr>
                <p:ph idx="1"/>
              </p:nvPr>
            </p:nvSpPr>
            <p:spPr/>
            <p:txBody>
              <a:bodyPr/>
              <a:lstStyle/>
              <a:p>
                <a:r>
                  <a:rPr lang="zh-CN" altLang="en-US" dirty="0">
                    <a:solidFill>
                      <a:schemeClr val="tx1"/>
                    </a:solidFill>
                  </a:rPr>
                  <a:t>弹簧阻尼系统，系统能量有弹性势能和动能两种储存形式</a:t>
                </a:r>
                <a:endParaRPr lang="en-US" altLang="zh-CN"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r>
                        <a:rPr lang="en-US" altLang="zh-SG" b="0" i="1" smtClean="0">
                          <a:solidFill>
                            <a:schemeClr val="tx1"/>
                          </a:solidFill>
                          <a:latin typeface="Cambria Math" panose="02040503050406030204" pitchFamily="18" charset="0"/>
                        </a:rPr>
                        <m:t>𝐹</m:t>
                      </m:r>
                      <m:r>
                        <a:rPr lang="en-US" altLang="zh-SG" b="0" i="1" smtClean="0">
                          <a:solidFill>
                            <a:schemeClr val="tx1"/>
                          </a:solidFill>
                          <a:latin typeface="Cambria Math" panose="02040503050406030204" pitchFamily="18" charset="0"/>
                        </a:rPr>
                        <m:t>=</m:t>
                      </m:r>
                      <m:r>
                        <a:rPr lang="zh-SG" altLang="en-US" i="1">
                          <a:latin typeface="Cambria Math" panose="02040503050406030204" pitchFamily="18" charset="0"/>
                        </a:rPr>
                        <m:t>𝑚</m:t>
                      </m:r>
                      <m:acc>
                        <m:accPr>
                          <m:chr m:val="̈"/>
                          <m:ctrlPr>
                            <a:rPr lang="zh-SG" altLang="en-US" i="1">
                              <a:latin typeface="Cambria Math" panose="02040503050406030204" pitchFamily="18" charset="0"/>
                            </a:rPr>
                          </m:ctrlPr>
                        </m:accPr>
                        <m:e>
                          <m:r>
                            <a:rPr lang="zh-SG" altLang="en-US" i="1">
                              <a:latin typeface="Cambria Math" panose="02040503050406030204" pitchFamily="18" charset="0"/>
                            </a:rPr>
                            <m:t>𝑥</m:t>
                          </m:r>
                        </m:e>
                      </m:acc>
                      <m:r>
                        <a:rPr lang="en-US" altLang="zh-SG" b="0" i="1" smtClean="0">
                          <a:solidFill>
                            <a:schemeClr val="tx1"/>
                          </a:solidFill>
                          <a:latin typeface="Cambria Math" panose="02040503050406030204" pitchFamily="18" charset="0"/>
                        </a:rPr>
                        <m:t>+</m:t>
                      </m:r>
                      <m:r>
                        <a:rPr lang="en-US" altLang="zh-SG" b="0" i="1" smtClean="0">
                          <a:solidFill>
                            <a:schemeClr val="tx1"/>
                          </a:solidFill>
                          <a:latin typeface="Cambria Math" panose="02040503050406030204" pitchFamily="18" charset="0"/>
                        </a:rPr>
                        <m:t>𝑐</m:t>
                      </m:r>
                      <m:acc>
                        <m:accPr>
                          <m:chr m:val="̇"/>
                          <m:ctrlPr>
                            <a:rPr lang="zh-SG" altLang="en-US" i="1" dirty="0" smtClean="0">
                              <a:solidFill>
                                <a:schemeClr val="tx1"/>
                              </a:solidFill>
                              <a:latin typeface="Cambria Math" panose="02040503050406030204" pitchFamily="18" charset="0"/>
                            </a:rPr>
                          </m:ctrlPr>
                        </m:accPr>
                        <m:e>
                          <m:r>
                            <a:rPr lang="zh-SG" altLang="en-US" i="1" dirty="0">
                              <a:solidFill>
                                <a:schemeClr val="tx1"/>
                              </a:solidFill>
                              <a:latin typeface="Cambria Math" panose="02040503050406030204" pitchFamily="18" charset="0"/>
                            </a:rPr>
                            <m:t>𝑥</m:t>
                          </m:r>
                        </m:e>
                      </m:acc>
                      <m:r>
                        <a:rPr lang="en-US" altLang="zh-SG" b="0" i="1" dirty="0" smtClean="0">
                          <a:solidFill>
                            <a:schemeClr val="tx1"/>
                          </a:solidFill>
                          <a:latin typeface="Cambria Math" panose="02040503050406030204" pitchFamily="18" charset="0"/>
                        </a:rPr>
                        <m:t>+</m:t>
                      </m:r>
                      <m:r>
                        <a:rPr lang="en-US" altLang="zh-SG" b="0" i="1" dirty="0" smtClean="0">
                          <a:solidFill>
                            <a:schemeClr val="tx1"/>
                          </a:solidFill>
                          <a:latin typeface="Cambria Math" panose="02040503050406030204" pitchFamily="18" charset="0"/>
                        </a:rPr>
                        <m:t>𝑘𝑥</m:t>
                      </m:r>
                    </m:oMath>
                  </m:oMathPara>
                </a14:m>
                <a:endParaRPr lang="en-US" altLang="zh-SG" dirty="0">
                  <a:solidFill>
                    <a:schemeClr val="tx1"/>
                  </a:solidFill>
                </a:endParaRPr>
              </a:p>
              <a:p>
                <a:pPr marL="0" indent="0">
                  <a:buNone/>
                </a:pPr>
                <a:r>
                  <a:rPr lang="zh-CN" altLang="en-US" dirty="0">
                    <a:solidFill>
                      <a:schemeClr val="tx1"/>
                    </a:solidFill>
                  </a:rPr>
                  <a:t>两边做拉氏变换，</a:t>
                </a:r>
                <a14:m>
                  <m:oMath xmlns:m="http://schemas.openxmlformats.org/officeDocument/2006/math">
                    <m:r>
                      <a:rPr lang="en-US" altLang="zh-SG" b="0" i="1" smtClean="0">
                        <a:solidFill>
                          <a:schemeClr val="tx1"/>
                        </a:solidFill>
                        <a:latin typeface="Cambria Math" panose="02040503050406030204" pitchFamily="18" charset="0"/>
                      </a:rPr>
                      <m:t>𝐹</m:t>
                    </m:r>
                    <m:d>
                      <m:dPr>
                        <m:ctrlPr>
                          <a:rPr lang="en-US" altLang="zh-SG" b="0" i="1" smtClean="0">
                            <a:solidFill>
                              <a:schemeClr val="tx1"/>
                            </a:solidFill>
                            <a:latin typeface="Cambria Math" panose="02040503050406030204" pitchFamily="18" charset="0"/>
                          </a:rPr>
                        </m:ctrlPr>
                      </m:dPr>
                      <m:e>
                        <m:r>
                          <a:rPr lang="en-US" altLang="zh-SG" b="0" i="1" smtClean="0">
                            <a:solidFill>
                              <a:schemeClr val="tx1"/>
                            </a:solidFill>
                            <a:latin typeface="Cambria Math" panose="02040503050406030204" pitchFamily="18" charset="0"/>
                          </a:rPr>
                          <m:t>𝑠</m:t>
                        </m:r>
                      </m:e>
                    </m:d>
                    <m:r>
                      <a:rPr lang="en-US" altLang="zh-SG" b="0" i="1" smtClean="0">
                        <a:solidFill>
                          <a:schemeClr val="tx1"/>
                        </a:solidFill>
                        <a:latin typeface="Cambria Math" panose="02040503050406030204" pitchFamily="18" charset="0"/>
                      </a:rPr>
                      <m:t>=</m:t>
                    </m:r>
                    <m:r>
                      <a:rPr lang="en-US" altLang="zh-SG" b="0" i="1" smtClean="0">
                        <a:solidFill>
                          <a:schemeClr val="tx1"/>
                        </a:solidFill>
                        <a:latin typeface="Cambria Math" panose="02040503050406030204" pitchFamily="18" charset="0"/>
                      </a:rPr>
                      <m:t>𝑚</m:t>
                    </m:r>
                    <m:sSup>
                      <m:sSupPr>
                        <m:ctrlPr>
                          <a:rPr lang="en-US" altLang="zh-SG" b="0" i="1" smtClean="0">
                            <a:solidFill>
                              <a:schemeClr val="tx1"/>
                            </a:solidFill>
                            <a:latin typeface="Cambria Math" panose="02040503050406030204" pitchFamily="18" charset="0"/>
                          </a:rPr>
                        </m:ctrlPr>
                      </m:sSupPr>
                      <m:e>
                        <m:r>
                          <a:rPr lang="en-US" altLang="zh-SG" b="0" i="1" smtClean="0">
                            <a:solidFill>
                              <a:schemeClr val="tx1"/>
                            </a:solidFill>
                            <a:latin typeface="Cambria Math" panose="02040503050406030204" pitchFamily="18" charset="0"/>
                          </a:rPr>
                          <m:t>𝑠</m:t>
                        </m:r>
                      </m:e>
                      <m:sup>
                        <m:r>
                          <a:rPr lang="en-US" altLang="zh-SG" b="0" i="1" smtClean="0">
                            <a:solidFill>
                              <a:schemeClr val="tx1"/>
                            </a:solidFill>
                            <a:latin typeface="Cambria Math" panose="02040503050406030204" pitchFamily="18" charset="0"/>
                          </a:rPr>
                          <m:t>2</m:t>
                        </m:r>
                      </m:sup>
                    </m:sSup>
                    <m:r>
                      <a:rPr lang="en-US" altLang="zh-SG" b="0" i="1" smtClean="0">
                        <a:solidFill>
                          <a:schemeClr val="tx1"/>
                        </a:solidFill>
                        <a:latin typeface="Cambria Math" panose="02040503050406030204" pitchFamily="18" charset="0"/>
                      </a:rPr>
                      <m:t>𝑋</m:t>
                    </m:r>
                    <m:d>
                      <m:dPr>
                        <m:ctrlPr>
                          <a:rPr lang="en-US" altLang="zh-SG" b="0" i="1" smtClean="0">
                            <a:solidFill>
                              <a:schemeClr val="tx1"/>
                            </a:solidFill>
                            <a:latin typeface="Cambria Math" panose="02040503050406030204" pitchFamily="18" charset="0"/>
                          </a:rPr>
                        </m:ctrlPr>
                      </m:dPr>
                      <m:e>
                        <m:r>
                          <a:rPr lang="en-US" altLang="zh-SG" b="0" i="1" smtClean="0">
                            <a:solidFill>
                              <a:schemeClr val="tx1"/>
                            </a:solidFill>
                            <a:latin typeface="Cambria Math" panose="02040503050406030204" pitchFamily="18" charset="0"/>
                          </a:rPr>
                          <m:t>𝑠</m:t>
                        </m:r>
                      </m:e>
                    </m:d>
                    <m:r>
                      <a:rPr lang="en-US" altLang="zh-SG" b="0" i="1" smtClean="0">
                        <a:solidFill>
                          <a:schemeClr val="tx1"/>
                        </a:solidFill>
                        <a:latin typeface="Cambria Math" panose="02040503050406030204" pitchFamily="18" charset="0"/>
                      </a:rPr>
                      <m:t>+</m:t>
                    </m:r>
                    <m:r>
                      <a:rPr lang="en-US" altLang="zh-SG" b="0" i="1" smtClean="0">
                        <a:solidFill>
                          <a:schemeClr val="tx1"/>
                        </a:solidFill>
                        <a:latin typeface="Cambria Math" panose="02040503050406030204" pitchFamily="18" charset="0"/>
                      </a:rPr>
                      <m:t>𝑐𝑠𝑋</m:t>
                    </m:r>
                    <m:d>
                      <m:dPr>
                        <m:ctrlPr>
                          <a:rPr lang="en-US" altLang="zh-SG" b="0" i="1" smtClean="0">
                            <a:solidFill>
                              <a:schemeClr val="tx1"/>
                            </a:solidFill>
                            <a:latin typeface="Cambria Math" panose="02040503050406030204" pitchFamily="18" charset="0"/>
                          </a:rPr>
                        </m:ctrlPr>
                      </m:dPr>
                      <m:e>
                        <m:r>
                          <a:rPr lang="en-US" altLang="zh-SG" b="0" i="1" smtClean="0">
                            <a:solidFill>
                              <a:schemeClr val="tx1"/>
                            </a:solidFill>
                            <a:latin typeface="Cambria Math" panose="02040503050406030204" pitchFamily="18" charset="0"/>
                          </a:rPr>
                          <m:t>𝑠</m:t>
                        </m:r>
                      </m:e>
                    </m:d>
                    <m:r>
                      <a:rPr lang="en-US" altLang="zh-SG" b="0" i="1" smtClean="0">
                        <a:solidFill>
                          <a:schemeClr val="tx1"/>
                        </a:solidFill>
                        <a:latin typeface="Cambria Math" panose="02040503050406030204" pitchFamily="18" charset="0"/>
                      </a:rPr>
                      <m:t>+</m:t>
                    </m:r>
                    <m:r>
                      <a:rPr lang="en-US" altLang="zh-SG" b="0" i="1" smtClean="0">
                        <a:solidFill>
                          <a:schemeClr val="tx1"/>
                        </a:solidFill>
                        <a:latin typeface="Cambria Math" panose="02040503050406030204" pitchFamily="18" charset="0"/>
                      </a:rPr>
                      <m:t>𝑘𝑋</m:t>
                    </m:r>
                    <m:d>
                      <m:dPr>
                        <m:ctrlPr>
                          <a:rPr lang="en-US" altLang="zh-SG" b="0" i="1" smtClean="0">
                            <a:solidFill>
                              <a:schemeClr val="tx1"/>
                            </a:solidFill>
                            <a:latin typeface="Cambria Math" panose="02040503050406030204" pitchFamily="18" charset="0"/>
                          </a:rPr>
                        </m:ctrlPr>
                      </m:dPr>
                      <m:e>
                        <m:r>
                          <a:rPr lang="en-US" altLang="zh-SG" b="0" i="1" smtClean="0">
                            <a:solidFill>
                              <a:schemeClr val="tx1"/>
                            </a:solidFill>
                            <a:latin typeface="Cambria Math" panose="02040503050406030204" pitchFamily="18" charset="0"/>
                          </a:rPr>
                          <m:t>𝑠</m:t>
                        </m:r>
                      </m:e>
                    </m:d>
                  </m:oMath>
                </a14:m>
                <a:endParaRPr lang="en-US" altLang="zh-SG" i="1"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r>
                        <a:rPr lang="en-US" altLang="zh-SG" b="0" i="1" smtClean="0">
                          <a:solidFill>
                            <a:schemeClr val="tx1"/>
                          </a:solidFill>
                          <a:latin typeface="Cambria Math" panose="02040503050406030204" pitchFamily="18" charset="0"/>
                        </a:rPr>
                        <m:t>𝐺</m:t>
                      </m:r>
                      <m:d>
                        <m:dPr>
                          <m:ctrlPr>
                            <a:rPr lang="en-US" altLang="zh-SG" b="0" i="1" smtClean="0">
                              <a:solidFill>
                                <a:schemeClr val="tx1"/>
                              </a:solidFill>
                              <a:latin typeface="Cambria Math" panose="02040503050406030204" pitchFamily="18" charset="0"/>
                            </a:rPr>
                          </m:ctrlPr>
                        </m:dPr>
                        <m:e>
                          <m:r>
                            <a:rPr lang="en-US" altLang="zh-SG" b="0" i="1" smtClean="0">
                              <a:solidFill>
                                <a:schemeClr val="tx1"/>
                              </a:solidFill>
                              <a:latin typeface="Cambria Math" panose="02040503050406030204" pitchFamily="18" charset="0"/>
                            </a:rPr>
                            <m:t>𝑠</m:t>
                          </m:r>
                        </m:e>
                      </m:d>
                      <m:r>
                        <a:rPr lang="en-US" altLang="zh-SG" b="0" i="1" smtClean="0">
                          <a:solidFill>
                            <a:schemeClr val="tx1"/>
                          </a:solidFill>
                          <a:latin typeface="Cambria Math" panose="02040503050406030204" pitchFamily="18" charset="0"/>
                        </a:rPr>
                        <m:t>=</m:t>
                      </m:r>
                      <m:f>
                        <m:fPr>
                          <m:ctrlPr>
                            <a:rPr lang="en-US" altLang="zh-SG" i="1" smtClean="0">
                              <a:solidFill>
                                <a:schemeClr val="tx1"/>
                              </a:solidFill>
                              <a:latin typeface="Cambria Math" panose="02040503050406030204" pitchFamily="18" charset="0"/>
                            </a:rPr>
                          </m:ctrlPr>
                        </m:fPr>
                        <m:num>
                          <m:r>
                            <a:rPr lang="en-US" altLang="zh-SG" b="0" i="1" smtClean="0">
                              <a:solidFill>
                                <a:schemeClr val="tx1"/>
                              </a:solidFill>
                              <a:latin typeface="Cambria Math" panose="02040503050406030204" pitchFamily="18" charset="0"/>
                            </a:rPr>
                            <m:t>1</m:t>
                          </m:r>
                        </m:num>
                        <m:den>
                          <m:r>
                            <a:rPr lang="en-US" altLang="zh-SG" i="1">
                              <a:solidFill>
                                <a:schemeClr val="tx1"/>
                              </a:solidFill>
                              <a:latin typeface="Cambria Math" panose="02040503050406030204" pitchFamily="18" charset="0"/>
                            </a:rPr>
                            <m:t>𝑚</m:t>
                          </m:r>
                          <m:sSup>
                            <m:sSupPr>
                              <m:ctrlPr>
                                <a:rPr lang="en-US" altLang="zh-SG" i="1">
                                  <a:solidFill>
                                    <a:schemeClr val="tx1"/>
                                  </a:solidFill>
                                  <a:latin typeface="Cambria Math" panose="02040503050406030204" pitchFamily="18" charset="0"/>
                                </a:rPr>
                              </m:ctrlPr>
                            </m:sSupPr>
                            <m:e>
                              <m:r>
                                <a:rPr lang="en-US" altLang="zh-SG" i="1">
                                  <a:solidFill>
                                    <a:schemeClr val="tx1"/>
                                  </a:solidFill>
                                  <a:latin typeface="Cambria Math" panose="02040503050406030204" pitchFamily="18" charset="0"/>
                                </a:rPr>
                                <m:t>𝑠</m:t>
                              </m:r>
                            </m:e>
                            <m:sup>
                              <m:r>
                                <a:rPr lang="en-US" altLang="zh-SG" i="1">
                                  <a:solidFill>
                                    <a:schemeClr val="tx1"/>
                                  </a:solidFill>
                                  <a:latin typeface="Cambria Math" panose="02040503050406030204" pitchFamily="18" charset="0"/>
                                </a:rPr>
                                <m:t>2</m:t>
                              </m:r>
                            </m:sup>
                          </m:sSup>
                          <m:r>
                            <a:rPr lang="en-US" altLang="zh-SG" i="1">
                              <a:solidFill>
                                <a:schemeClr val="tx1"/>
                              </a:solidFill>
                              <a:latin typeface="Cambria Math" panose="02040503050406030204" pitchFamily="18" charset="0"/>
                            </a:rPr>
                            <m:t>+</m:t>
                          </m:r>
                          <m:r>
                            <a:rPr lang="en-US" altLang="zh-SG" i="1">
                              <a:solidFill>
                                <a:schemeClr val="tx1"/>
                              </a:solidFill>
                              <a:latin typeface="Cambria Math" panose="02040503050406030204" pitchFamily="18" charset="0"/>
                            </a:rPr>
                            <m:t>𝑐𝑠</m:t>
                          </m:r>
                          <m:r>
                            <a:rPr lang="en-US" altLang="zh-SG" i="1">
                              <a:solidFill>
                                <a:schemeClr val="tx1"/>
                              </a:solidFill>
                              <a:latin typeface="Cambria Math" panose="02040503050406030204" pitchFamily="18" charset="0"/>
                            </a:rPr>
                            <m:t>+</m:t>
                          </m:r>
                          <m:r>
                            <a:rPr lang="en-US" altLang="zh-SG" i="1">
                              <a:solidFill>
                                <a:schemeClr val="tx1"/>
                              </a:solidFill>
                              <a:latin typeface="Cambria Math" panose="02040503050406030204" pitchFamily="18" charset="0"/>
                            </a:rPr>
                            <m:t>𝑘</m:t>
                          </m:r>
                          <m:r>
                            <m:rPr>
                              <m:nor/>
                            </m:rPr>
                            <a:rPr lang="zh-SG" altLang="en-US" i="1" dirty="0">
                              <a:solidFill>
                                <a:schemeClr val="tx1"/>
                              </a:solidFill>
                            </a:rPr>
                            <m:t> </m:t>
                          </m:r>
                        </m:den>
                      </m:f>
                    </m:oMath>
                  </m:oMathPara>
                </a14:m>
                <a:endParaRPr lang="en-US" altLang="zh-SG" i="1" dirty="0">
                  <a:solidFill>
                    <a:schemeClr val="tx1"/>
                  </a:solidFill>
                </a:endParaRPr>
              </a:p>
              <a:p>
                <a:pPr marL="0" indent="0">
                  <a:buNone/>
                </a:pPr>
                <a:r>
                  <a:rPr lang="zh-CN" altLang="en-US" dirty="0">
                    <a:solidFill>
                      <a:schemeClr val="tx1"/>
                    </a:solidFill>
                  </a:rPr>
                  <a:t>转化成二阶系统的标准形式</a:t>
                </a:r>
                <a14:m>
                  <m:oMath xmlns:m="http://schemas.openxmlformats.org/officeDocument/2006/math">
                    <m:r>
                      <a:rPr lang="en-US" altLang="zh-SG" b="0" i="1" smtClean="0">
                        <a:solidFill>
                          <a:schemeClr val="tx1"/>
                        </a:solidFill>
                        <a:latin typeface="Cambria Math" panose="02040503050406030204" pitchFamily="18" charset="0"/>
                      </a:rPr>
                      <m:t>𝐺</m:t>
                    </m:r>
                    <m:d>
                      <m:dPr>
                        <m:ctrlPr>
                          <a:rPr lang="en-US" altLang="zh-SG" b="0" i="1" smtClean="0">
                            <a:solidFill>
                              <a:schemeClr val="tx1"/>
                            </a:solidFill>
                            <a:latin typeface="Cambria Math" panose="02040503050406030204" pitchFamily="18" charset="0"/>
                          </a:rPr>
                        </m:ctrlPr>
                      </m:dPr>
                      <m:e>
                        <m:r>
                          <a:rPr lang="en-US" altLang="zh-SG" b="0" i="1" smtClean="0">
                            <a:solidFill>
                              <a:schemeClr val="tx1"/>
                            </a:solidFill>
                            <a:latin typeface="Cambria Math" panose="02040503050406030204" pitchFamily="18" charset="0"/>
                          </a:rPr>
                          <m:t>𝑠</m:t>
                        </m:r>
                      </m:e>
                    </m:d>
                    <m:r>
                      <a:rPr lang="en-US" altLang="zh-SG" b="0" i="1" smtClean="0">
                        <a:solidFill>
                          <a:schemeClr val="tx1"/>
                        </a:solidFill>
                        <a:latin typeface="Cambria Math" panose="02040503050406030204" pitchFamily="18" charset="0"/>
                      </a:rPr>
                      <m:t>=</m:t>
                    </m:r>
                    <m:f>
                      <m:fPr>
                        <m:ctrlPr>
                          <a:rPr lang="en-US" altLang="zh-SG" i="1" smtClean="0">
                            <a:solidFill>
                              <a:schemeClr val="tx1"/>
                            </a:solidFill>
                            <a:latin typeface="Cambria Math" panose="02040503050406030204" pitchFamily="18" charset="0"/>
                          </a:rPr>
                        </m:ctrlPr>
                      </m:fPr>
                      <m:num>
                        <m:sSubSup>
                          <m:sSubSupPr>
                            <m:ctrlPr>
                              <a:rPr lang="en-US" altLang="zh-SG" i="1">
                                <a:solidFill>
                                  <a:schemeClr val="tx1"/>
                                </a:solidFill>
                                <a:latin typeface="Cambria Math" panose="02040503050406030204" pitchFamily="18" charset="0"/>
                              </a:rPr>
                            </m:ctrlPr>
                          </m:sSubSupPr>
                          <m:e>
                            <m:r>
                              <a:rPr lang="zh-SG" altLang="en-US" i="1">
                                <a:solidFill>
                                  <a:schemeClr val="tx1"/>
                                </a:solidFill>
                                <a:latin typeface="Cambria Math" panose="02040503050406030204" pitchFamily="18" charset="0"/>
                              </a:rPr>
                              <m:t>𝜔</m:t>
                            </m:r>
                          </m:e>
                          <m:sub>
                            <m:r>
                              <a:rPr lang="en-US" altLang="zh-SG" i="1">
                                <a:solidFill>
                                  <a:schemeClr val="tx1"/>
                                </a:solidFill>
                                <a:latin typeface="Cambria Math" panose="02040503050406030204" pitchFamily="18" charset="0"/>
                              </a:rPr>
                              <m:t>𝑛</m:t>
                            </m:r>
                          </m:sub>
                          <m:sup>
                            <m:r>
                              <a:rPr lang="en-US" altLang="zh-SG" i="1">
                                <a:solidFill>
                                  <a:schemeClr val="tx1"/>
                                </a:solidFill>
                                <a:latin typeface="Cambria Math" panose="02040503050406030204" pitchFamily="18" charset="0"/>
                              </a:rPr>
                              <m:t>2</m:t>
                            </m:r>
                          </m:sup>
                        </m:sSubSup>
                      </m:num>
                      <m:den>
                        <m:sSup>
                          <m:sSupPr>
                            <m:ctrlPr>
                              <a:rPr lang="en-US" altLang="zh-SG" i="1">
                                <a:solidFill>
                                  <a:schemeClr val="tx1"/>
                                </a:solidFill>
                                <a:latin typeface="Cambria Math" panose="02040503050406030204" pitchFamily="18" charset="0"/>
                              </a:rPr>
                            </m:ctrlPr>
                          </m:sSupPr>
                          <m:e>
                            <m:r>
                              <a:rPr lang="en-US" altLang="zh-SG" i="1">
                                <a:solidFill>
                                  <a:schemeClr val="tx1"/>
                                </a:solidFill>
                                <a:latin typeface="Cambria Math" panose="02040503050406030204" pitchFamily="18" charset="0"/>
                              </a:rPr>
                              <m:t>𝑠</m:t>
                            </m:r>
                          </m:e>
                          <m:sup>
                            <m:r>
                              <a:rPr lang="en-US" altLang="zh-SG" i="1">
                                <a:solidFill>
                                  <a:schemeClr val="tx1"/>
                                </a:solidFill>
                                <a:latin typeface="Cambria Math" panose="02040503050406030204" pitchFamily="18" charset="0"/>
                              </a:rPr>
                              <m:t>2</m:t>
                            </m:r>
                          </m:sup>
                        </m:sSup>
                        <m:r>
                          <a:rPr lang="en-US" altLang="zh-SG" i="1">
                            <a:solidFill>
                              <a:schemeClr val="tx1"/>
                            </a:solidFill>
                            <a:latin typeface="Cambria Math" panose="02040503050406030204" pitchFamily="18" charset="0"/>
                          </a:rPr>
                          <m:t>+</m:t>
                        </m:r>
                        <m:r>
                          <a:rPr lang="en-US" altLang="zh-SG" b="0" i="1" smtClean="0">
                            <a:solidFill>
                              <a:schemeClr val="tx1"/>
                            </a:solidFill>
                            <a:latin typeface="Cambria Math" panose="02040503050406030204" pitchFamily="18" charset="0"/>
                          </a:rPr>
                          <m:t>2</m:t>
                        </m:r>
                        <m:r>
                          <m:rPr>
                            <m:sty m:val="p"/>
                          </m:rPr>
                          <a:rPr lang="el-GR" altLang="zh-SG" b="0" i="1" smtClean="0">
                            <a:solidFill>
                              <a:schemeClr val="tx1"/>
                            </a:solidFill>
                            <a:latin typeface="Cambria Math" panose="02040503050406030204" pitchFamily="18" charset="0"/>
                          </a:rPr>
                          <m:t>ζ</m:t>
                        </m:r>
                        <m:sSub>
                          <m:sSubPr>
                            <m:ctrlPr>
                              <a:rPr lang="el-GR" altLang="zh-SG" b="0" i="1" smtClean="0">
                                <a:solidFill>
                                  <a:schemeClr val="tx1"/>
                                </a:solidFill>
                                <a:latin typeface="Cambria Math" panose="02040503050406030204" pitchFamily="18" charset="0"/>
                              </a:rPr>
                            </m:ctrlPr>
                          </m:sSubPr>
                          <m:e>
                            <m:r>
                              <a:rPr lang="zh-SG" altLang="el-GR" b="0" i="1" smtClean="0">
                                <a:solidFill>
                                  <a:schemeClr val="tx1"/>
                                </a:solidFill>
                                <a:latin typeface="Cambria Math" panose="02040503050406030204" pitchFamily="18" charset="0"/>
                              </a:rPr>
                              <m:t>𝜔</m:t>
                            </m:r>
                          </m:e>
                          <m:sub>
                            <m:r>
                              <m:rPr>
                                <m:sty m:val="p"/>
                              </m:rPr>
                              <a:rPr lang="en-US" altLang="zh-CN" i="1">
                                <a:solidFill>
                                  <a:schemeClr val="tx1"/>
                                </a:solidFill>
                                <a:latin typeface="Cambria Math" panose="02040503050406030204" pitchFamily="18" charset="0"/>
                              </a:rPr>
                              <m:t>n</m:t>
                            </m:r>
                          </m:sub>
                        </m:sSub>
                        <m:r>
                          <a:rPr lang="en-US" altLang="zh-SG" i="1">
                            <a:solidFill>
                              <a:schemeClr val="tx1"/>
                            </a:solidFill>
                            <a:latin typeface="Cambria Math" panose="02040503050406030204" pitchFamily="18" charset="0"/>
                          </a:rPr>
                          <m:t>𝑠</m:t>
                        </m:r>
                        <m:r>
                          <a:rPr lang="en-US" altLang="zh-SG" i="1">
                            <a:solidFill>
                              <a:schemeClr val="tx1"/>
                            </a:solidFill>
                            <a:latin typeface="Cambria Math" panose="02040503050406030204" pitchFamily="18" charset="0"/>
                          </a:rPr>
                          <m:t>+</m:t>
                        </m:r>
                        <m:sSubSup>
                          <m:sSubSupPr>
                            <m:ctrlPr>
                              <a:rPr lang="en-US" altLang="zh-SG" i="1" smtClean="0">
                                <a:solidFill>
                                  <a:schemeClr val="tx1"/>
                                </a:solidFill>
                                <a:latin typeface="Cambria Math" panose="02040503050406030204" pitchFamily="18" charset="0"/>
                              </a:rPr>
                            </m:ctrlPr>
                          </m:sSubSupPr>
                          <m:e>
                            <m:r>
                              <a:rPr lang="zh-SG" altLang="en-US" i="1" smtClean="0">
                                <a:solidFill>
                                  <a:schemeClr val="tx1"/>
                                </a:solidFill>
                                <a:latin typeface="Cambria Math" panose="02040503050406030204" pitchFamily="18" charset="0"/>
                              </a:rPr>
                              <m:t>𝜔</m:t>
                            </m:r>
                          </m:e>
                          <m:sub>
                            <m:r>
                              <a:rPr lang="en-US" altLang="zh-SG" b="0" i="1" smtClean="0">
                                <a:solidFill>
                                  <a:schemeClr val="tx1"/>
                                </a:solidFill>
                                <a:latin typeface="Cambria Math" panose="02040503050406030204" pitchFamily="18" charset="0"/>
                              </a:rPr>
                              <m:t>𝑛</m:t>
                            </m:r>
                          </m:sub>
                          <m:sup>
                            <m:r>
                              <a:rPr lang="en-US" altLang="zh-SG" b="0" i="1" smtClean="0">
                                <a:solidFill>
                                  <a:schemeClr val="tx1"/>
                                </a:solidFill>
                                <a:latin typeface="Cambria Math" panose="02040503050406030204" pitchFamily="18" charset="0"/>
                              </a:rPr>
                              <m:t>2</m:t>
                            </m:r>
                          </m:sup>
                        </m:sSubSup>
                      </m:den>
                    </m:f>
                  </m:oMath>
                </a14:m>
                <a:endParaRPr lang="en-US" altLang="zh-SG" dirty="0">
                  <a:solidFill>
                    <a:schemeClr val="tx1"/>
                  </a:solidFill>
                </a:endParaRPr>
              </a:p>
              <a:p>
                <a:pPr marL="0" indent="0">
                  <a:buNone/>
                </a:pPr>
                <a:r>
                  <a:rPr lang="zh-CN" altLang="en-US" dirty="0">
                    <a:solidFill>
                      <a:schemeClr val="tx1"/>
                    </a:solidFill>
                  </a:rPr>
                  <a:t>此时</a:t>
                </a:r>
                <a14:m>
                  <m:oMath xmlns:m="http://schemas.openxmlformats.org/officeDocument/2006/math">
                    <m:sSub>
                      <m:sSubPr>
                        <m:ctrlPr>
                          <a:rPr lang="el-GR" altLang="zh-SG" b="0" i="1" smtClean="0">
                            <a:solidFill>
                              <a:schemeClr val="tx1"/>
                            </a:solidFill>
                            <a:latin typeface="Cambria Math" panose="02040503050406030204" pitchFamily="18" charset="0"/>
                          </a:rPr>
                        </m:ctrlPr>
                      </m:sSubPr>
                      <m:e>
                        <m:r>
                          <a:rPr lang="zh-SG" altLang="el-GR" b="0" i="1" smtClean="0">
                            <a:solidFill>
                              <a:schemeClr val="tx1"/>
                            </a:solidFill>
                            <a:latin typeface="Cambria Math" panose="02040503050406030204" pitchFamily="18" charset="0"/>
                          </a:rPr>
                          <m:t>𝜔</m:t>
                        </m:r>
                      </m:e>
                      <m:sub>
                        <m:r>
                          <m:rPr>
                            <m:sty m:val="p"/>
                          </m:rPr>
                          <a:rPr lang="en-US" altLang="zh-CN" i="1">
                            <a:solidFill>
                              <a:schemeClr val="tx1"/>
                            </a:solidFill>
                            <a:latin typeface="Cambria Math" panose="02040503050406030204" pitchFamily="18" charset="0"/>
                          </a:rPr>
                          <m:t>n</m:t>
                        </m:r>
                      </m:sub>
                    </m:sSub>
                    <m:r>
                      <a:rPr lang="en-US" altLang="zh-CN" b="0" i="1" smtClean="0">
                        <a:solidFill>
                          <a:schemeClr val="tx1"/>
                        </a:solidFill>
                        <a:latin typeface="Cambria Math" panose="02040503050406030204" pitchFamily="18" charset="0"/>
                      </a:rPr>
                      <m:t>=</m:t>
                    </m:r>
                    <m:rad>
                      <m:radPr>
                        <m:degHide m:val="on"/>
                        <m:ctrlPr>
                          <a:rPr lang="en-US" altLang="zh-SG" i="1" dirty="0" smtClean="0">
                            <a:solidFill>
                              <a:schemeClr val="tx1"/>
                            </a:solidFill>
                            <a:latin typeface="Cambria Math" panose="02040503050406030204" pitchFamily="18" charset="0"/>
                          </a:rPr>
                        </m:ctrlPr>
                      </m:radPr>
                      <m:deg/>
                      <m:e>
                        <m:f>
                          <m:fPr>
                            <m:ctrlPr>
                              <a:rPr lang="en-US" altLang="zh-SG" i="1" dirty="0">
                                <a:solidFill>
                                  <a:schemeClr val="tx1"/>
                                </a:solidFill>
                                <a:latin typeface="Cambria Math" panose="02040503050406030204" pitchFamily="18" charset="0"/>
                              </a:rPr>
                            </m:ctrlPr>
                          </m:fPr>
                          <m:num>
                            <m:r>
                              <a:rPr lang="en-US" altLang="zh-SG" i="1" dirty="0">
                                <a:solidFill>
                                  <a:schemeClr val="tx1"/>
                                </a:solidFill>
                                <a:latin typeface="Cambria Math" panose="02040503050406030204" pitchFamily="18" charset="0"/>
                              </a:rPr>
                              <m:t>𝑘</m:t>
                            </m:r>
                          </m:num>
                          <m:den>
                            <m:r>
                              <a:rPr lang="en-US" altLang="zh-SG" i="1" dirty="0">
                                <a:solidFill>
                                  <a:schemeClr val="tx1"/>
                                </a:solidFill>
                                <a:latin typeface="Cambria Math" panose="02040503050406030204" pitchFamily="18" charset="0"/>
                              </a:rPr>
                              <m:t>𝑚</m:t>
                            </m:r>
                          </m:den>
                        </m:f>
                      </m:e>
                    </m:rad>
                  </m:oMath>
                </a14:m>
                <a:r>
                  <a:rPr lang="zh-CN" altLang="en-US" dirty="0">
                    <a:solidFill>
                      <a:schemeClr val="tx1"/>
                    </a:solidFill>
                  </a:rPr>
                  <a:t>，称为自然频率；</a:t>
                </a:r>
                <a14:m>
                  <m:oMath xmlns:m="http://schemas.openxmlformats.org/officeDocument/2006/math">
                    <m:r>
                      <m:rPr>
                        <m:sty m:val="p"/>
                      </m:rPr>
                      <a:rPr lang="el-GR" altLang="zh-SG" i="1">
                        <a:solidFill>
                          <a:schemeClr val="tx1"/>
                        </a:solidFill>
                        <a:latin typeface="Cambria Math" panose="02040503050406030204" pitchFamily="18" charset="0"/>
                      </a:rPr>
                      <m:t>ζ</m:t>
                    </m:r>
                    <m:r>
                      <a:rPr lang="en-US" altLang="zh-SG" b="0" i="1" smtClean="0">
                        <a:solidFill>
                          <a:schemeClr val="tx1"/>
                        </a:solidFill>
                        <a:latin typeface="Cambria Math" panose="02040503050406030204" pitchFamily="18" charset="0"/>
                      </a:rPr>
                      <m:t>=</m:t>
                    </m:r>
                    <m:f>
                      <m:fPr>
                        <m:ctrlPr>
                          <a:rPr lang="en-US" altLang="zh-SG" b="0" i="1" smtClean="0">
                            <a:solidFill>
                              <a:schemeClr val="tx1"/>
                            </a:solidFill>
                            <a:latin typeface="Cambria Math" panose="02040503050406030204" pitchFamily="18" charset="0"/>
                          </a:rPr>
                        </m:ctrlPr>
                      </m:fPr>
                      <m:num>
                        <m:r>
                          <m:rPr>
                            <m:sty m:val="p"/>
                          </m:rPr>
                          <a:rPr lang="en-US" altLang="zh-CN" i="1">
                            <a:solidFill>
                              <a:schemeClr val="tx1"/>
                            </a:solidFill>
                            <a:latin typeface="Cambria Math" panose="02040503050406030204" pitchFamily="18" charset="0"/>
                          </a:rPr>
                          <m:t>c</m:t>
                        </m:r>
                      </m:num>
                      <m:den>
                        <m:r>
                          <a:rPr lang="en-US" altLang="zh-SG" b="0" i="1" smtClean="0">
                            <a:solidFill>
                              <a:schemeClr val="tx1"/>
                            </a:solidFill>
                            <a:latin typeface="Cambria Math" panose="02040503050406030204" pitchFamily="18" charset="0"/>
                          </a:rPr>
                          <m:t>2</m:t>
                        </m:r>
                        <m:rad>
                          <m:radPr>
                            <m:degHide m:val="on"/>
                            <m:ctrlPr>
                              <a:rPr lang="en-US" altLang="zh-SG" b="0" i="1" smtClean="0">
                                <a:solidFill>
                                  <a:schemeClr val="tx1"/>
                                </a:solidFill>
                                <a:latin typeface="Cambria Math" panose="02040503050406030204" pitchFamily="18" charset="0"/>
                              </a:rPr>
                            </m:ctrlPr>
                          </m:radPr>
                          <m:deg/>
                          <m:e>
                            <m:r>
                              <a:rPr lang="en-US" altLang="zh-SG" b="0" i="1" smtClean="0">
                                <a:solidFill>
                                  <a:schemeClr val="tx1"/>
                                </a:solidFill>
                                <a:latin typeface="Cambria Math" panose="02040503050406030204" pitchFamily="18" charset="0"/>
                              </a:rPr>
                              <m:t>𝑘𝑚</m:t>
                            </m:r>
                          </m:e>
                        </m:rad>
                      </m:den>
                    </m:f>
                  </m:oMath>
                </a14:m>
                <a:r>
                  <a:rPr lang="zh-CN" altLang="en-US" dirty="0">
                    <a:solidFill>
                      <a:schemeClr val="tx1"/>
                    </a:solidFill>
                  </a:rPr>
                  <a:t>，称为阻尼比</a:t>
                </a:r>
                <a:endParaRPr lang="en-US" altLang="zh-SG" dirty="0">
                  <a:solidFill>
                    <a:schemeClr val="tx1"/>
                  </a:solidFill>
                </a:endParaRPr>
              </a:p>
            </p:txBody>
          </p:sp>
        </mc:Choice>
        <mc:Fallback xmlns="">
          <p:sp>
            <p:nvSpPr>
              <p:cNvPr id="3" name="内容占位符 2">
                <a:extLst>
                  <a:ext uri="{FF2B5EF4-FFF2-40B4-BE49-F238E27FC236}">
                    <a16:creationId xmlns:a16="http://schemas.microsoft.com/office/drawing/2014/main" id="{70E3CCFE-EF43-CE9A-81D7-BFF9BAE429A1}"/>
                  </a:ext>
                </a:extLst>
              </p:cNvPr>
              <p:cNvSpPr>
                <a:spLocks noGrp="1" noRot="1" noChangeAspect="1" noMove="1" noResize="1" noEditPoints="1" noAdjustHandles="1" noChangeArrowheads="1" noChangeShapeType="1" noTextEdit="1"/>
              </p:cNvSpPr>
              <p:nvPr>
                <p:ph idx="1"/>
              </p:nvPr>
            </p:nvSpPr>
            <p:spPr>
              <a:blipFill>
                <a:blip r:embed="rId2"/>
                <a:stretch>
                  <a:fillRect l="-1217" t="-2521"/>
                </a:stretch>
              </a:blipFill>
            </p:spPr>
            <p:txBody>
              <a:bodyPr/>
              <a:lstStyle/>
              <a:p>
                <a:r>
                  <a:rPr lang="zh-SG" altLang="en-US">
                    <a:noFill/>
                  </a:rPr>
                  <a:t> </a:t>
                </a:r>
              </a:p>
            </p:txBody>
          </p:sp>
        </mc:Fallback>
      </mc:AlternateContent>
    </p:spTree>
    <p:extLst>
      <p:ext uri="{BB962C8B-B14F-4D97-AF65-F5344CB8AC3E}">
        <p14:creationId xmlns:p14="http://schemas.microsoft.com/office/powerpoint/2010/main" val="8316628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DB19D0E-5464-3F7E-0EEC-6B656FEF7974}"/>
              </a:ext>
            </a:extLst>
          </p:cNvPr>
          <p:cNvSpPr>
            <a:spLocks noGrp="1"/>
          </p:cNvSpPr>
          <p:nvPr>
            <p:ph type="title"/>
          </p:nvPr>
        </p:nvSpPr>
        <p:spPr>
          <a:xfrm>
            <a:off x="838200" y="0"/>
            <a:ext cx="10515600" cy="1325563"/>
          </a:xfrm>
        </p:spPr>
        <p:txBody>
          <a:bodyPr/>
          <a:lstStyle/>
          <a:p>
            <a:r>
              <a:rPr lang="zh-CN" altLang="en-US" dirty="0"/>
              <a:t>二阶系统的极点</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31F3542A-3B9E-09E4-5508-430670557A10}"/>
                  </a:ext>
                </a:extLst>
              </p:cNvPr>
              <p:cNvSpPr>
                <a:spLocks noGrp="1"/>
              </p:cNvSpPr>
              <p:nvPr>
                <p:ph idx="1"/>
              </p:nvPr>
            </p:nvSpPr>
            <p:spPr>
              <a:xfrm>
                <a:off x="838200" y="1325563"/>
                <a:ext cx="10515600" cy="5032376"/>
              </a:xfrm>
            </p:spPr>
            <p:txBody>
              <a:bodyPr>
                <a:normAutofit/>
              </a:bodyPr>
              <a:lstStyle/>
              <a:p>
                <a:r>
                  <a:rPr lang="zh-CN" altLang="en-US" dirty="0"/>
                  <a:t>当</a:t>
                </a:r>
                <a14:m>
                  <m:oMath xmlns:m="http://schemas.openxmlformats.org/officeDocument/2006/math">
                    <m:r>
                      <a:rPr lang="en-US" altLang="zh-SG" b="0" i="0" smtClean="0">
                        <a:latin typeface="Cambria Math" panose="02040503050406030204" pitchFamily="18" charset="0"/>
                      </a:rPr>
                      <m:t>0&lt;</m:t>
                    </m:r>
                    <m:r>
                      <m:rPr>
                        <m:sty m:val="p"/>
                      </m:rPr>
                      <a:rPr lang="el-GR" altLang="zh-SG" i="1">
                        <a:latin typeface="Cambria Math" panose="02040503050406030204" pitchFamily="18" charset="0"/>
                      </a:rPr>
                      <m:t>ζ</m:t>
                    </m:r>
                    <m:r>
                      <a:rPr lang="en-US" altLang="zh-SG" b="0" i="1" smtClean="0">
                        <a:latin typeface="Cambria Math" panose="02040503050406030204" pitchFamily="18" charset="0"/>
                      </a:rPr>
                      <m:t>&lt;1</m:t>
                    </m:r>
                  </m:oMath>
                </a14:m>
                <a:r>
                  <a:rPr lang="zh-CN" altLang="en-US" dirty="0"/>
                  <a:t>时，系统称为欠阻尼</a:t>
                </a:r>
                <a:endParaRPr lang="en-US" altLang="zh-CN" dirty="0"/>
              </a:p>
              <a:p>
                <a:pPr marL="0" indent="0">
                  <a:buNone/>
                </a:pPr>
                <a14:m>
                  <m:oMath xmlns:m="http://schemas.openxmlformats.org/officeDocument/2006/math">
                    <m:sSup>
                      <m:sSupPr>
                        <m:ctrlPr>
                          <a:rPr lang="en-US" altLang="zh-SG" i="1">
                            <a:latin typeface="Cambria Math" panose="02040503050406030204" pitchFamily="18" charset="0"/>
                          </a:rPr>
                        </m:ctrlPr>
                      </m:sSupPr>
                      <m:e>
                        <m:r>
                          <a:rPr lang="en-US" altLang="zh-SG" i="1">
                            <a:latin typeface="Cambria Math" panose="02040503050406030204" pitchFamily="18" charset="0"/>
                          </a:rPr>
                          <m:t>𝑠</m:t>
                        </m:r>
                      </m:e>
                      <m:sup>
                        <m:r>
                          <a:rPr lang="en-US" altLang="zh-SG" i="1">
                            <a:latin typeface="Cambria Math" panose="02040503050406030204" pitchFamily="18" charset="0"/>
                          </a:rPr>
                          <m:t>2</m:t>
                        </m:r>
                      </m:sup>
                    </m:sSup>
                    <m:r>
                      <a:rPr lang="en-US" altLang="zh-SG" i="1">
                        <a:latin typeface="Cambria Math" panose="02040503050406030204" pitchFamily="18" charset="0"/>
                      </a:rPr>
                      <m:t>+2</m:t>
                    </m:r>
                    <m:r>
                      <m:rPr>
                        <m:sty m:val="p"/>
                      </m:rPr>
                      <a:rPr lang="el-GR" altLang="zh-SG" i="1">
                        <a:latin typeface="Cambria Math" panose="02040503050406030204" pitchFamily="18" charset="0"/>
                      </a:rPr>
                      <m:t>ζ</m:t>
                    </m:r>
                    <m:sSub>
                      <m:sSubPr>
                        <m:ctrlPr>
                          <a:rPr lang="el-GR" altLang="zh-SG" i="1">
                            <a:latin typeface="Cambria Math" panose="02040503050406030204" pitchFamily="18" charset="0"/>
                          </a:rPr>
                        </m:ctrlPr>
                      </m:sSubPr>
                      <m:e>
                        <m:r>
                          <a:rPr lang="zh-SG" altLang="el-GR" i="1">
                            <a:latin typeface="Cambria Math" panose="02040503050406030204" pitchFamily="18" charset="0"/>
                          </a:rPr>
                          <m:t>𝜔</m:t>
                        </m:r>
                      </m:e>
                      <m:sub>
                        <m:r>
                          <m:rPr>
                            <m:sty m:val="p"/>
                          </m:rPr>
                          <a:rPr lang="en-US" altLang="zh-CN" i="1">
                            <a:latin typeface="Cambria Math" panose="02040503050406030204" pitchFamily="18" charset="0"/>
                          </a:rPr>
                          <m:t>n</m:t>
                        </m:r>
                      </m:sub>
                    </m:sSub>
                    <m:r>
                      <a:rPr lang="en-US" altLang="zh-SG" i="1">
                        <a:latin typeface="Cambria Math" panose="02040503050406030204" pitchFamily="18" charset="0"/>
                      </a:rPr>
                      <m:t>𝑠</m:t>
                    </m:r>
                    <m:r>
                      <a:rPr lang="en-US" altLang="zh-SG" i="1">
                        <a:latin typeface="Cambria Math" panose="02040503050406030204" pitchFamily="18" charset="0"/>
                      </a:rPr>
                      <m:t>+</m:t>
                    </m:r>
                    <m:sSubSup>
                      <m:sSubSupPr>
                        <m:ctrlPr>
                          <a:rPr lang="en-US" altLang="zh-SG" i="1">
                            <a:latin typeface="Cambria Math" panose="02040503050406030204" pitchFamily="18" charset="0"/>
                          </a:rPr>
                        </m:ctrlPr>
                      </m:sSubSupPr>
                      <m:e>
                        <m:r>
                          <a:rPr lang="zh-SG" altLang="en-US" i="1">
                            <a:latin typeface="Cambria Math" panose="02040503050406030204" pitchFamily="18" charset="0"/>
                          </a:rPr>
                          <m:t>𝜔</m:t>
                        </m:r>
                      </m:e>
                      <m:sub>
                        <m:r>
                          <a:rPr lang="en-US" altLang="zh-SG" i="1">
                            <a:latin typeface="Cambria Math" panose="02040503050406030204" pitchFamily="18" charset="0"/>
                          </a:rPr>
                          <m:t>𝑛</m:t>
                        </m:r>
                      </m:sub>
                      <m:sup>
                        <m:r>
                          <a:rPr lang="en-US" altLang="zh-SG" i="1">
                            <a:latin typeface="Cambria Math" panose="02040503050406030204" pitchFamily="18" charset="0"/>
                          </a:rPr>
                          <m:t>2</m:t>
                        </m:r>
                      </m:sup>
                    </m:sSubSup>
                    <m:r>
                      <a:rPr lang="en-US" altLang="zh-SG" i="1">
                        <a:latin typeface="Cambria Math" panose="02040503050406030204" pitchFamily="18" charset="0"/>
                      </a:rPr>
                      <m:t>=0</m:t>
                    </m:r>
                  </m:oMath>
                </a14:m>
                <a:r>
                  <a:rPr lang="zh-CN" altLang="en-US" dirty="0"/>
                  <a:t>，由求根公式得</a:t>
                </a:r>
                <a14:m>
                  <m:oMath xmlns:m="http://schemas.openxmlformats.org/officeDocument/2006/math">
                    <m:sSub>
                      <m:sSubPr>
                        <m:ctrlPr>
                          <a:rPr lang="en-US" altLang="zh-CN" i="1" smtClean="0">
                            <a:latin typeface="Cambria Math" panose="02040503050406030204" pitchFamily="18" charset="0"/>
                          </a:rPr>
                        </m:ctrlPr>
                      </m:sSubPr>
                      <m:e>
                        <m:r>
                          <a:rPr lang="en-US" altLang="zh-CN" b="0" i="1" smtClean="0">
                            <a:latin typeface="Cambria Math" panose="02040503050406030204" pitchFamily="18" charset="0"/>
                          </a:rPr>
                          <m:t>𝑝</m:t>
                        </m:r>
                      </m:e>
                      <m:sub>
                        <m:r>
                          <a:rPr lang="en-US" altLang="zh-CN" b="0" i="1" smtClean="0">
                            <a:latin typeface="Cambria Math" panose="02040503050406030204" pitchFamily="18" charset="0"/>
                          </a:rPr>
                          <m:t>1,2</m:t>
                        </m:r>
                      </m:sub>
                    </m:sSub>
                    <m:r>
                      <a:rPr lang="en-US" altLang="zh-CN" b="0" i="1" smtClean="0">
                        <a:latin typeface="Cambria Math" panose="02040503050406030204" pitchFamily="18" charset="0"/>
                      </a:rPr>
                      <m:t>=−</m:t>
                    </m:r>
                    <m:r>
                      <m:rPr>
                        <m:sty m:val="p"/>
                      </m:rPr>
                      <a:rPr lang="el-GR" altLang="zh-SG" i="1">
                        <a:latin typeface="Cambria Math" panose="02040503050406030204" pitchFamily="18" charset="0"/>
                      </a:rPr>
                      <m:t>ζ</m:t>
                    </m:r>
                    <m:sSub>
                      <m:sSubPr>
                        <m:ctrlPr>
                          <a:rPr lang="el-GR" altLang="zh-SG" i="1">
                            <a:latin typeface="Cambria Math" panose="02040503050406030204" pitchFamily="18" charset="0"/>
                          </a:rPr>
                        </m:ctrlPr>
                      </m:sSubPr>
                      <m:e>
                        <m:r>
                          <a:rPr lang="zh-SG" altLang="el-GR" i="1">
                            <a:latin typeface="Cambria Math" panose="02040503050406030204" pitchFamily="18" charset="0"/>
                          </a:rPr>
                          <m:t>𝜔</m:t>
                        </m:r>
                      </m:e>
                      <m:sub>
                        <m:r>
                          <m:rPr>
                            <m:sty m:val="p"/>
                          </m:rPr>
                          <a:rPr lang="en-US" altLang="zh-CN" i="1">
                            <a:latin typeface="Cambria Math" panose="02040503050406030204" pitchFamily="18" charset="0"/>
                          </a:rPr>
                          <m:t>n</m:t>
                        </m:r>
                      </m:sub>
                    </m:sSub>
                    <m:r>
                      <a:rPr lang="en-US" altLang="zh-CN" i="1">
                        <a:latin typeface="Cambria Math" panose="02040503050406030204" pitchFamily="18" charset="0"/>
                        <a:ea typeface="Cambria Math" panose="02040503050406030204" pitchFamily="18" charset="0"/>
                      </a:rPr>
                      <m:t>±</m:t>
                    </m:r>
                    <m:r>
                      <a:rPr lang="en-US" altLang="zh-CN" b="0" i="1" smtClean="0">
                        <a:latin typeface="Cambria Math" panose="02040503050406030204" pitchFamily="18" charset="0"/>
                        <a:ea typeface="Cambria Math" panose="02040503050406030204" pitchFamily="18" charset="0"/>
                      </a:rPr>
                      <m:t>𝑗</m:t>
                    </m:r>
                    <m:sSub>
                      <m:sSubPr>
                        <m:ctrlPr>
                          <a:rPr lang="el-GR" altLang="zh-SG" i="1">
                            <a:latin typeface="Cambria Math" panose="02040503050406030204" pitchFamily="18" charset="0"/>
                          </a:rPr>
                        </m:ctrlPr>
                      </m:sSubPr>
                      <m:e>
                        <m:r>
                          <a:rPr lang="zh-SG" altLang="el-GR" i="1">
                            <a:latin typeface="Cambria Math" panose="02040503050406030204" pitchFamily="18" charset="0"/>
                          </a:rPr>
                          <m:t>𝜔</m:t>
                        </m:r>
                      </m:e>
                      <m:sub>
                        <m:r>
                          <m:rPr>
                            <m:sty m:val="p"/>
                          </m:rPr>
                          <a:rPr lang="en-US" altLang="zh-CN" i="1">
                            <a:latin typeface="Cambria Math" panose="02040503050406030204" pitchFamily="18" charset="0"/>
                          </a:rPr>
                          <m:t>n</m:t>
                        </m:r>
                      </m:sub>
                    </m:sSub>
                    <m:rad>
                      <m:radPr>
                        <m:degHide m:val="on"/>
                        <m:ctrlPr>
                          <a:rPr lang="en-US" altLang="zh-CN" i="1" smtClean="0">
                            <a:latin typeface="Cambria Math" panose="02040503050406030204" pitchFamily="18" charset="0"/>
                          </a:rPr>
                        </m:ctrlPr>
                      </m:radPr>
                      <m:deg/>
                      <m:e>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1−</m:t>
                            </m:r>
                            <m:r>
                              <m:rPr>
                                <m:sty m:val="p"/>
                              </m:rPr>
                              <a:rPr lang="el-GR" altLang="zh-SG" i="1">
                                <a:latin typeface="Cambria Math" panose="02040503050406030204" pitchFamily="18" charset="0"/>
                              </a:rPr>
                              <m:t>ζ</m:t>
                            </m:r>
                          </m:e>
                          <m:sup>
                            <m:r>
                              <a:rPr lang="en-US" altLang="zh-CN" b="0" i="1" smtClean="0">
                                <a:latin typeface="Cambria Math" panose="02040503050406030204" pitchFamily="18" charset="0"/>
                              </a:rPr>
                              <m:t>2</m:t>
                            </m:r>
                          </m:sup>
                        </m:sSup>
                      </m:e>
                    </m:rad>
                  </m:oMath>
                </a14:m>
                <a:endParaRPr lang="en-US" altLang="zh-SG" i="1" dirty="0">
                  <a:latin typeface="Cambria Math" panose="02040503050406030204" pitchFamily="18" charset="0"/>
                </a:endParaRPr>
              </a:p>
              <a:p>
                <a:pPr marL="0" indent="0">
                  <a:buNone/>
                </a:pPr>
                <a:r>
                  <a:rPr lang="zh-CN" altLang="en-US" dirty="0"/>
                  <a:t>阶跃响应的时域方程为</a:t>
                </a:r>
                <a:endParaRPr lang="en-US" altLang="zh-CN" dirty="0"/>
              </a:p>
              <a:p>
                <a:pPr marL="0" indent="0">
                  <a:buNone/>
                </a:pPr>
                <a14:m>
                  <m:oMathPara xmlns:m="http://schemas.openxmlformats.org/officeDocument/2006/math">
                    <m:oMathParaPr>
                      <m:jc m:val="centerGroup"/>
                    </m:oMathParaPr>
                    <m:oMath xmlns:m="http://schemas.openxmlformats.org/officeDocument/2006/math">
                      <m:r>
                        <a:rPr lang="en-US" altLang="zh-CN" i="1">
                          <a:latin typeface="Cambria Math" panose="02040503050406030204" pitchFamily="18" charset="0"/>
                        </a:rPr>
                        <m:t>1−</m:t>
                      </m:r>
                      <m:sSup>
                        <m:sSupPr>
                          <m:ctrlPr>
                            <a:rPr lang="en-US" altLang="zh-CN" i="1">
                              <a:latin typeface="Cambria Math" panose="02040503050406030204" pitchFamily="18" charset="0"/>
                            </a:rPr>
                          </m:ctrlPr>
                        </m:sSupPr>
                        <m:e>
                          <m:r>
                            <m:rPr>
                              <m:sty m:val="p"/>
                            </m:rPr>
                            <a:rPr lang="en-US" altLang="zh-CN" i="1">
                              <a:latin typeface="Cambria Math" panose="02040503050406030204" pitchFamily="18" charset="0"/>
                            </a:rPr>
                            <m:t>e</m:t>
                          </m:r>
                        </m:e>
                        <m:sup>
                          <m:r>
                            <a:rPr lang="en-US" altLang="zh-CN" i="1">
                              <a:latin typeface="Cambria Math" panose="02040503050406030204" pitchFamily="18" charset="0"/>
                            </a:rPr>
                            <m:t>−</m:t>
                          </m:r>
                          <m:r>
                            <m:rPr>
                              <m:sty m:val="p"/>
                            </m:rPr>
                            <a:rPr lang="el-GR" altLang="zh-SG" i="1">
                              <a:latin typeface="Cambria Math" panose="02040503050406030204" pitchFamily="18" charset="0"/>
                            </a:rPr>
                            <m:t>ζ</m:t>
                          </m:r>
                          <m:sSub>
                            <m:sSubPr>
                              <m:ctrlPr>
                                <a:rPr lang="el-GR" altLang="zh-SG" i="1">
                                  <a:latin typeface="Cambria Math" panose="02040503050406030204" pitchFamily="18" charset="0"/>
                                </a:rPr>
                              </m:ctrlPr>
                            </m:sSubPr>
                            <m:e>
                              <m:r>
                                <a:rPr lang="zh-SG" altLang="el-GR" i="1">
                                  <a:latin typeface="Cambria Math" panose="02040503050406030204" pitchFamily="18" charset="0"/>
                                </a:rPr>
                                <m:t>𝜔</m:t>
                              </m:r>
                            </m:e>
                            <m:sub>
                              <m:r>
                                <m:rPr>
                                  <m:sty m:val="p"/>
                                </m:rPr>
                                <a:rPr lang="en-US" altLang="zh-CN" i="1">
                                  <a:latin typeface="Cambria Math" panose="02040503050406030204" pitchFamily="18" charset="0"/>
                                </a:rPr>
                                <m:t>n</m:t>
                              </m:r>
                            </m:sub>
                          </m:sSub>
                          <m:r>
                            <a:rPr lang="en-US" altLang="zh-CN" i="1">
                              <a:latin typeface="Cambria Math" panose="02040503050406030204" pitchFamily="18" charset="0"/>
                            </a:rPr>
                            <m:t>𝑡</m:t>
                          </m:r>
                        </m:sup>
                      </m:sSup>
                      <m:rad>
                        <m:radPr>
                          <m:degHide m:val="on"/>
                          <m:ctrlPr>
                            <a:rPr lang="en-US" altLang="zh-CN" i="1">
                              <a:latin typeface="Cambria Math" panose="02040503050406030204" pitchFamily="18" charset="0"/>
                            </a:rPr>
                          </m:ctrlPr>
                        </m:radPr>
                        <m:deg/>
                        <m:e>
                          <m:f>
                            <m:fPr>
                              <m:ctrlPr>
                                <a:rPr lang="en-US" altLang="zh-CN" i="1">
                                  <a:latin typeface="Cambria Math" panose="02040503050406030204" pitchFamily="18" charset="0"/>
                                </a:rPr>
                              </m:ctrlPr>
                            </m:fPr>
                            <m:num>
                              <m:r>
                                <a:rPr lang="en-US" altLang="zh-CN" i="1">
                                  <a:latin typeface="Cambria Math" panose="02040503050406030204" pitchFamily="18" charset="0"/>
                                </a:rPr>
                                <m:t>1</m:t>
                              </m:r>
                            </m:num>
                            <m:den>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m:rPr>
                                      <m:sty m:val="p"/>
                                    </m:rPr>
                                    <a:rPr lang="el-GR" altLang="zh-SG" i="1">
                                      <a:latin typeface="Cambria Math" panose="02040503050406030204" pitchFamily="18" charset="0"/>
                                    </a:rPr>
                                    <m:t>ζ</m:t>
                                  </m:r>
                                </m:e>
                                <m:sup>
                                  <m:r>
                                    <a:rPr lang="en-US" altLang="zh-CN" i="1">
                                      <a:latin typeface="Cambria Math" panose="02040503050406030204" pitchFamily="18" charset="0"/>
                                    </a:rPr>
                                    <m:t>2</m:t>
                                  </m:r>
                                </m:sup>
                              </m:sSup>
                            </m:den>
                          </m:f>
                        </m:e>
                      </m:rad>
                      <m:r>
                        <m:rPr>
                          <m:sty m:val="p"/>
                        </m:rPr>
                        <a:rPr lang="en-US" altLang="zh-CN" i="1">
                          <a:latin typeface="Cambria Math" panose="02040503050406030204" pitchFamily="18" charset="0"/>
                        </a:rPr>
                        <m:t>sin</m:t>
                      </m:r>
                      <m:r>
                        <a:rPr lang="en-US" altLang="zh-CN" i="1">
                          <a:latin typeface="Cambria Math" panose="02040503050406030204" pitchFamily="18" charset="0"/>
                        </a:rPr>
                        <m:t>⁡[</m:t>
                      </m:r>
                      <m:sSub>
                        <m:sSubPr>
                          <m:ctrlPr>
                            <a:rPr lang="el-GR" altLang="zh-SG" i="1">
                              <a:latin typeface="Cambria Math" panose="02040503050406030204" pitchFamily="18" charset="0"/>
                            </a:rPr>
                          </m:ctrlPr>
                        </m:sSubPr>
                        <m:e>
                          <m:r>
                            <a:rPr lang="zh-SG" altLang="el-GR" i="1">
                              <a:latin typeface="Cambria Math" panose="02040503050406030204" pitchFamily="18" charset="0"/>
                            </a:rPr>
                            <m:t>𝜔</m:t>
                          </m:r>
                        </m:e>
                        <m:sub>
                          <m:r>
                            <m:rPr>
                              <m:sty m:val="p"/>
                            </m:rPr>
                            <a:rPr lang="en-US" altLang="zh-CN" i="1">
                              <a:latin typeface="Cambria Math" panose="02040503050406030204" pitchFamily="18" charset="0"/>
                            </a:rPr>
                            <m:t>n</m:t>
                          </m:r>
                        </m:sub>
                      </m:sSub>
                      <m:rad>
                        <m:radPr>
                          <m:degHide m:val="on"/>
                          <m:ctrlPr>
                            <a:rPr lang="en-US" altLang="zh-CN" i="1">
                              <a:latin typeface="Cambria Math" panose="02040503050406030204" pitchFamily="18" charset="0"/>
                            </a:rPr>
                          </m:ctrlPr>
                        </m:radPr>
                        <m:deg/>
                        <m:e>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m:rPr>
                                  <m:sty m:val="p"/>
                                </m:rPr>
                                <a:rPr lang="el-GR" altLang="zh-SG" i="1">
                                  <a:latin typeface="Cambria Math" panose="02040503050406030204" pitchFamily="18" charset="0"/>
                                </a:rPr>
                                <m:t>ζ</m:t>
                              </m:r>
                            </m:e>
                            <m:sup>
                              <m:r>
                                <a:rPr lang="en-US" altLang="zh-CN" i="1">
                                  <a:latin typeface="Cambria Math" panose="02040503050406030204" pitchFamily="18" charset="0"/>
                                </a:rPr>
                                <m:t>2</m:t>
                              </m:r>
                            </m:sup>
                          </m:sSup>
                        </m:e>
                      </m:rad>
                      <m:r>
                        <a:rPr lang="en-US" altLang="zh-CN" b="0" i="1" smtClean="0">
                          <a:latin typeface="Cambria Math" panose="02040503050406030204" pitchFamily="18" charset="0"/>
                        </a:rPr>
                        <m:t>𝑡</m:t>
                      </m:r>
                      <m:r>
                        <a:rPr lang="en-US" altLang="zh-CN" b="0" i="1" smtClean="0">
                          <a:latin typeface="Cambria Math" panose="02040503050406030204" pitchFamily="18" charset="0"/>
                        </a:rPr>
                        <m:t>+</m:t>
                      </m:r>
                      <m:r>
                        <m:rPr>
                          <m:sty m:val="p"/>
                        </m:rPr>
                        <a:rPr lang="en-US" altLang="zh-CN">
                          <a:latin typeface="Cambria Math" panose="02040503050406030204" pitchFamily="18" charset="0"/>
                        </a:rPr>
                        <m:t>arctan</m:t>
                      </m:r>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ad>
                            <m:radPr>
                              <m:degHide m:val="on"/>
                              <m:ctrlPr>
                                <a:rPr lang="en-US" altLang="zh-CN" i="1">
                                  <a:latin typeface="Cambria Math" panose="02040503050406030204" pitchFamily="18" charset="0"/>
                                </a:rPr>
                              </m:ctrlPr>
                            </m:radPr>
                            <m:deg/>
                            <m:e>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m:rPr>
                                      <m:sty m:val="p"/>
                                    </m:rPr>
                                    <a:rPr lang="el-GR" altLang="zh-SG" i="1">
                                      <a:latin typeface="Cambria Math" panose="02040503050406030204" pitchFamily="18" charset="0"/>
                                    </a:rPr>
                                    <m:t>ζ</m:t>
                                  </m:r>
                                </m:e>
                                <m:sup>
                                  <m:r>
                                    <a:rPr lang="en-US" altLang="zh-CN" i="1">
                                      <a:latin typeface="Cambria Math" panose="02040503050406030204" pitchFamily="18" charset="0"/>
                                    </a:rPr>
                                    <m:t>2</m:t>
                                  </m:r>
                                </m:sup>
                              </m:sSup>
                            </m:e>
                          </m:rad>
                        </m:num>
                        <m:den>
                          <m:r>
                            <m:rPr>
                              <m:sty m:val="p"/>
                            </m:rPr>
                            <a:rPr lang="el-GR" altLang="zh-SG" i="1">
                              <a:latin typeface="Cambria Math" panose="02040503050406030204" pitchFamily="18" charset="0"/>
                            </a:rPr>
                            <m:t>ζ</m:t>
                          </m:r>
                        </m:den>
                      </m:f>
                      <m:r>
                        <a:rPr lang="en-US" altLang="zh-CN" b="0" i="1" smtClean="0">
                          <a:latin typeface="Cambria Math" panose="02040503050406030204" pitchFamily="18" charset="0"/>
                        </a:rPr>
                        <m:t>)]</m:t>
                      </m:r>
                    </m:oMath>
                  </m:oMathPara>
                </a14:m>
                <a:endParaRPr lang="en-US" altLang="zh-SG" i="1" dirty="0">
                  <a:latin typeface="Cambria Math" panose="02040503050406030204" pitchFamily="18" charset="0"/>
                </a:endParaRPr>
              </a:p>
              <a:p>
                <a:pPr marL="0" indent="0">
                  <a:buNone/>
                </a:pPr>
                <a14:m>
                  <m:oMath xmlns:m="http://schemas.openxmlformats.org/officeDocument/2006/math">
                    <m:sSub>
                      <m:sSubPr>
                        <m:ctrlPr>
                          <a:rPr lang="el-GR" altLang="zh-SG" i="1" smtClean="0">
                            <a:latin typeface="Cambria Math" panose="02040503050406030204" pitchFamily="18" charset="0"/>
                          </a:rPr>
                        </m:ctrlPr>
                      </m:sSubPr>
                      <m:e>
                        <m:r>
                          <a:rPr lang="zh-SG" altLang="el-GR" i="1">
                            <a:latin typeface="Cambria Math" panose="02040503050406030204" pitchFamily="18" charset="0"/>
                          </a:rPr>
                          <m:t>𝜔</m:t>
                        </m:r>
                      </m:e>
                      <m:sub>
                        <m:r>
                          <m:rPr>
                            <m:sty m:val="p"/>
                          </m:rPr>
                          <a:rPr lang="en-US" altLang="zh-CN" i="1">
                            <a:latin typeface="Cambria Math" panose="02040503050406030204" pitchFamily="18" charset="0"/>
                          </a:rPr>
                          <m:t>n</m:t>
                        </m:r>
                      </m:sub>
                    </m:sSub>
                    <m:rad>
                      <m:radPr>
                        <m:degHide m:val="on"/>
                        <m:ctrlPr>
                          <a:rPr lang="en-US" altLang="zh-CN" i="1" smtClean="0">
                            <a:latin typeface="Cambria Math" panose="02040503050406030204" pitchFamily="18" charset="0"/>
                          </a:rPr>
                        </m:ctrlPr>
                      </m:radPr>
                      <m:deg/>
                      <m:e>
                        <m:sSup>
                          <m:sSupPr>
                            <m:ctrlPr>
                              <a:rPr lang="en-US" altLang="zh-CN" i="1" smtClean="0">
                                <a:latin typeface="Cambria Math" panose="02040503050406030204" pitchFamily="18" charset="0"/>
                              </a:rPr>
                            </m:ctrlPr>
                          </m:sSupPr>
                          <m:e>
                            <m:r>
                              <a:rPr lang="en-US" altLang="zh-CN" b="0" i="1" smtClean="0">
                                <a:latin typeface="Cambria Math" panose="02040503050406030204" pitchFamily="18" charset="0"/>
                              </a:rPr>
                              <m:t>1−</m:t>
                            </m:r>
                            <m:r>
                              <m:rPr>
                                <m:sty m:val="p"/>
                              </m:rPr>
                              <a:rPr lang="el-GR" altLang="zh-SG" i="1">
                                <a:latin typeface="Cambria Math" panose="02040503050406030204" pitchFamily="18" charset="0"/>
                              </a:rPr>
                              <m:t>ζ</m:t>
                            </m:r>
                          </m:e>
                          <m:sup>
                            <m:r>
                              <a:rPr lang="en-US" altLang="zh-CN" b="0" i="1" smtClean="0">
                                <a:latin typeface="Cambria Math" panose="02040503050406030204" pitchFamily="18" charset="0"/>
                              </a:rPr>
                              <m:t>2</m:t>
                            </m:r>
                          </m:sup>
                        </m:sSup>
                      </m:e>
                    </m:rad>
                  </m:oMath>
                </a14:m>
                <a:r>
                  <a:rPr lang="zh-CN" altLang="en-US" dirty="0"/>
                  <a:t>越大，系统实际振荡的频率越大，记为阻尼频率</a:t>
                </a:r>
                <a14:m>
                  <m:oMath xmlns:m="http://schemas.openxmlformats.org/officeDocument/2006/math">
                    <m:sSub>
                      <m:sSubPr>
                        <m:ctrlPr>
                          <a:rPr lang="en-US" altLang="zh-CN" i="1" smtClean="0">
                            <a:latin typeface="Cambria Math" panose="02040503050406030204" pitchFamily="18" charset="0"/>
                          </a:rPr>
                        </m:ctrlPr>
                      </m:sSubPr>
                      <m:e>
                        <m:r>
                          <a:rPr lang="zh-CN" altLang="en-US" i="1" smtClean="0">
                            <a:latin typeface="Cambria Math" panose="02040503050406030204" pitchFamily="18" charset="0"/>
                          </a:rPr>
                          <m:t>𝜔</m:t>
                        </m:r>
                      </m:e>
                      <m:sub>
                        <m:r>
                          <m:rPr>
                            <m:sty m:val="p"/>
                          </m:rPr>
                          <a:rPr lang="en-US" altLang="zh-CN" i="1">
                            <a:latin typeface="Cambria Math" panose="02040503050406030204" pitchFamily="18" charset="0"/>
                          </a:rPr>
                          <m:t>d</m:t>
                        </m:r>
                      </m:sub>
                    </m:sSub>
                  </m:oMath>
                </a14:m>
                <a:endParaRPr lang="en-US" altLang="zh-SG" i="1" dirty="0">
                  <a:latin typeface="Cambria Math" panose="02040503050406030204" pitchFamily="18" charset="0"/>
                </a:endParaRPr>
              </a:p>
              <a:p>
                <a:pPr marL="0" indent="0">
                  <a:buNone/>
                </a:pPr>
                <a14:m>
                  <m:oMath xmlns:m="http://schemas.openxmlformats.org/officeDocument/2006/math">
                    <m:r>
                      <a:rPr lang="en-US" altLang="zh-CN" b="0" i="1" smtClean="0">
                        <a:latin typeface="Cambria Math" panose="02040503050406030204" pitchFamily="18" charset="0"/>
                      </a:rPr>
                      <m:t>−</m:t>
                    </m:r>
                    <m:r>
                      <m:rPr>
                        <m:sty m:val="p"/>
                      </m:rPr>
                      <a:rPr lang="el-GR" altLang="zh-SG" i="1">
                        <a:latin typeface="Cambria Math" panose="02040503050406030204" pitchFamily="18" charset="0"/>
                      </a:rPr>
                      <m:t>ζ</m:t>
                    </m:r>
                    <m:sSub>
                      <m:sSubPr>
                        <m:ctrlPr>
                          <a:rPr lang="el-GR" altLang="zh-SG" i="1">
                            <a:latin typeface="Cambria Math" panose="02040503050406030204" pitchFamily="18" charset="0"/>
                          </a:rPr>
                        </m:ctrlPr>
                      </m:sSubPr>
                      <m:e>
                        <m:r>
                          <a:rPr lang="zh-SG" altLang="el-GR" i="1">
                            <a:latin typeface="Cambria Math" panose="02040503050406030204" pitchFamily="18" charset="0"/>
                          </a:rPr>
                          <m:t>𝜔</m:t>
                        </m:r>
                      </m:e>
                      <m:sub>
                        <m:r>
                          <m:rPr>
                            <m:sty m:val="p"/>
                          </m:rPr>
                          <a:rPr lang="en-US" altLang="zh-CN" i="1">
                            <a:latin typeface="Cambria Math" panose="02040503050406030204" pitchFamily="18" charset="0"/>
                          </a:rPr>
                          <m:t>n</m:t>
                        </m:r>
                      </m:sub>
                    </m:sSub>
                  </m:oMath>
                </a14:m>
                <a:r>
                  <a:rPr lang="zh-CN" altLang="en-US" dirty="0"/>
                  <a:t>越靠左，振荡幅度的衰减越快</a:t>
                </a:r>
                <a:endParaRPr lang="en-US" altLang="zh-CN" dirty="0"/>
              </a:p>
              <a:p>
                <a:pPr marL="0" indent="0">
                  <a:buNone/>
                </a:pPr>
                <a:r>
                  <a:rPr lang="zh-CN" altLang="en-US" dirty="0"/>
                  <a:t>我们发现：二阶系统的共轭复数极点</a:t>
                </a:r>
                <a14:m>
                  <m:oMath xmlns:m="http://schemas.openxmlformats.org/officeDocument/2006/math">
                    <m:r>
                      <m:rPr>
                        <m:nor/>
                      </m:rPr>
                      <a:rPr lang="en-US" altLang="zh-CN" i="1" dirty="0">
                        <a:latin typeface="Cambria Math" panose="02040503050406030204" pitchFamily="18" charset="0"/>
                      </a:rPr>
                      <m:t>s</m:t>
                    </m:r>
                    <m:r>
                      <m:rPr>
                        <m:nor/>
                      </m:rPr>
                      <a:rPr lang="en-US" altLang="zh-CN" i="1" dirty="0">
                        <a:latin typeface="Cambria Math" panose="02040503050406030204" pitchFamily="18" charset="0"/>
                      </a:rPr>
                      <m:t>=−</m:t>
                    </m:r>
                    <m:r>
                      <m:rPr>
                        <m:nor/>
                      </m:rPr>
                      <a:rPr lang="en-US" altLang="zh-CN" i="1" dirty="0">
                        <a:latin typeface="Cambria Math" panose="02040503050406030204" pitchFamily="18" charset="0"/>
                      </a:rPr>
                      <m:t>σ</m:t>
                    </m:r>
                    <m:r>
                      <m:rPr>
                        <m:nor/>
                      </m:rPr>
                      <a:rPr lang="en-US" altLang="zh-CN" i="1" dirty="0">
                        <a:latin typeface="Cambria Math" panose="02040503050406030204" pitchFamily="18" charset="0"/>
                      </a:rPr>
                      <m:t>±</m:t>
                    </m:r>
                    <m:r>
                      <m:rPr>
                        <m:nor/>
                      </m:rPr>
                      <a:rPr lang="en-US" altLang="zh-CN" i="1" dirty="0">
                        <a:latin typeface="Cambria Math" panose="02040503050406030204" pitchFamily="18" charset="0"/>
                      </a:rPr>
                      <m:t>j</m:t>
                    </m:r>
                    <m:sSub>
                      <m:sSubPr>
                        <m:ctrlPr>
                          <a:rPr lang="en-US" altLang="zh-CN" i="1">
                            <a:latin typeface="Cambria Math" panose="02040503050406030204" pitchFamily="18" charset="0"/>
                          </a:rPr>
                        </m:ctrlPr>
                      </m:sSubPr>
                      <m:e>
                        <m:r>
                          <a:rPr lang="zh-CN" altLang="en-US" i="1">
                            <a:latin typeface="Cambria Math" panose="02040503050406030204" pitchFamily="18" charset="0"/>
                          </a:rPr>
                          <m:t>𝜔</m:t>
                        </m:r>
                      </m:e>
                      <m:sub>
                        <m:r>
                          <m:rPr>
                            <m:sty m:val="p"/>
                          </m:rPr>
                          <a:rPr lang="en-US" altLang="zh-CN" i="1">
                            <a:latin typeface="Cambria Math" panose="02040503050406030204" pitchFamily="18" charset="0"/>
                          </a:rPr>
                          <m:t>d</m:t>
                        </m:r>
                      </m:sub>
                    </m:sSub>
                  </m:oMath>
                </a14:m>
                <a:r>
                  <a:rPr lang="zh-CN" altLang="en-US" dirty="0"/>
                  <a:t>代表振荡。实部</a:t>
                </a:r>
                <a:r>
                  <a:rPr lang="en-US" altLang="zh-CN" i="1" dirty="0">
                    <a:latin typeface="Cambria Math" panose="02040503050406030204" pitchFamily="18" charset="0"/>
                  </a:rPr>
                  <a:t>σ </a:t>
                </a:r>
                <a:r>
                  <a:rPr lang="zh-CN" altLang="en-US" dirty="0"/>
                  <a:t>决定振荡衰减的速度，虚部</a:t>
                </a:r>
                <a14:m>
                  <m:oMath xmlns:m="http://schemas.openxmlformats.org/officeDocument/2006/math">
                    <m:sSub>
                      <m:sSubPr>
                        <m:ctrlPr>
                          <a:rPr lang="en-US" altLang="zh-CN" i="1" smtClean="0">
                            <a:latin typeface="Cambria Math" panose="02040503050406030204" pitchFamily="18" charset="0"/>
                          </a:rPr>
                        </m:ctrlPr>
                      </m:sSubPr>
                      <m:e>
                        <m:r>
                          <a:rPr lang="zh-CN" altLang="en-US" i="1">
                            <a:latin typeface="Cambria Math" panose="02040503050406030204" pitchFamily="18" charset="0"/>
                          </a:rPr>
                          <m:t>𝜔</m:t>
                        </m:r>
                      </m:e>
                      <m:sub>
                        <m:r>
                          <m:rPr>
                            <m:sty m:val="p"/>
                          </m:rPr>
                          <a:rPr lang="en-US" altLang="zh-CN" i="1">
                            <a:latin typeface="Cambria Math" panose="02040503050406030204" pitchFamily="18" charset="0"/>
                          </a:rPr>
                          <m:t>d</m:t>
                        </m:r>
                      </m:sub>
                    </m:sSub>
                  </m:oMath>
                </a14:m>
                <a:r>
                  <a:rPr lang="zh-CN" altLang="en-US" dirty="0"/>
                  <a:t>决定振荡频率。</a:t>
                </a:r>
              </a:p>
            </p:txBody>
          </p:sp>
        </mc:Choice>
        <mc:Fallback xmlns="">
          <p:sp>
            <p:nvSpPr>
              <p:cNvPr id="3" name="内容占位符 2">
                <a:extLst>
                  <a:ext uri="{FF2B5EF4-FFF2-40B4-BE49-F238E27FC236}">
                    <a16:creationId xmlns:a16="http://schemas.microsoft.com/office/drawing/2014/main" id="{31F3542A-3B9E-09E4-5508-430670557A10}"/>
                  </a:ext>
                </a:extLst>
              </p:cNvPr>
              <p:cNvSpPr>
                <a:spLocks noGrp="1" noRot="1" noChangeAspect="1" noMove="1" noResize="1" noEditPoints="1" noAdjustHandles="1" noChangeArrowheads="1" noChangeShapeType="1" noTextEdit="1"/>
              </p:cNvSpPr>
              <p:nvPr>
                <p:ph idx="1"/>
              </p:nvPr>
            </p:nvSpPr>
            <p:spPr>
              <a:xfrm>
                <a:off x="838200" y="1325563"/>
                <a:ext cx="10515600" cy="5032376"/>
              </a:xfrm>
              <a:blipFill>
                <a:blip r:embed="rId2"/>
                <a:stretch>
                  <a:fillRect l="-1217" t="-2179"/>
                </a:stretch>
              </a:blipFill>
            </p:spPr>
            <p:txBody>
              <a:bodyPr/>
              <a:lstStyle/>
              <a:p>
                <a:r>
                  <a:rPr lang="zh-SG" altLang="en-US">
                    <a:noFill/>
                  </a:rPr>
                  <a:t> </a:t>
                </a:r>
              </a:p>
            </p:txBody>
          </p:sp>
        </mc:Fallback>
      </mc:AlternateContent>
    </p:spTree>
    <p:extLst>
      <p:ext uri="{BB962C8B-B14F-4D97-AF65-F5344CB8AC3E}">
        <p14:creationId xmlns:p14="http://schemas.microsoft.com/office/powerpoint/2010/main" val="5066329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CCC3B21-BDD8-C17B-BBBF-E28FE800FD2B}"/>
              </a:ext>
            </a:extLst>
          </p:cNvPr>
          <p:cNvSpPr>
            <a:spLocks noGrp="1"/>
          </p:cNvSpPr>
          <p:nvPr>
            <p:ph type="title"/>
          </p:nvPr>
        </p:nvSpPr>
        <p:spPr>
          <a:xfrm>
            <a:off x="838200" y="0"/>
            <a:ext cx="10515600" cy="1325563"/>
          </a:xfrm>
        </p:spPr>
        <p:txBody>
          <a:bodyPr/>
          <a:lstStyle/>
          <a:p>
            <a:r>
              <a:rPr lang="zh-CN" altLang="en-US" dirty="0"/>
              <a:t>从方程推出响应特征</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B28A32B3-954D-EF05-467D-1651EF116AC1}"/>
                  </a:ext>
                </a:extLst>
              </p:cNvPr>
              <p:cNvSpPr>
                <a:spLocks noGrp="1"/>
              </p:cNvSpPr>
              <p:nvPr>
                <p:ph idx="1"/>
              </p:nvPr>
            </p:nvSpPr>
            <p:spPr>
              <a:xfrm>
                <a:off x="838200" y="1325563"/>
                <a:ext cx="10515600" cy="5532437"/>
              </a:xfrm>
            </p:spPr>
            <p:txBody>
              <a:bodyPr>
                <a:normAutofit/>
              </a:bodyPr>
              <a:lstStyle/>
              <a:p>
                <a:r>
                  <a:rPr lang="zh-CN" altLang="en-US" dirty="0"/>
                  <a:t>超调量在第一个极大值取到</a:t>
                </a:r>
                <a:endParaRPr lang="en-US" altLang="zh-CN" dirty="0"/>
              </a:p>
              <a:p>
                <a:pPr lvl="1"/>
                <a14:m>
                  <m:oMath xmlns:m="http://schemas.openxmlformats.org/officeDocument/2006/math">
                    <m:sSub>
                      <m:sSubPr>
                        <m:ctrlPr>
                          <a:rPr lang="zh-CN" altLang="en-US" i="1" smtClean="0">
                            <a:solidFill>
                              <a:schemeClr val="tx1"/>
                            </a:solidFill>
                            <a:latin typeface="Cambria Math" panose="02040503050406030204" pitchFamily="18" charset="0"/>
                          </a:rPr>
                        </m:ctrlPr>
                      </m:sSubPr>
                      <m:e>
                        <m:r>
                          <m:rPr>
                            <m:sty m:val="p"/>
                          </m:rPr>
                          <a:rPr lang="en-US" altLang="zh-CN" i="1">
                            <a:solidFill>
                              <a:schemeClr val="tx1"/>
                            </a:solidFill>
                            <a:latin typeface="Cambria Math" panose="02040503050406030204" pitchFamily="18" charset="0"/>
                          </a:rPr>
                          <m:t>M</m:t>
                        </m:r>
                      </m:e>
                      <m:sub>
                        <m:r>
                          <a:rPr lang="zh-CN" altLang="en-US" i="1" smtClean="0">
                            <a:solidFill>
                              <a:schemeClr val="tx1"/>
                            </a:solidFill>
                            <a:latin typeface="Cambria Math" panose="02040503050406030204" pitchFamily="18" charset="0"/>
                          </a:rPr>
                          <m:t>𝑃</m:t>
                        </m:r>
                      </m:sub>
                    </m:sSub>
                    <m:r>
                      <a:rPr lang="en-US" altLang="zh-CN" b="0" i="1" smtClean="0">
                        <a:solidFill>
                          <a:schemeClr val="tx1"/>
                        </a:solidFill>
                        <a:latin typeface="Cambria Math" panose="02040503050406030204" pitchFamily="18" charset="0"/>
                      </a:rPr>
                      <m:t>=</m:t>
                    </m:r>
                    <m:sSup>
                      <m:sSupPr>
                        <m:ctrlPr>
                          <a:rPr lang="en-US" altLang="zh-CN" b="0" i="1" smtClean="0">
                            <a:solidFill>
                              <a:schemeClr val="tx1"/>
                            </a:solidFill>
                            <a:latin typeface="Cambria Math" panose="02040503050406030204" pitchFamily="18" charset="0"/>
                          </a:rPr>
                        </m:ctrlPr>
                      </m:sSupPr>
                      <m:e>
                        <m:r>
                          <m:rPr>
                            <m:sty m:val="p"/>
                          </m:rPr>
                          <a:rPr lang="en-US" altLang="zh-CN" i="1">
                            <a:latin typeface="Cambria Math" panose="02040503050406030204" pitchFamily="18" charset="0"/>
                          </a:rPr>
                          <m:t>e</m:t>
                        </m:r>
                      </m:e>
                      <m:sup>
                        <m:r>
                          <a:rPr lang="en-US" altLang="zh-CN" b="0" i="1" smtClean="0">
                            <a:solidFill>
                              <a:schemeClr val="tx1"/>
                            </a:solidFill>
                            <a:latin typeface="Cambria Math" panose="02040503050406030204" pitchFamily="18" charset="0"/>
                          </a:rPr>
                          <m:t>−</m:t>
                        </m:r>
                        <m:f>
                          <m:fPr>
                            <m:ctrlPr>
                              <a:rPr lang="en-US" altLang="zh-CN" b="0" i="1" smtClean="0">
                                <a:solidFill>
                                  <a:schemeClr val="tx1"/>
                                </a:solidFill>
                                <a:latin typeface="Cambria Math" panose="02040503050406030204" pitchFamily="18" charset="0"/>
                              </a:rPr>
                            </m:ctrlPr>
                          </m:fPr>
                          <m:num>
                            <m:r>
                              <a:rPr lang="zh-CN" altLang="en-US" b="0" i="1" smtClean="0">
                                <a:solidFill>
                                  <a:schemeClr val="tx1"/>
                                </a:solidFill>
                                <a:latin typeface="Cambria Math" panose="02040503050406030204" pitchFamily="18" charset="0"/>
                              </a:rPr>
                              <m:t>𝜋</m:t>
                            </m:r>
                            <m:r>
                              <m:rPr>
                                <m:sty m:val="p"/>
                              </m:rPr>
                              <a:rPr lang="el-GR" altLang="zh-SG" i="1">
                                <a:latin typeface="Cambria Math" panose="02040503050406030204" pitchFamily="18" charset="0"/>
                              </a:rPr>
                              <m:t>ζ</m:t>
                            </m:r>
                          </m:num>
                          <m:den>
                            <m:rad>
                              <m:radPr>
                                <m:degHide m:val="on"/>
                                <m:ctrlPr>
                                  <a:rPr lang="en-US" altLang="zh-CN" b="0" i="1" smtClean="0">
                                    <a:solidFill>
                                      <a:schemeClr val="tx1"/>
                                    </a:solidFill>
                                    <a:latin typeface="Cambria Math" panose="02040503050406030204" pitchFamily="18" charset="0"/>
                                  </a:rPr>
                                </m:ctrlPr>
                              </m:radPr>
                              <m:deg/>
                              <m:e>
                                <m:sSup>
                                  <m:sSupPr>
                                    <m:ctrlPr>
                                      <a:rPr lang="en-US" altLang="zh-CN" i="1">
                                        <a:latin typeface="Cambria Math" panose="02040503050406030204" pitchFamily="18" charset="0"/>
                                      </a:rPr>
                                    </m:ctrlPr>
                                  </m:sSupPr>
                                  <m:e>
                                    <m:r>
                                      <a:rPr lang="en-US" altLang="zh-CN" i="1">
                                        <a:latin typeface="Cambria Math" panose="02040503050406030204" pitchFamily="18" charset="0"/>
                                      </a:rPr>
                                      <m:t>1−</m:t>
                                    </m:r>
                                    <m:r>
                                      <m:rPr>
                                        <m:sty m:val="p"/>
                                      </m:rPr>
                                      <a:rPr lang="el-GR" altLang="zh-SG" i="1">
                                        <a:latin typeface="Cambria Math" panose="02040503050406030204" pitchFamily="18" charset="0"/>
                                      </a:rPr>
                                      <m:t>ζ</m:t>
                                    </m:r>
                                  </m:e>
                                  <m:sup>
                                    <m:r>
                                      <a:rPr lang="en-US" altLang="zh-CN" i="1">
                                        <a:latin typeface="Cambria Math" panose="02040503050406030204" pitchFamily="18" charset="0"/>
                                      </a:rPr>
                                      <m:t>2</m:t>
                                    </m:r>
                                  </m:sup>
                                </m:sSup>
                              </m:e>
                            </m:rad>
                          </m:den>
                        </m:f>
                      </m:sup>
                    </m:sSup>
                  </m:oMath>
                </a14:m>
                <a:endParaRPr lang="en-US" altLang="zh-CN" dirty="0"/>
              </a:p>
              <a:p>
                <a:r>
                  <a:rPr lang="zh-CN" altLang="en-US" dirty="0"/>
                  <a:t>调节时间</a:t>
                </a:r>
                <a14:m>
                  <m:oMath xmlns:m="http://schemas.openxmlformats.org/officeDocument/2006/math">
                    <m:sSub>
                      <m:sSubPr>
                        <m:ctrlPr>
                          <a:rPr lang="zh-CN" altLang="en-US" i="1" smtClean="0">
                            <a:solidFill>
                              <a:schemeClr val="tx1"/>
                            </a:solidFill>
                            <a:latin typeface="Cambria Math" panose="02040503050406030204" pitchFamily="18" charset="0"/>
                          </a:rPr>
                        </m:ctrlPr>
                      </m:sSubPr>
                      <m:e>
                        <m:r>
                          <a:rPr lang="zh-CN" altLang="en-US" i="1" smtClean="0">
                            <a:solidFill>
                              <a:schemeClr val="tx1"/>
                            </a:solidFill>
                            <a:latin typeface="Cambria Math" panose="02040503050406030204" pitchFamily="18" charset="0"/>
                          </a:rPr>
                          <m:t>𝑡</m:t>
                        </m:r>
                      </m:e>
                      <m:sub>
                        <m:r>
                          <m:rPr>
                            <m:sty m:val="p"/>
                          </m:rPr>
                          <a:rPr lang="en-US" altLang="zh-CN" i="1">
                            <a:latin typeface="Cambria Math" panose="02040503050406030204" pitchFamily="18" charset="0"/>
                          </a:rPr>
                          <m:t>s</m:t>
                        </m:r>
                      </m:sub>
                    </m:sSub>
                    <m:r>
                      <a:rPr lang="en-US" altLang="zh-CN" i="1">
                        <a:latin typeface="Cambria Math" panose="02040503050406030204" pitchFamily="18" charset="0"/>
                        <a:ea typeface="Cambria Math" panose="02040503050406030204" pitchFamily="18" charset="0"/>
                      </a:rPr>
                      <m:t>≈</m:t>
                    </m:r>
                    <m:f>
                      <m:fPr>
                        <m:ctrlPr>
                          <a:rPr lang="en-US" altLang="zh-CN" i="1" smtClean="0">
                            <a:latin typeface="Cambria Math" panose="02040503050406030204" pitchFamily="18" charset="0"/>
                            <a:ea typeface="Cambria Math" panose="02040503050406030204" pitchFamily="18" charset="0"/>
                          </a:rPr>
                        </m:ctrlPr>
                      </m:fPr>
                      <m:num>
                        <m:r>
                          <a:rPr lang="en-US" altLang="zh-CN" b="0" i="1" smtClean="0">
                            <a:latin typeface="Cambria Math" panose="02040503050406030204" pitchFamily="18" charset="0"/>
                            <a:ea typeface="Cambria Math" panose="02040503050406030204" pitchFamily="18" charset="0"/>
                          </a:rPr>
                          <m:t>4</m:t>
                        </m:r>
                      </m:num>
                      <m:den>
                        <m:r>
                          <m:rPr>
                            <m:sty m:val="p"/>
                          </m:rPr>
                          <a:rPr lang="el-GR" altLang="zh-SG" i="1">
                            <a:latin typeface="Cambria Math" panose="02040503050406030204" pitchFamily="18" charset="0"/>
                          </a:rPr>
                          <m:t>ζ</m:t>
                        </m:r>
                        <m:sSub>
                          <m:sSubPr>
                            <m:ctrlPr>
                              <a:rPr lang="el-GR" altLang="zh-SG" i="1">
                                <a:latin typeface="Cambria Math" panose="02040503050406030204" pitchFamily="18" charset="0"/>
                              </a:rPr>
                            </m:ctrlPr>
                          </m:sSubPr>
                          <m:e>
                            <m:r>
                              <a:rPr lang="zh-SG" altLang="el-GR" i="1">
                                <a:latin typeface="Cambria Math" panose="02040503050406030204" pitchFamily="18" charset="0"/>
                              </a:rPr>
                              <m:t>𝜔</m:t>
                            </m:r>
                          </m:e>
                          <m:sub>
                            <m:r>
                              <m:rPr>
                                <m:sty m:val="p"/>
                              </m:rPr>
                              <a:rPr lang="en-US" altLang="zh-CN" i="1">
                                <a:latin typeface="Cambria Math" panose="02040503050406030204" pitchFamily="18" charset="0"/>
                              </a:rPr>
                              <m:t>n</m:t>
                            </m:r>
                          </m:sub>
                        </m:sSub>
                      </m:den>
                    </m:f>
                  </m:oMath>
                </a14:m>
                <a:endParaRPr lang="en-US" altLang="zh-CN" dirty="0"/>
              </a:p>
              <a:p>
                <a:r>
                  <a:rPr lang="zh-CN" altLang="en-US" dirty="0"/>
                  <a:t>上升时间</a:t>
                </a:r>
                <a14:m>
                  <m:oMath xmlns:m="http://schemas.openxmlformats.org/officeDocument/2006/math">
                    <m:sSub>
                      <m:sSubPr>
                        <m:ctrlPr>
                          <a:rPr lang="zh-CN" altLang="en-US" i="1" smtClean="0">
                            <a:solidFill>
                              <a:schemeClr val="tx1"/>
                            </a:solidFill>
                            <a:latin typeface="Cambria Math" panose="02040503050406030204" pitchFamily="18" charset="0"/>
                          </a:rPr>
                        </m:ctrlPr>
                      </m:sSubPr>
                      <m:e>
                        <m:r>
                          <a:rPr lang="zh-CN" altLang="en-US" i="1" smtClean="0">
                            <a:solidFill>
                              <a:schemeClr val="tx1"/>
                            </a:solidFill>
                            <a:latin typeface="Cambria Math" panose="02040503050406030204" pitchFamily="18" charset="0"/>
                          </a:rPr>
                          <m:t>𝑡</m:t>
                        </m:r>
                      </m:e>
                      <m:sub>
                        <m:r>
                          <a:rPr lang="zh-CN" altLang="en-US" i="1" smtClean="0">
                            <a:solidFill>
                              <a:schemeClr val="tx1"/>
                            </a:solidFill>
                            <a:latin typeface="Cambria Math" panose="02040503050406030204" pitchFamily="18" charset="0"/>
                          </a:rPr>
                          <m:t>𝑟</m:t>
                        </m:r>
                      </m:sub>
                    </m:sSub>
                    <m:r>
                      <a:rPr lang="zh-CN" altLang="en-US" i="1" smtClean="0">
                        <a:solidFill>
                          <a:schemeClr val="tx1"/>
                        </a:solidFill>
                        <a:latin typeface="Cambria Math" panose="02040503050406030204" pitchFamily="18" charset="0"/>
                      </a:rPr>
                      <m:t>≈</m:t>
                    </m:r>
                    <m:f>
                      <m:fPr>
                        <m:ctrlPr>
                          <a:rPr lang="en-US" altLang="zh-CN" i="1" smtClean="0">
                            <a:solidFill>
                              <a:schemeClr val="tx1"/>
                            </a:solidFill>
                            <a:latin typeface="Cambria Math" panose="02040503050406030204" pitchFamily="18" charset="0"/>
                          </a:rPr>
                        </m:ctrlPr>
                      </m:fPr>
                      <m:num>
                        <m:r>
                          <a:rPr lang="en-US" altLang="zh-CN" b="0" i="1" smtClean="0">
                            <a:solidFill>
                              <a:schemeClr val="tx1"/>
                            </a:solidFill>
                            <a:latin typeface="Cambria Math" panose="02040503050406030204" pitchFamily="18" charset="0"/>
                          </a:rPr>
                          <m:t>1.8</m:t>
                        </m:r>
                      </m:num>
                      <m:den>
                        <m:sSub>
                          <m:sSubPr>
                            <m:ctrlPr>
                              <a:rPr lang="el-GR" altLang="zh-SG" i="1">
                                <a:latin typeface="Cambria Math" panose="02040503050406030204" pitchFamily="18" charset="0"/>
                              </a:rPr>
                            </m:ctrlPr>
                          </m:sSubPr>
                          <m:e>
                            <m:r>
                              <a:rPr lang="zh-SG" altLang="el-GR" i="1">
                                <a:latin typeface="Cambria Math" panose="02040503050406030204" pitchFamily="18" charset="0"/>
                              </a:rPr>
                              <m:t>𝜔</m:t>
                            </m:r>
                          </m:e>
                          <m:sub>
                            <m:r>
                              <m:rPr>
                                <m:sty m:val="p"/>
                              </m:rPr>
                              <a:rPr lang="en-US" altLang="zh-CN" i="1">
                                <a:latin typeface="Cambria Math" panose="02040503050406030204" pitchFamily="18" charset="0"/>
                              </a:rPr>
                              <m:t>n</m:t>
                            </m:r>
                          </m:sub>
                        </m:sSub>
                      </m:den>
                    </m:f>
                  </m:oMath>
                </a14:m>
                <a:endParaRPr lang="en-US" altLang="zh-CN" dirty="0"/>
              </a:p>
              <a:p>
                <a:pPr marL="0" indent="0">
                  <a:buNone/>
                </a:pPr>
                <a:endParaRPr lang="en-US" altLang="zh-CN" dirty="0"/>
              </a:p>
              <a:p>
                <a:r>
                  <a:rPr lang="zh-CN" altLang="en-US" dirty="0"/>
                  <a:t>超调量只取决于阻尼比</a:t>
                </a:r>
                <a14:m>
                  <m:oMath xmlns:m="http://schemas.openxmlformats.org/officeDocument/2006/math">
                    <m:r>
                      <m:rPr>
                        <m:sty m:val="p"/>
                      </m:rPr>
                      <a:rPr lang="el-GR" altLang="zh-SG" i="1" smtClean="0">
                        <a:solidFill>
                          <a:schemeClr val="tx1"/>
                        </a:solidFill>
                        <a:latin typeface="Cambria Math" panose="02040503050406030204" pitchFamily="18" charset="0"/>
                      </a:rPr>
                      <m:t>ζ</m:t>
                    </m:r>
                  </m:oMath>
                </a14:m>
                <a:endParaRPr lang="en-US" altLang="zh-CN" dirty="0"/>
              </a:p>
              <a:p>
                <a:r>
                  <a:rPr lang="zh-CN" altLang="en-US" dirty="0"/>
                  <a:t>调节时间取决于阻尼比</a:t>
                </a:r>
                <a14:m>
                  <m:oMath xmlns:m="http://schemas.openxmlformats.org/officeDocument/2006/math">
                    <m:r>
                      <m:rPr>
                        <m:sty m:val="p"/>
                      </m:rPr>
                      <a:rPr lang="el-GR" altLang="zh-SG" i="1" smtClean="0">
                        <a:solidFill>
                          <a:schemeClr val="tx1"/>
                        </a:solidFill>
                        <a:latin typeface="Cambria Math" panose="02040503050406030204" pitchFamily="18" charset="0"/>
                      </a:rPr>
                      <m:t>ζ</m:t>
                    </m:r>
                  </m:oMath>
                </a14:m>
                <a:r>
                  <a:rPr lang="zh-CN" altLang="en-US" dirty="0"/>
                  <a:t>与自然频率</a:t>
                </a:r>
                <a14:m>
                  <m:oMath xmlns:m="http://schemas.openxmlformats.org/officeDocument/2006/math">
                    <m:sSub>
                      <m:sSubPr>
                        <m:ctrlPr>
                          <a:rPr lang="el-GR" altLang="zh-SG" i="1">
                            <a:latin typeface="Cambria Math" panose="02040503050406030204" pitchFamily="18" charset="0"/>
                          </a:rPr>
                        </m:ctrlPr>
                      </m:sSubPr>
                      <m:e>
                        <m:r>
                          <a:rPr lang="zh-SG" altLang="el-GR" i="1">
                            <a:latin typeface="Cambria Math" panose="02040503050406030204" pitchFamily="18" charset="0"/>
                          </a:rPr>
                          <m:t>𝜔</m:t>
                        </m:r>
                      </m:e>
                      <m:sub>
                        <m:r>
                          <m:rPr>
                            <m:sty m:val="p"/>
                          </m:rPr>
                          <a:rPr lang="en-US" altLang="zh-CN" i="1">
                            <a:latin typeface="Cambria Math" panose="02040503050406030204" pitchFamily="18" charset="0"/>
                          </a:rPr>
                          <m:t>n</m:t>
                        </m:r>
                      </m:sub>
                    </m:sSub>
                  </m:oMath>
                </a14:m>
                <a:r>
                  <a:rPr lang="zh-CN" altLang="en-US" dirty="0"/>
                  <a:t>的乘积</a:t>
                </a:r>
                <a:endParaRPr lang="en-US" altLang="zh-CN" dirty="0"/>
              </a:p>
              <a:p>
                <a:r>
                  <a:rPr lang="zh-CN" altLang="en-US" dirty="0"/>
                  <a:t>减小</a:t>
                </a:r>
                <a14:m>
                  <m:oMath xmlns:m="http://schemas.openxmlformats.org/officeDocument/2006/math">
                    <m:r>
                      <m:rPr>
                        <m:sty m:val="p"/>
                      </m:rPr>
                      <a:rPr lang="el-GR" altLang="zh-SG" i="1" smtClean="0">
                        <a:solidFill>
                          <a:schemeClr val="tx1"/>
                        </a:solidFill>
                        <a:latin typeface="Cambria Math" panose="02040503050406030204" pitchFamily="18" charset="0"/>
                      </a:rPr>
                      <m:t>ζ</m:t>
                    </m:r>
                  </m:oMath>
                </a14:m>
                <a:r>
                  <a:rPr lang="zh-CN" altLang="en-US" dirty="0"/>
                  <a:t>，响应加快，但超调也增大</a:t>
                </a:r>
                <a:endParaRPr lang="en-US" altLang="zh-CN" dirty="0"/>
              </a:p>
              <a:p>
                <a:r>
                  <a:rPr lang="zh-CN" altLang="en-US" dirty="0"/>
                  <a:t>当</a:t>
                </a:r>
                <a14:m>
                  <m:oMath xmlns:m="http://schemas.openxmlformats.org/officeDocument/2006/math">
                    <m:r>
                      <m:rPr>
                        <m:sty m:val="p"/>
                      </m:rPr>
                      <a:rPr lang="el-GR" altLang="zh-SG" i="1" smtClean="0">
                        <a:solidFill>
                          <a:schemeClr val="tx1"/>
                        </a:solidFill>
                        <a:latin typeface="Cambria Math" panose="02040503050406030204" pitchFamily="18" charset="0"/>
                      </a:rPr>
                      <m:t>ζ</m:t>
                    </m:r>
                    <m:r>
                      <a:rPr lang="el-GR" altLang="zh-SG" i="1" smtClean="0">
                        <a:solidFill>
                          <a:schemeClr val="tx1"/>
                        </a:solidFill>
                        <a:latin typeface="Cambria Math" panose="02040503050406030204" pitchFamily="18" charset="0"/>
                        <a:ea typeface="Cambria Math" panose="02040503050406030204" pitchFamily="18" charset="0"/>
                      </a:rPr>
                      <m:t>≈</m:t>
                    </m:r>
                    <m:f>
                      <m:fPr>
                        <m:ctrlPr>
                          <a:rPr lang="el-GR" altLang="zh-SG" i="1" smtClean="0">
                            <a:solidFill>
                              <a:schemeClr val="tx1"/>
                            </a:solidFill>
                            <a:latin typeface="Cambria Math" panose="02040503050406030204" pitchFamily="18" charset="0"/>
                            <a:ea typeface="Cambria Math" panose="02040503050406030204" pitchFamily="18" charset="0"/>
                          </a:rPr>
                        </m:ctrlPr>
                      </m:fPr>
                      <m:num>
                        <m:r>
                          <a:rPr lang="en-US" altLang="zh-SG" b="0" i="1" smtClean="0">
                            <a:solidFill>
                              <a:schemeClr val="tx1"/>
                            </a:solidFill>
                            <a:latin typeface="Cambria Math" panose="02040503050406030204" pitchFamily="18" charset="0"/>
                            <a:ea typeface="Cambria Math" panose="02040503050406030204" pitchFamily="18" charset="0"/>
                          </a:rPr>
                          <m:t>1</m:t>
                        </m:r>
                      </m:num>
                      <m:den>
                        <m:rad>
                          <m:radPr>
                            <m:degHide m:val="on"/>
                            <m:ctrlPr>
                              <a:rPr lang="el-GR" altLang="zh-SG" i="1" smtClean="0">
                                <a:solidFill>
                                  <a:schemeClr val="tx1"/>
                                </a:solidFill>
                                <a:latin typeface="Cambria Math" panose="02040503050406030204" pitchFamily="18" charset="0"/>
                                <a:ea typeface="Cambria Math" panose="02040503050406030204" pitchFamily="18" charset="0"/>
                              </a:rPr>
                            </m:ctrlPr>
                          </m:radPr>
                          <m:deg/>
                          <m:e>
                            <m:r>
                              <a:rPr lang="en-US" altLang="zh-SG" b="0" i="1" smtClean="0">
                                <a:solidFill>
                                  <a:schemeClr val="tx1"/>
                                </a:solidFill>
                                <a:latin typeface="Cambria Math" panose="02040503050406030204" pitchFamily="18" charset="0"/>
                                <a:ea typeface="Cambria Math" panose="02040503050406030204" pitchFamily="18" charset="0"/>
                              </a:rPr>
                              <m:t>2</m:t>
                            </m:r>
                          </m:e>
                        </m:rad>
                      </m:den>
                    </m:f>
                    <m:r>
                      <a:rPr lang="el-GR" altLang="zh-SG" i="1" smtClean="0">
                        <a:solidFill>
                          <a:schemeClr val="tx1"/>
                        </a:solidFill>
                        <a:latin typeface="Cambria Math" panose="02040503050406030204" pitchFamily="18" charset="0"/>
                        <a:ea typeface="Cambria Math" panose="02040503050406030204" pitchFamily="18" charset="0"/>
                      </a:rPr>
                      <m:t>≈</m:t>
                    </m:r>
                    <m:r>
                      <a:rPr lang="en-US" altLang="zh-SG" b="0" i="1" smtClean="0">
                        <a:solidFill>
                          <a:schemeClr val="tx1"/>
                        </a:solidFill>
                        <a:latin typeface="Cambria Math" panose="02040503050406030204" pitchFamily="18" charset="0"/>
                        <a:ea typeface="Cambria Math" panose="02040503050406030204" pitchFamily="18" charset="0"/>
                      </a:rPr>
                      <m:t>0.707</m:t>
                    </m:r>
                  </m:oMath>
                </a14:m>
                <a:r>
                  <a:rPr lang="zh-CN" altLang="en-US" dirty="0"/>
                  <a:t>时，超调量</a:t>
                </a:r>
                <a14:m>
                  <m:oMath xmlns:m="http://schemas.openxmlformats.org/officeDocument/2006/math">
                    <m:r>
                      <a:rPr lang="el-GR" altLang="zh-SG" i="1">
                        <a:latin typeface="Cambria Math" panose="02040503050406030204" pitchFamily="18" charset="0"/>
                        <a:ea typeface="Cambria Math" panose="02040503050406030204" pitchFamily="18" charset="0"/>
                      </a:rPr>
                      <m:t>≈</m:t>
                    </m:r>
                    <m:r>
                      <a:rPr lang="en-US" altLang="zh-SG" b="0" i="1" smtClean="0">
                        <a:latin typeface="Cambria Math" panose="02040503050406030204" pitchFamily="18" charset="0"/>
                        <a:ea typeface="Cambria Math" panose="02040503050406030204" pitchFamily="18" charset="0"/>
                      </a:rPr>
                      <m:t>4.3%</m:t>
                    </m:r>
                  </m:oMath>
                </a14:m>
                <a:endParaRPr lang="zh-SG" altLang="en-US" dirty="0"/>
              </a:p>
            </p:txBody>
          </p:sp>
        </mc:Choice>
        <mc:Fallback xmlns="">
          <p:sp>
            <p:nvSpPr>
              <p:cNvPr id="3" name="内容占位符 2">
                <a:extLst>
                  <a:ext uri="{FF2B5EF4-FFF2-40B4-BE49-F238E27FC236}">
                    <a16:creationId xmlns:a16="http://schemas.microsoft.com/office/drawing/2014/main" id="{B28A32B3-954D-EF05-467D-1651EF116AC1}"/>
                  </a:ext>
                </a:extLst>
              </p:cNvPr>
              <p:cNvSpPr>
                <a:spLocks noGrp="1" noRot="1" noChangeAspect="1" noMove="1" noResize="1" noEditPoints="1" noAdjustHandles="1" noChangeArrowheads="1" noChangeShapeType="1" noTextEdit="1"/>
              </p:cNvSpPr>
              <p:nvPr>
                <p:ph idx="1"/>
              </p:nvPr>
            </p:nvSpPr>
            <p:spPr>
              <a:xfrm>
                <a:off x="838200" y="1325563"/>
                <a:ext cx="10515600" cy="5532437"/>
              </a:xfrm>
              <a:blipFill>
                <a:blip r:embed="rId2"/>
                <a:stretch>
                  <a:fillRect l="-1043" t="-1982"/>
                </a:stretch>
              </a:blipFill>
            </p:spPr>
            <p:txBody>
              <a:bodyPr/>
              <a:lstStyle/>
              <a:p>
                <a:r>
                  <a:rPr lang="zh-SG" altLang="en-US">
                    <a:noFill/>
                  </a:rPr>
                  <a:t> </a:t>
                </a:r>
              </a:p>
            </p:txBody>
          </p:sp>
        </mc:Fallback>
      </mc:AlternateContent>
      <p:pic>
        <p:nvPicPr>
          <p:cNvPr id="5" name="图片 4">
            <a:extLst>
              <a:ext uri="{FF2B5EF4-FFF2-40B4-BE49-F238E27FC236}">
                <a16:creationId xmlns:a16="http://schemas.microsoft.com/office/drawing/2014/main" id="{4C222B94-77F5-42DF-46B3-3009E3B6A2F4}"/>
              </a:ext>
            </a:extLst>
          </p:cNvPr>
          <p:cNvPicPr>
            <a:picLocks noChangeAspect="1"/>
          </p:cNvPicPr>
          <p:nvPr/>
        </p:nvPicPr>
        <p:blipFill>
          <a:blip r:embed="rId3"/>
          <a:stretch>
            <a:fillRect/>
          </a:stretch>
        </p:blipFill>
        <p:spPr>
          <a:xfrm>
            <a:off x="6096000" y="0"/>
            <a:ext cx="6096000" cy="3373641"/>
          </a:xfrm>
          <a:prstGeom prst="rect">
            <a:avLst/>
          </a:prstGeom>
        </p:spPr>
      </p:pic>
    </p:spTree>
    <p:extLst>
      <p:ext uri="{BB962C8B-B14F-4D97-AF65-F5344CB8AC3E}">
        <p14:creationId xmlns:p14="http://schemas.microsoft.com/office/powerpoint/2010/main" val="36694725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B7F25A-DF15-1443-9FFD-B94094F58388}"/>
              </a:ext>
            </a:extLst>
          </p:cNvPr>
          <p:cNvSpPr>
            <a:spLocks noGrp="1"/>
          </p:cNvSpPr>
          <p:nvPr>
            <p:ph type="title"/>
          </p:nvPr>
        </p:nvSpPr>
        <p:spPr/>
        <p:txBody>
          <a:bodyPr/>
          <a:lstStyle/>
          <a:p>
            <a:r>
              <a:rPr lang="zh-CN" altLang="en-US" dirty="0"/>
              <a:t>如何运用这些结论压力机械？</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549EFF93-3D6E-6599-17BE-139FEDC1D239}"/>
                  </a:ext>
                </a:extLst>
              </p:cNvPr>
              <p:cNvSpPr>
                <a:spLocks noGrp="1"/>
              </p:cNvSpPr>
              <p:nvPr>
                <p:ph idx="1"/>
              </p:nvPr>
            </p:nvSpPr>
            <p:spPr>
              <a:xfrm>
                <a:off x="838200" y="1825625"/>
                <a:ext cx="9034131" cy="4351338"/>
              </a:xfrm>
            </p:spPr>
            <p:txBody>
              <a:bodyPr/>
              <a:lstStyle/>
              <a:p>
                <a:r>
                  <a:rPr lang="en-US" altLang="zh-CN" dirty="0"/>
                  <a:t>PD</a:t>
                </a:r>
                <a:r>
                  <a:rPr lang="zh-CN" altLang="en-US" dirty="0"/>
                  <a:t>控制下的云台就是一个二阶系统</a:t>
                </a:r>
                <a:endParaRPr lang="en-US" altLang="zh-CN" dirty="0"/>
              </a:p>
              <a:p>
                <a:pPr marL="0" indent="0">
                  <a:buNone/>
                </a:pPr>
                <a:r>
                  <a:rPr lang="zh-CN" altLang="en-US" dirty="0"/>
                  <a:t>比例项类似弹簧，微分项类似阻尼</a:t>
                </a:r>
                <a:endParaRPr lang="en-US" altLang="zh-CN" dirty="0"/>
              </a:p>
              <a:p>
                <a:pPr marL="0" indent="0">
                  <a:buNone/>
                </a:pPr>
                <a14:m>
                  <m:oMath xmlns:m="http://schemas.openxmlformats.org/officeDocument/2006/math">
                    <m:sSub>
                      <m:sSubPr>
                        <m:ctrlPr>
                          <a:rPr lang="el-GR" altLang="zh-SG" i="1" smtClean="0">
                            <a:latin typeface="Cambria Math" panose="02040503050406030204" pitchFamily="18" charset="0"/>
                          </a:rPr>
                        </m:ctrlPr>
                      </m:sSubPr>
                      <m:e>
                        <m:r>
                          <a:rPr lang="zh-SG" altLang="el-GR" i="1">
                            <a:latin typeface="Cambria Math" panose="02040503050406030204" pitchFamily="18" charset="0"/>
                          </a:rPr>
                          <m:t>𝜔</m:t>
                        </m:r>
                      </m:e>
                      <m:sub>
                        <m:r>
                          <m:rPr>
                            <m:sty m:val="p"/>
                          </m:rPr>
                          <a:rPr lang="en-US" altLang="zh-CN" i="1">
                            <a:latin typeface="Cambria Math" panose="02040503050406030204" pitchFamily="18" charset="0"/>
                          </a:rPr>
                          <m:t>n</m:t>
                        </m:r>
                      </m:sub>
                    </m:sSub>
                    <m:r>
                      <a:rPr lang="en-US" altLang="zh-CN" b="0" i="1" smtClean="0">
                        <a:latin typeface="Cambria Math" panose="02040503050406030204" pitchFamily="18" charset="0"/>
                      </a:rPr>
                      <m:t>=</m:t>
                    </m:r>
                    <m:rad>
                      <m:radPr>
                        <m:degHide m:val="on"/>
                        <m:ctrlPr>
                          <a:rPr lang="en-US" altLang="zh-CN" b="0" i="1" smtClean="0">
                            <a:latin typeface="Cambria Math" panose="02040503050406030204" pitchFamily="18" charset="0"/>
                          </a:rPr>
                        </m:ctrlPr>
                      </m:radPr>
                      <m:deg/>
                      <m:e>
                        <m:f>
                          <m:fPr>
                            <m:ctrlPr>
                              <a:rPr lang="en-US" altLang="zh-CN" b="0" i="1" smtClean="0">
                                <a:latin typeface="Cambria Math" panose="02040503050406030204" pitchFamily="18" charset="0"/>
                              </a:rPr>
                            </m:ctrlPr>
                          </m:fPr>
                          <m:num>
                            <m:sSub>
                              <m:sSubPr>
                                <m:ctrlPr>
                                  <a:rPr lang="en-US" altLang="zh-CN" b="0" i="1" smtClean="0">
                                    <a:latin typeface="Cambria Math" panose="02040503050406030204" pitchFamily="18" charset="0"/>
                                  </a:rPr>
                                </m:ctrlPr>
                              </m:sSubPr>
                              <m:e>
                                <m:r>
                                  <m:rPr>
                                    <m:sty m:val="p"/>
                                  </m:rPr>
                                  <a:rPr lang="en-US" altLang="zh-CN" i="1">
                                    <a:latin typeface="Cambria Math" panose="02040503050406030204" pitchFamily="18" charset="0"/>
                                  </a:rPr>
                                  <m:t>K</m:t>
                                </m:r>
                              </m:e>
                              <m:sub>
                                <m:r>
                                  <a:rPr lang="en-US" altLang="zh-CN" b="0" i="1" smtClean="0">
                                    <a:latin typeface="Cambria Math" panose="02040503050406030204" pitchFamily="18" charset="0"/>
                                  </a:rPr>
                                  <m:t>𝑝</m:t>
                                </m:r>
                              </m:sub>
                            </m:sSub>
                          </m:num>
                          <m:den>
                            <m:r>
                              <a:rPr lang="en-US" altLang="zh-CN" b="0" i="1" smtClean="0">
                                <a:latin typeface="Cambria Math" panose="02040503050406030204" pitchFamily="18" charset="0"/>
                              </a:rPr>
                              <m:t>𝐽</m:t>
                            </m:r>
                          </m:den>
                        </m:f>
                      </m:e>
                    </m:rad>
                  </m:oMath>
                </a14:m>
                <a:r>
                  <a:rPr lang="zh-CN" altLang="en-US" dirty="0"/>
                  <a:t>，</a:t>
                </a:r>
                <a:r>
                  <a:rPr lang="el-GR" altLang="zh-SG" dirty="0"/>
                  <a:t> </a:t>
                </a:r>
                <a14:m>
                  <m:oMath xmlns:m="http://schemas.openxmlformats.org/officeDocument/2006/math">
                    <m:r>
                      <m:rPr>
                        <m:sty m:val="p"/>
                      </m:rPr>
                      <a:rPr lang="el-GR" altLang="zh-SG" i="1">
                        <a:latin typeface="Cambria Math" panose="02040503050406030204" pitchFamily="18" charset="0"/>
                      </a:rPr>
                      <m:t>ζ</m:t>
                    </m:r>
                    <m:r>
                      <a:rPr lang="en-US" altLang="zh-SG" b="0" i="1" smtClean="0">
                        <a:latin typeface="Cambria Math" panose="02040503050406030204" pitchFamily="18" charset="0"/>
                      </a:rPr>
                      <m:t>=</m:t>
                    </m:r>
                    <m:f>
                      <m:fPr>
                        <m:ctrlPr>
                          <a:rPr lang="en-US" altLang="zh-SG" b="0" i="1" smtClean="0">
                            <a:latin typeface="Cambria Math" panose="02040503050406030204" pitchFamily="18" charset="0"/>
                          </a:rPr>
                        </m:ctrlPr>
                      </m:fPr>
                      <m:num>
                        <m:r>
                          <m:rPr>
                            <m:sty m:val="p"/>
                          </m:rPr>
                          <a:rPr lang="en-US" altLang="zh-CN" i="1">
                            <a:latin typeface="Cambria Math" panose="02040503050406030204" pitchFamily="18" charset="0"/>
                          </a:rPr>
                          <m:t>b</m:t>
                        </m:r>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a:rPr lang="en-US" altLang="zh-CN" b="0" i="1" smtClean="0">
                                <a:latin typeface="Cambria Math" panose="02040503050406030204" pitchFamily="18" charset="0"/>
                              </a:rPr>
                              <m:t>𝐾</m:t>
                            </m:r>
                          </m:e>
                          <m:sub>
                            <m:r>
                              <a:rPr lang="en-US" altLang="zh-CN" b="0" i="1" smtClean="0">
                                <a:latin typeface="Cambria Math" panose="02040503050406030204" pitchFamily="18" charset="0"/>
                              </a:rPr>
                              <m:t>𝑑</m:t>
                            </m:r>
                          </m:sub>
                        </m:sSub>
                      </m:num>
                      <m:den>
                        <m:r>
                          <a:rPr lang="en-US" altLang="zh-SG" b="0" i="1" smtClean="0">
                            <a:latin typeface="Cambria Math" panose="02040503050406030204" pitchFamily="18" charset="0"/>
                          </a:rPr>
                          <m:t>2</m:t>
                        </m:r>
                        <m:rad>
                          <m:radPr>
                            <m:degHide m:val="on"/>
                            <m:ctrlPr>
                              <a:rPr lang="en-US" altLang="zh-SG" b="0" i="1" smtClean="0">
                                <a:latin typeface="Cambria Math" panose="02040503050406030204" pitchFamily="18" charset="0"/>
                              </a:rPr>
                            </m:ctrlPr>
                          </m:radPr>
                          <m:deg/>
                          <m:e>
                            <m:r>
                              <a:rPr lang="en-US" altLang="zh-SG" b="0" i="1" smtClean="0">
                                <a:latin typeface="Cambria Math" panose="02040503050406030204" pitchFamily="18" charset="0"/>
                              </a:rPr>
                              <m:t>𝐽</m:t>
                            </m:r>
                            <m:sSub>
                              <m:sSubPr>
                                <m:ctrlPr>
                                  <a:rPr lang="en-US" altLang="zh-SG" b="0" i="1" smtClean="0">
                                    <a:latin typeface="Cambria Math" panose="02040503050406030204" pitchFamily="18" charset="0"/>
                                  </a:rPr>
                                </m:ctrlPr>
                              </m:sSubPr>
                              <m:e>
                                <m:r>
                                  <a:rPr lang="en-US" altLang="zh-SG" b="0" i="1" smtClean="0">
                                    <a:latin typeface="Cambria Math" panose="02040503050406030204" pitchFamily="18" charset="0"/>
                                  </a:rPr>
                                  <m:t>𝐾</m:t>
                                </m:r>
                              </m:e>
                              <m:sub>
                                <m:r>
                                  <a:rPr lang="en-US" altLang="zh-SG" b="0" i="1" smtClean="0">
                                    <a:latin typeface="Cambria Math" panose="02040503050406030204" pitchFamily="18" charset="0"/>
                                  </a:rPr>
                                  <m:t>𝑝</m:t>
                                </m:r>
                              </m:sub>
                            </m:sSub>
                          </m:e>
                        </m:rad>
                      </m:den>
                    </m:f>
                  </m:oMath>
                </a14:m>
                <a:endParaRPr lang="en-US" altLang="zh-SG" dirty="0"/>
              </a:p>
              <a:p>
                <a:r>
                  <a:rPr lang="zh-CN" altLang="en-US" dirty="0"/>
                  <a:t>电机扭矩小，云台惯量大，响应一定慢</a:t>
                </a:r>
                <a:endParaRPr lang="en-US" altLang="zh-CN" dirty="0"/>
              </a:p>
              <a:p>
                <a:r>
                  <a:rPr lang="zh-CN" altLang="en-US" dirty="0"/>
                  <a:t>换电机选型，或者减小云台惯量</a:t>
                </a:r>
                <a:endParaRPr lang="en-US" altLang="zh-CN" dirty="0"/>
              </a:p>
            </p:txBody>
          </p:sp>
        </mc:Choice>
        <mc:Fallback xmlns="">
          <p:sp>
            <p:nvSpPr>
              <p:cNvPr id="3" name="内容占位符 2">
                <a:extLst>
                  <a:ext uri="{FF2B5EF4-FFF2-40B4-BE49-F238E27FC236}">
                    <a16:creationId xmlns:a16="http://schemas.microsoft.com/office/drawing/2014/main" id="{549EFF93-3D6E-6599-17BE-139FEDC1D239}"/>
                  </a:ext>
                </a:extLst>
              </p:cNvPr>
              <p:cNvSpPr>
                <a:spLocks noGrp="1" noRot="1" noChangeAspect="1" noMove="1" noResize="1" noEditPoints="1" noAdjustHandles="1" noChangeArrowheads="1" noChangeShapeType="1" noTextEdit="1"/>
              </p:cNvSpPr>
              <p:nvPr>
                <p:ph idx="1"/>
              </p:nvPr>
            </p:nvSpPr>
            <p:spPr>
              <a:xfrm>
                <a:off x="838200" y="1825625"/>
                <a:ext cx="9034131" cy="4351338"/>
              </a:xfrm>
              <a:blipFill>
                <a:blip r:embed="rId2"/>
                <a:stretch>
                  <a:fillRect l="-1418" t="-2521"/>
                </a:stretch>
              </a:blipFill>
            </p:spPr>
            <p:txBody>
              <a:bodyPr/>
              <a:lstStyle/>
              <a:p>
                <a:r>
                  <a:rPr lang="zh-SG" altLang="en-US">
                    <a:noFill/>
                  </a:rPr>
                  <a:t> </a:t>
                </a:r>
              </a:p>
            </p:txBody>
          </p:sp>
        </mc:Fallback>
      </mc:AlternateContent>
      <p:pic>
        <p:nvPicPr>
          <p:cNvPr id="6" name="图片 5">
            <a:extLst>
              <a:ext uri="{FF2B5EF4-FFF2-40B4-BE49-F238E27FC236}">
                <a16:creationId xmlns:a16="http://schemas.microsoft.com/office/drawing/2014/main" id="{7D173843-DDBC-A90F-477A-FF6E901074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72331" y="0"/>
            <a:ext cx="2319669" cy="4020760"/>
          </a:xfrm>
          <a:prstGeom prst="rect">
            <a:avLst/>
          </a:prstGeom>
        </p:spPr>
      </p:pic>
      <p:pic>
        <p:nvPicPr>
          <p:cNvPr id="5" name="图片 4">
            <a:extLst>
              <a:ext uri="{FF2B5EF4-FFF2-40B4-BE49-F238E27FC236}">
                <a16:creationId xmlns:a16="http://schemas.microsoft.com/office/drawing/2014/main" id="{331DEEDF-A01C-0159-0008-D685974E7D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39505" y="4020760"/>
            <a:ext cx="4952495" cy="4952495"/>
          </a:xfrm>
          <a:prstGeom prst="rect">
            <a:avLst/>
          </a:prstGeom>
        </p:spPr>
      </p:pic>
    </p:spTree>
    <p:extLst>
      <p:ext uri="{BB962C8B-B14F-4D97-AF65-F5344CB8AC3E}">
        <p14:creationId xmlns:p14="http://schemas.microsoft.com/office/powerpoint/2010/main" val="22467918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45152E9-1172-DA7A-424C-722D7932EFD8}"/>
              </a:ext>
            </a:extLst>
          </p:cNvPr>
          <p:cNvSpPr>
            <a:spLocks noGrp="1"/>
          </p:cNvSpPr>
          <p:nvPr>
            <p:ph type="title"/>
          </p:nvPr>
        </p:nvSpPr>
        <p:spPr/>
        <p:txBody>
          <a:bodyPr/>
          <a:lstStyle/>
          <a:p>
            <a:r>
              <a:rPr lang="zh-CN" altLang="en-US" dirty="0"/>
              <a:t>直观估计系统阶数</a:t>
            </a:r>
            <a:endParaRPr lang="zh-SG" altLang="en-US" dirty="0"/>
          </a:p>
        </p:txBody>
      </p:sp>
      <p:sp>
        <p:nvSpPr>
          <p:cNvPr id="3" name="内容占位符 2">
            <a:extLst>
              <a:ext uri="{FF2B5EF4-FFF2-40B4-BE49-F238E27FC236}">
                <a16:creationId xmlns:a16="http://schemas.microsoft.com/office/drawing/2014/main" id="{88B66A47-3030-8E45-14FC-3E899B8E6B13}"/>
              </a:ext>
            </a:extLst>
          </p:cNvPr>
          <p:cNvSpPr>
            <a:spLocks noGrp="1"/>
          </p:cNvSpPr>
          <p:nvPr>
            <p:ph idx="1"/>
          </p:nvPr>
        </p:nvSpPr>
        <p:spPr/>
        <p:txBody>
          <a:bodyPr/>
          <a:lstStyle/>
          <a:p>
            <a:pPr marL="0" indent="0">
              <a:buNone/>
            </a:pPr>
            <a:r>
              <a:rPr lang="zh-CN" altLang="en-US" dirty="0"/>
              <a:t>寻找系统中的积分器</a:t>
            </a:r>
            <a:endParaRPr lang="en-US" altLang="zh-CN" dirty="0"/>
          </a:p>
          <a:p>
            <a:r>
              <a:rPr lang="zh-CN" altLang="en-US" dirty="0"/>
              <a:t>从电机扭矩到轮速</a:t>
            </a:r>
            <a:endParaRPr lang="en-US" altLang="zh-CN" dirty="0"/>
          </a:p>
          <a:p>
            <a:pPr marL="457200" lvl="1" indent="0">
              <a:buNone/>
            </a:pPr>
            <a:r>
              <a:rPr lang="zh-CN" altLang="en-US" dirty="0"/>
              <a:t>转矩带来角加速度，角加速度在时间上的叠加得到角速度</a:t>
            </a:r>
            <a:endParaRPr lang="en-US" altLang="zh-CN" dirty="0"/>
          </a:p>
          <a:p>
            <a:pPr marL="457200" lvl="1" indent="0">
              <a:buNone/>
            </a:pPr>
            <a:r>
              <a:rPr lang="zh-CN" altLang="en-US" dirty="0"/>
              <a:t>有一个积分环节，是一个一阶系统</a:t>
            </a:r>
            <a:endParaRPr lang="en-US" altLang="zh-CN" dirty="0"/>
          </a:p>
          <a:p>
            <a:r>
              <a:rPr lang="zh-CN" altLang="en-US" dirty="0"/>
              <a:t>从电机扭矩到云台角度</a:t>
            </a:r>
            <a:endParaRPr lang="en-US" altLang="zh-CN" dirty="0"/>
          </a:p>
          <a:p>
            <a:pPr marL="457200" lvl="1" indent="0">
              <a:buNone/>
            </a:pPr>
            <a:r>
              <a:rPr lang="zh-CN" altLang="en-US" dirty="0"/>
              <a:t>角加速度在时间上的叠加得到角速度</a:t>
            </a:r>
            <a:endParaRPr lang="en-US" altLang="zh-CN" dirty="0"/>
          </a:p>
          <a:p>
            <a:pPr marL="457200" lvl="1" indent="0">
              <a:buNone/>
            </a:pPr>
            <a:r>
              <a:rPr lang="zh-CN" altLang="en-US" dirty="0"/>
              <a:t>速度在时间上的叠加得到位置</a:t>
            </a:r>
            <a:endParaRPr lang="en-US" altLang="zh-CN" dirty="0"/>
          </a:p>
          <a:p>
            <a:pPr marL="457200" lvl="1" indent="0">
              <a:buNone/>
            </a:pPr>
            <a:r>
              <a:rPr lang="zh-CN" altLang="en-US" dirty="0"/>
              <a:t>有两个积分环节，是二阶系统</a:t>
            </a:r>
            <a:endParaRPr lang="en-US" altLang="zh-CN" dirty="0"/>
          </a:p>
        </p:txBody>
      </p:sp>
    </p:spTree>
    <p:extLst>
      <p:ext uri="{BB962C8B-B14F-4D97-AF65-F5344CB8AC3E}">
        <p14:creationId xmlns:p14="http://schemas.microsoft.com/office/powerpoint/2010/main" val="28706277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566A64C-3EB0-3B1E-0300-B3F7C8A23FB6}"/>
              </a:ext>
            </a:extLst>
          </p:cNvPr>
          <p:cNvSpPr>
            <a:spLocks noGrp="1"/>
          </p:cNvSpPr>
          <p:nvPr>
            <p:ph type="title"/>
          </p:nvPr>
        </p:nvSpPr>
        <p:spPr/>
        <p:txBody>
          <a:bodyPr/>
          <a:lstStyle/>
          <a:p>
            <a:r>
              <a:rPr lang="zh-CN" altLang="en-US" dirty="0"/>
              <a:t>如何得到系统的模型？</a:t>
            </a:r>
            <a:endParaRPr lang="zh-SG" altLang="en-US" dirty="0"/>
          </a:p>
        </p:txBody>
      </p:sp>
      <p:sp>
        <p:nvSpPr>
          <p:cNvPr id="3" name="内容占位符 2">
            <a:extLst>
              <a:ext uri="{FF2B5EF4-FFF2-40B4-BE49-F238E27FC236}">
                <a16:creationId xmlns:a16="http://schemas.microsoft.com/office/drawing/2014/main" id="{FD22E8D9-8427-1118-5147-9DB4BBBDA192}"/>
              </a:ext>
            </a:extLst>
          </p:cNvPr>
          <p:cNvSpPr>
            <a:spLocks noGrp="1"/>
          </p:cNvSpPr>
          <p:nvPr>
            <p:ph idx="1"/>
          </p:nvPr>
        </p:nvSpPr>
        <p:spPr/>
        <p:txBody>
          <a:bodyPr/>
          <a:lstStyle/>
          <a:p>
            <a:r>
              <a:rPr lang="zh-CN" altLang="en-US" dirty="0"/>
              <a:t>对于简单的物理过程，可以通过理论推导模型，并根据实际情况进行简化（比如建模轮电机时选取速度不为零的工作点）</a:t>
            </a:r>
            <a:endParaRPr lang="en-US" altLang="zh-CN" dirty="0"/>
          </a:p>
          <a:p>
            <a:r>
              <a:rPr lang="zh-CN" altLang="en-US" dirty="0"/>
              <a:t>当物理过程过于复杂、未知，或者原理模型忽略的效应（非线性摩擦、缆线刚度、齿轮间隙）时，可以向真实系统施加已知输入，测量输出，然后使用数学模型拟合输入</a:t>
            </a:r>
            <a:r>
              <a:rPr lang="en-US" altLang="zh-CN" dirty="0"/>
              <a:t>-</a:t>
            </a:r>
            <a:r>
              <a:rPr lang="zh-CN" altLang="en-US" dirty="0"/>
              <a:t>输出数据。</a:t>
            </a:r>
            <a:endParaRPr lang="en-US" altLang="zh-CN" dirty="0"/>
          </a:p>
          <a:p>
            <a:r>
              <a:rPr lang="zh-CN" altLang="en-US" dirty="0"/>
              <a:t>后者就是系统辨识。</a:t>
            </a:r>
            <a:endParaRPr lang="zh-SG" altLang="en-US" dirty="0"/>
          </a:p>
        </p:txBody>
      </p:sp>
    </p:spTree>
    <p:extLst>
      <p:ext uri="{BB962C8B-B14F-4D97-AF65-F5344CB8AC3E}">
        <p14:creationId xmlns:p14="http://schemas.microsoft.com/office/powerpoint/2010/main" val="41216514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BDCA91-0AAE-9408-8174-37E84A39606B}"/>
              </a:ext>
            </a:extLst>
          </p:cNvPr>
          <p:cNvSpPr>
            <a:spLocks noGrp="1"/>
          </p:cNvSpPr>
          <p:nvPr>
            <p:ph type="title"/>
          </p:nvPr>
        </p:nvSpPr>
        <p:spPr/>
        <p:txBody>
          <a:bodyPr/>
          <a:lstStyle/>
          <a:p>
            <a:r>
              <a:rPr lang="zh-CN" altLang="en-US" dirty="0"/>
              <a:t>系统辨识的常见手段</a:t>
            </a:r>
            <a:endParaRPr lang="zh-SG" altLang="en-US" dirty="0"/>
          </a:p>
        </p:txBody>
      </p:sp>
      <p:sp>
        <p:nvSpPr>
          <p:cNvPr id="3" name="内容占位符 2">
            <a:extLst>
              <a:ext uri="{FF2B5EF4-FFF2-40B4-BE49-F238E27FC236}">
                <a16:creationId xmlns:a16="http://schemas.microsoft.com/office/drawing/2014/main" id="{67C66DA8-175D-EC26-7F79-6CC1A655D0D7}"/>
              </a:ext>
            </a:extLst>
          </p:cNvPr>
          <p:cNvSpPr>
            <a:spLocks noGrp="1"/>
          </p:cNvSpPr>
          <p:nvPr>
            <p:ph idx="1"/>
          </p:nvPr>
        </p:nvSpPr>
        <p:spPr/>
        <p:txBody>
          <a:bodyPr/>
          <a:lstStyle/>
          <a:p>
            <a:r>
              <a:rPr lang="zh-CN" altLang="en-US" dirty="0"/>
              <a:t>阶跃</a:t>
            </a:r>
            <a:endParaRPr lang="en-US" altLang="zh-CN" dirty="0"/>
          </a:p>
          <a:p>
            <a:pPr lvl="1"/>
            <a:r>
              <a:rPr lang="zh-CN" altLang="en-US" dirty="0"/>
              <a:t>施加阶跃输入并记录输出</a:t>
            </a:r>
            <a:endParaRPr lang="en-US" altLang="zh-CN" dirty="0"/>
          </a:p>
          <a:p>
            <a:pPr lvl="1"/>
            <a:r>
              <a:rPr lang="zh-CN" altLang="en-US" dirty="0"/>
              <a:t>用不同阶跃幅值测试以检验线性性。若响应形状改变，说明系统非线性</a:t>
            </a:r>
            <a:endParaRPr lang="en-US" altLang="zh-CN" dirty="0"/>
          </a:p>
          <a:p>
            <a:pPr lvl="1"/>
            <a:r>
              <a:rPr lang="zh-CN" altLang="en-US" dirty="0"/>
              <a:t>同时记录上升阶跃和下降阶跃。若两者不同，说明存在不对称（如正反转摩擦不同）</a:t>
            </a:r>
            <a:endParaRPr lang="en-US" altLang="zh-CN" dirty="0"/>
          </a:p>
          <a:p>
            <a:r>
              <a:rPr lang="zh-CN" altLang="en-US" dirty="0"/>
              <a:t>斜坡</a:t>
            </a:r>
            <a:endParaRPr lang="en-US" altLang="zh-CN" dirty="0"/>
          </a:p>
          <a:p>
            <a:pPr lvl="1"/>
            <a:r>
              <a:rPr lang="zh-CN" altLang="en-US" dirty="0"/>
              <a:t>输入以固定斜率增加再减小</a:t>
            </a:r>
            <a:endParaRPr lang="en-US" altLang="zh-CN" dirty="0"/>
          </a:p>
          <a:p>
            <a:pPr lvl="1"/>
            <a:r>
              <a:rPr lang="zh-CN" altLang="en-US" dirty="0"/>
              <a:t>辨识静摩擦大小，测试系统跟踪动态目标的能力等场景下很有用</a:t>
            </a:r>
            <a:endParaRPr lang="en-US" altLang="zh-CN" dirty="0"/>
          </a:p>
        </p:txBody>
      </p:sp>
    </p:spTree>
    <p:extLst>
      <p:ext uri="{BB962C8B-B14F-4D97-AF65-F5344CB8AC3E}">
        <p14:creationId xmlns:p14="http://schemas.microsoft.com/office/powerpoint/2010/main" val="3995187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BDCA91-0AAE-9408-8174-37E84A39606B}"/>
              </a:ext>
            </a:extLst>
          </p:cNvPr>
          <p:cNvSpPr>
            <a:spLocks noGrp="1"/>
          </p:cNvSpPr>
          <p:nvPr>
            <p:ph type="title"/>
          </p:nvPr>
        </p:nvSpPr>
        <p:spPr/>
        <p:txBody>
          <a:bodyPr/>
          <a:lstStyle/>
          <a:p>
            <a:r>
              <a:rPr lang="zh-CN" altLang="en-US" dirty="0"/>
              <a:t>系统辨识的常见手段</a:t>
            </a:r>
            <a:endParaRPr lang="zh-SG" altLang="en-US" dirty="0"/>
          </a:p>
        </p:txBody>
      </p:sp>
      <p:sp>
        <p:nvSpPr>
          <p:cNvPr id="3" name="内容占位符 2">
            <a:extLst>
              <a:ext uri="{FF2B5EF4-FFF2-40B4-BE49-F238E27FC236}">
                <a16:creationId xmlns:a16="http://schemas.microsoft.com/office/drawing/2014/main" id="{67C66DA8-175D-EC26-7F79-6CC1A655D0D7}"/>
              </a:ext>
            </a:extLst>
          </p:cNvPr>
          <p:cNvSpPr>
            <a:spLocks noGrp="1"/>
          </p:cNvSpPr>
          <p:nvPr>
            <p:ph idx="1"/>
          </p:nvPr>
        </p:nvSpPr>
        <p:spPr/>
        <p:txBody>
          <a:bodyPr/>
          <a:lstStyle/>
          <a:p>
            <a:r>
              <a:rPr lang="zh-CN" altLang="en-US" dirty="0"/>
              <a:t>正弦扫频</a:t>
            </a:r>
            <a:endParaRPr lang="en-US" altLang="zh-CN" dirty="0"/>
          </a:p>
          <a:p>
            <a:pPr lvl="1"/>
            <a:r>
              <a:rPr lang="zh-CN" altLang="en-US" dirty="0"/>
              <a:t>频率递增的一系列正弦波，每个频率几个周期，测量系统在不同频率输入下的响应</a:t>
            </a:r>
            <a:endParaRPr lang="en-US" altLang="zh-CN" dirty="0"/>
          </a:p>
          <a:p>
            <a:pPr lvl="1"/>
            <a:r>
              <a:rPr lang="zh-CN" altLang="en-US"/>
              <a:t>需要测试的频率区间越大，需要的时间就越长</a:t>
            </a:r>
            <a:endParaRPr lang="en-US" altLang="zh-CN" dirty="0"/>
          </a:p>
          <a:p>
            <a:r>
              <a:rPr lang="zh-CN" altLang="en-US" dirty="0"/>
              <a:t>伪随机二进制序列（</a:t>
            </a:r>
            <a:r>
              <a:rPr lang="en-US" altLang="zh-CN" dirty="0"/>
              <a:t>PRBS</a:t>
            </a:r>
            <a:r>
              <a:rPr lang="zh-CN" altLang="en-US" dirty="0"/>
              <a:t>）</a:t>
            </a:r>
            <a:endParaRPr lang="en-US" altLang="zh-CN" dirty="0"/>
          </a:p>
          <a:p>
            <a:pPr lvl="1"/>
            <a:r>
              <a:rPr lang="zh-CN" altLang="en-US" dirty="0"/>
              <a:t>在两个值之间切换的伪随机信号，频率信息丰富，近似白噪声，辨识所需的时间更少</a:t>
            </a:r>
          </a:p>
        </p:txBody>
      </p:sp>
    </p:spTree>
    <p:extLst>
      <p:ext uri="{BB962C8B-B14F-4D97-AF65-F5344CB8AC3E}">
        <p14:creationId xmlns:p14="http://schemas.microsoft.com/office/powerpoint/2010/main" val="12046187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2D1C45-6F38-148A-DAB7-7C48034A8A45}"/>
              </a:ext>
            </a:extLst>
          </p:cNvPr>
          <p:cNvSpPr>
            <a:spLocks noGrp="1"/>
          </p:cNvSpPr>
          <p:nvPr>
            <p:ph type="title"/>
          </p:nvPr>
        </p:nvSpPr>
        <p:spPr/>
        <p:txBody>
          <a:bodyPr/>
          <a:lstStyle/>
          <a:p>
            <a:r>
              <a:rPr lang="zh-CN" altLang="en-US" dirty="0"/>
              <a:t>为什么要看频率响应？</a:t>
            </a:r>
            <a:endParaRPr lang="zh-SG" altLang="en-US" dirty="0"/>
          </a:p>
        </p:txBody>
      </p:sp>
      <p:sp>
        <p:nvSpPr>
          <p:cNvPr id="3" name="内容占位符 2">
            <a:extLst>
              <a:ext uri="{FF2B5EF4-FFF2-40B4-BE49-F238E27FC236}">
                <a16:creationId xmlns:a16="http://schemas.microsoft.com/office/drawing/2014/main" id="{7F9D6E73-6515-ECF6-D80B-16573A21F4CF}"/>
              </a:ext>
            </a:extLst>
          </p:cNvPr>
          <p:cNvSpPr>
            <a:spLocks noGrp="1"/>
          </p:cNvSpPr>
          <p:nvPr>
            <p:ph idx="1"/>
          </p:nvPr>
        </p:nvSpPr>
        <p:spPr>
          <a:xfrm>
            <a:off x="838200" y="1825624"/>
            <a:ext cx="10515600" cy="5032375"/>
          </a:xfrm>
        </p:spPr>
        <p:txBody>
          <a:bodyPr/>
          <a:lstStyle/>
          <a:p>
            <a:r>
              <a:rPr lang="zh-CN" altLang="en-US" dirty="0"/>
              <a:t>麦克纳姆轮底盘低速好好的，可是达到某个高速就振动，整个车架嗡嗡响。大家怀疑螺丝松了，拧紧所有螺丝。还是振。</a:t>
            </a:r>
            <a:endParaRPr lang="en-US" altLang="zh-CN" dirty="0"/>
          </a:p>
          <a:p>
            <a:pPr marL="0" indent="0">
              <a:buNone/>
            </a:pPr>
            <a:r>
              <a:rPr lang="zh-CN" altLang="en-US" dirty="0"/>
              <a:t>在出问题的速度下行驶时，记录</a:t>
            </a:r>
            <a:r>
              <a:rPr lang="en-US" altLang="zh-CN" dirty="0"/>
              <a:t>5</a:t>
            </a:r>
            <a:r>
              <a:rPr lang="zh-CN" altLang="en-US" dirty="0"/>
              <a:t>秒</a:t>
            </a:r>
            <a:r>
              <a:rPr lang="en-US" altLang="zh-CN" dirty="0"/>
              <a:t>IMU</a:t>
            </a:r>
            <a:r>
              <a:rPr lang="zh-CN" altLang="en-US" dirty="0"/>
              <a:t>加速度计数据，进行</a:t>
            </a:r>
            <a:r>
              <a:rPr lang="en-US" altLang="zh-CN" dirty="0"/>
              <a:t>FFT</a:t>
            </a:r>
            <a:r>
              <a:rPr lang="zh-CN" altLang="en-US" dirty="0"/>
              <a:t>，发现</a:t>
            </a:r>
            <a:r>
              <a:rPr lang="en-US" altLang="zh-CN" dirty="0"/>
              <a:t>42Hz</a:t>
            </a:r>
            <a:r>
              <a:rPr lang="zh-CN" altLang="en-US" dirty="0"/>
              <a:t>处存在尖峰。车架结构在</a:t>
            </a:r>
            <a:r>
              <a:rPr lang="en-US" altLang="zh-CN" dirty="0"/>
              <a:t>42Hz</a:t>
            </a:r>
            <a:r>
              <a:rPr lang="zh-CN" altLang="en-US" dirty="0"/>
              <a:t>下发生谐振。</a:t>
            </a:r>
            <a:endParaRPr lang="en-US" altLang="zh-CN" dirty="0"/>
          </a:p>
          <a:p>
            <a:pPr marL="0" indent="0">
              <a:buNone/>
            </a:pPr>
            <a:r>
              <a:rPr lang="zh-CN" altLang="en-US" dirty="0"/>
              <a:t>可是</a:t>
            </a:r>
            <a:r>
              <a:rPr lang="en-US" altLang="zh-CN" dirty="0"/>
              <a:t>42Hz</a:t>
            </a:r>
            <a:r>
              <a:rPr lang="zh-CN" altLang="en-US" dirty="0"/>
              <a:t>的扰动从哪里来？为什么到了这个速度才出现谐振？经计算发现，该速度下麦轮辊子接触地面的频率是</a:t>
            </a:r>
            <a:r>
              <a:rPr lang="en-US" altLang="zh-CN" dirty="0"/>
              <a:t>42 Hz</a:t>
            </a:r>
            <a:r>
              <a:rPr lang="zh-CN" altLang="en-US" dirty="0"/>
              <a:t>。辊子接触频率恰好与车架结构的谐振频率吻合。</a:t>
            </a:r>
            <a:endParaRPr lang="en-US" altLang="zh-CN" dirty="0"/>
          </a:p>
          <a:p>
            <a:pPr marL="0" indent="0">
              <a:buNone/>
            </a:pPr>
            <a:r>
              <a:rPr lang="zh-CN" altLang="en-US" dirty="0"/>
              <a:t>加固车架，使谐振频率高于工作频率范围，问题解决。</a:t>
            </a:r>
            <a:endParaRPr lang="en-US" altLang="zh-CN" dirty="0"/>
          </a:p>
          <a:p>
            <a:pPr marL="0" indent="0">
              <a:buNone/>
            </a:pPr>
            <a:endParaRPr lang="en-US" altLang="zh-SG" dirty="0"/>
          </a:p>
          <a:p>
            <a:r>
              <a:rPr lang="zh-CN" altLang="en-US" dirty="0"/>
              <a:t>之后我们还会学习通过伯德图判断控制器的稳定裕度，知道增益和相角与频率的关系才能绘制伯德图。</a:t>
            </a:r>
            <a:endParaRPr lang="zh-SG" altLang="en-US" dirty="0"/>
          </a:p>
        </p:txBody>
      </p:sp>
    </p:spTree>
    <p:extLst>
      <p:ext uri="{BB962C8B-B14F-4D97-AF65-F5344CB8AC3E}">
        <p14:creationId xmlns:p14="http://schemas.microsoft.com/office/powerpoint/2010/main" val="533063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9048F9-A13C-E4BB-E560-D0BC6BCEFC72}"/>
              </a:ext>
            </a:extLst>
          </p:cNvPr>
          <p:cNvSpPr>
            <a:spLocks noGrp="1"/>
          </p:cNvSpPr>
          <p:nvPr>
            <p:ph type="ctrTitle"/>
          </p:nvPr>
        </p:nvSpPr>
        <p:spPr/>
        <p:txBody>
          <a:bodyPr anchor="ctr">
            <a:normAutofit/>
          </a:bodyPr>
          <a:lstStyle/>
          <a:p>
            <a:r>
              <a:rPr lang="en-US" altLang="zh-SG" dirty="0"/>
              <a:t>4.3 </a:t>
            </a:r>
            <a:r>
              <a:rPr lang="zh-CN" altLang="en-US" dirty="0"/>
              <a:t>闭环控制的稳定性</a:t>
            </a:r>
            <a:endParaRPr lang="zh-SG" altLang="en-US" dirty="0"/>
          </a:p>
        </p:txBody>
      </p:sp>
      <p:sp>
        <p:nvSpPr>
          <p:cNvPr id="3" name="副标题 2">
            <a:extLst>
              <a:ext uri="{FF2B5EF4-FFF2-40B4-BE49-F238E27FC236}">
                <a16:creationId xmlns:a16="http://schemas.microsoft.com/office/drawing/2014/main" id="{9B746688-ECE5-C65C-D0CB-8BDD6072C310}"/>
              </a:ext>
            </a:extLst>
          </p:cNvPr>
          <p:cNvSpPr>
            <a:spLocks noGrp="1"/>
          </p:cNvSpPr>
          <p:nvPr>
            <p:ph type="subTitle" idx="1"/>
          </p:nvPr>
        </p:nvSpPr>
        <p:spPr/>
        <p:txBody>
          <a:bodyPr/>
          <a:lstStyle/>
          <a:p>
            <a:r>
              <a:rPr lang="zh-CN" altLang="en-US" dirty="0"/>
              <a:t>要求：</a:t>
            </a:r>
            <a:endParaRPr lang="zh-SG" altLang="en-US" dirty="0"/>
          </a:p>
        </p:txBody>
      </p:sp>
    </p:spTree>
    <p:extLst>
      <p:ext uri="{BB962C8B-B14F-4D97-AF65-F5344CB8AC3E}">
        <p14:creationId xmlns:p14="http://schemas.microsoft.com/office/powerpoint/2010/main" val="405767479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2A545E8-2F35-4BDB-9E9F-B6CB1C642D04}"/>
              </a:ext>
            </a:extLst>
          </p:cNvPr>
          <p:cNvSpPr>
            <a:spLocks noGrp="1"/>
          </p:cNvSpPr>
          <p:nvPr>
            <p:ph type="title"/>
          </p:nvPr>
        </p:nvSpPr>
        <p:spPr/>
        <p:txBody>
          <a:bodyPr/>
          <a:lstStyle/>
          <a:p>
            <a:r>
              <a:rPr lang="en-US" altLang="zh-SG" dirty="0"/>
              <a:t>To be continued…</a:t>
            </a:r>
            <a:endParaRPr lang="zh-SG" altLang="en-US" dirty="0"/>
          </a:p>
        </p:txBody>
      </p:sp>
      <p:sp>
        <p:nvSpPr>
          <p:cNvPr id="3" name="内容占位符 2">
            <a:extLst>
              <a:ext uri="{FF2B5EF4-FFF2-40B4-BE49-F238E27FC236}">
                <a16:creationId xmlns:a16="http://schemas.microsoft.com/office/drawing/2014/main" id="{69E2B97E-93F8-DFE1-DDFC-2B6623B4768F}"/>
              </a:ext>
            </a:extLst>
          </p:cNvPr>
          <p:cNvSpPr>
            <a:spLocks noGrp="1"/>
          </p:cNvSpPr>
          <p:nvPr>
            <p:ph idx="1"/>
          </p:nvPr>
        </p:nvSpPr>
        <p:spPr/>
        <p:txBody>
          <a:bodyPr/>
          <a:lstStyle/>
          <a:p>
            <a:r>
              <a:rPr lang="zh-CN" altLang="en-US" dirty="0"/>
              <a:t>培训进度有点落后了，这部分又比较难，暂时略过</a:t>
            </a:r>
            <a:endParaRPr lang="en-US" altLang="zh-CN" dirty="0"/>
          </a:p>
          <a:p>
            <a:r>
              <a:rPr lang="zh-CN" altLang="en-US" dirty="0"/>
              <a:t>当你的云台抖成这样的时候或许你会更渴望学习它</a:t>
            </a:r>
            <a:endParaRPr lang="zh-SG" altLang="en-US" dirty="0"/>
          </a:p>
        </p:txBody>
      </p:sp>
      <p:pic>
        <p:nvPicPr>
          <p:cNvPr id="4" name="h264_video_20260716_071325">
            <a:hlinkClick r:id="" action="ppaction://media"/>
            <a:extLst>
              <a:ext uri="{FF2B5EF4-FFF2-40B4-BE49-F238E27FC236}">
                <a16:creationId xmlns:a16="http://schemas.microsoft.com/office/drawing/2014/main" id="{2C1E14F1-22A1-3F4B-DD23-AB1273A67DF6}"/>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3048000" y="3429000"/>
            <a:ext cx="6096000" cy="3429000"/>
          </a:xfrm>
          <a:prstGeom prst="rect">
            <a:avLst/>
          </a:prstGeom>
        </p:spPr>
      </p:pic>
    </p:spTree>
    <p:extLst>
      <p:ext uri="{BB962C8B-B14F-4D97-AF65-F5344CB8AC3E}">
        <p14:creationId xmlns:p14="http://schemas.microsoft.com/office/powerpoint/2010/main" val="3263473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584"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FB4B89-A1C4-19A5-1E24-7E0837F8F898}"/>
              </a:ext>
            </a:extLst>
          </p:cNvPr>
          <p:cNvSpPr>
            <a:spLocks noGrp="1"/>
          </p:cNvSpPr>
          <p:nvPr>
            <p:ph type="ctrTitle"/>
          </p:nvPr>
        </p:nvSpPr>
        <p:spPr/>
        <p:txBody>
          <a:bodyPr anchor="ctr"/>
          <a:lstStyle/>
          <a:p>
            <a:r>
              <a:rPr lang="en-US" altLang="zh-SG" dirty="0"/>
              <a:t>4.4 </a:t>
            </a:r>
            <a:r>
              <a:rPr lang="en-US" altLang="zh-CN" dirty="0"/>
              <a:t>PID</a:t>
            </a:r>
            <a:r>
              <a:rPr lang="zh-CN" altLang="en-US" dirty="0"/>
              <a:t>、离散化与改进</a:t>
            </a:r>
            <a:endParaRPr lang="zh-SG" altLang="en-US" dirty="0"/>
          </a:p>
        </p:txBody>
      </p:sp>
      <p:sp>
        <p:nvSpPr>
          <p:cNvPr id="3" name="副标题 2">
            <a:extLst>
              <a:ext uri="{FF2B5EF4-FFF2-40B4-BE49-F238E27FC236}">
                <a16:creationId xmlns:a16="http://schemas.microsoft.com/office/drawing/2014/main" id="{D00BDCDA-E0DE-033A-76C8-16AB0C97744C}"/>
              </a:ext>
            </a:extLst>
          </p:cNvPr>
          <p:cNvSpPr>
            <a:spLocks noGrp="1"/>
          </p:cNvSpPr>
          <p:nvPr>
            <p:ph type="subTitle" idx="1"/>
          </p:nvPr>
        </p:nvSpPr>
        <p:spPr>
          <a:xfrm>
            <a:off x="1524000" y="3602036"/>
            <a:ext cx="9144000" cy="3255963"/>
          </a:xfrm>
        </p:spPr>
        <p:txBody>
          <a:bodyPr>
            <a:normAutofit/>
          </a:bodyPr>
          <a:lstStyle/>
          <a:p>
            <a:r>
              <a:rPr lang="zh-CN" altLang="en-US" dirty="0"/>
              <a:t>要求：</a:t>
            </a:r>
            <a:endParaRPr lang="en-US" altLang="zh-CN" dirty="0"/>
          </a:p>
          <a:p>
            <a:pPr marL="342900" indent="-342900">
              <a:buFont typeface="Arial" panose="020B0604020202020204" pitchFamily="34" charset="0"/>
              <a:buChar char="•"/>
            </a:pPr>
            <a:r>
              <a:rPr lang="zh-CN" altLang="en-US" dirty="0"/>
              <a:t>了解比例项、积分项和微分项的意义</a:t>
            </a:r>
            <a:endParaRPr lang="en-US" altLang="zh-CN" dirty="0"/>
          </a:p>
          <a:p>
            <a:pPr marL="342900" indent="-342900">
              <a:buFont typeface="Arial" panose="020B0604020202020204" pitchFamily="34" charset="0"/>
              <a:buChar char="•"/>
            </a:pPr>
            <a:r>
              <a:rPr lang="zh-CN" altLang="en-US" dirty="0"/>
              <a:t>了解控制周期与离散控制器参数的关系</a:t>
            </a:r>
            <a:endParaRPr lang="en-US" altLang="zh-CN" dirty="0"/>
          </a:p>
          <a:p>
            <a:pPr marL="342900" indent="-342900">
              <a:buFont typeface="Arial" panose="020B0604020202020204" pitchFamily="34" charset="0"/>
              <a:buChar char="•"/>
            </a:pPr>
            <a:r>
              <a:rPr lang="zh-CN" altLang="en-US" dirty="0"/>
              <a:t>能够根据需求改进</a:t>
            </a:r>
            <a:r>
              <a:rPr lang="en-US" altLang="zh-CN" dirty="0"/>
              <a:t>PID</a:t>
            </a:r>
            <a:endParaRPr lang="zh-SG" altLang="en-US" dirty="0"/>
          </a:p>
        </p:txBody>
      </p:sp>
    </p:spTree>
    <p:extLst>
      <p:ext uri="{BB962C8B-B14F-4D97-AF65-F5344CB8AC3E}">
        <p14:creationId xmlns:p14="http://schemas.microsoft.com/office/powerpoint/2010/main" val="106540341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A686AE-7C63-5CE8-EB3D-110C6097641B}"/>
              </a:ext>
            </a:extLst>
          </p:cNvPr>
          <p:cNvSpPr>
            <a:spLocks noGrp="1"/>
          </p:cNvSpPr>
          <p:nvPr>
            <p:ph type="title"/>
          </p:nvPr>
        </p:nvSpPr>
        <p:spPr>
          <a:xfrm>
            <a:off x="838200" y="0"/>
            <a:ext cx="10515600" cy="1325563"/>
          </a:xfrm>
        </p:spPr>
        <p:txBody>
          <a:bodyPr/>
          <a:lstStyle/>
          <a:p>
            <a:r>
              <a:rPr lang="en-US" altLang="zh-CN" dirty="0"/>
              <a:t>PID</a:t>
            </a:r>
            <a:r>
              <a:rPr lang="zh-CN" altLang="en-US" dirty="0"/>
              <a:t>的时域方程和传递函数</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F63275E3-EF6B-AB0F-1ED5-F3BBA3E2B8EA}"/>
                  </a:ext>
                </a:extLst>
              </p:cNvPr>
              <p:cNvSpPr>
                <a:spLocks noGrp="1"/>
              </p:cNvSpPr>
              <p:nvPr>
                <p:ph idx="1"/>
              </p:nvPr>
            </p:nvSpPr>
            <p:spPr>
              <a:xfrm>
                <a:off x="838200" y="1329532"/>
                <a:ext cx="10515600" cy="5032375"/>
              </a:xfrm>
            </p:spPr>
            <p:txBody>
              <a:bodyPr/>
              <a:lstStyle/>
              <a:p>
                <a:pPr marL="0" indent="0">
                  <a:buNone/>
                </a:pPr>
                <a14:m>
                  <m:oMathPara xmlns:m="http://schemas.openxmlformats.org/officeDocument/2006/math">
                    <m:oMathParaPr>
                      <m:jc m:val="centerGroup"/>
                    </m:oMathParaPr>
                    <m:oMath xmlns:m="http://schemas.openxmlformats.org/officeDocument/2006/math">
                      <m:r>
                        <a:rPr lang="en-US" altLang="zh-SG" b="0" i="1" smtClean="0">
                          <a:latin typeface="Cambria Math" panose="02040503050406030204" pitchFamily="18" charset="0"/>
                        </a:rPr>
                        <m:t>𝑢</m:t>
                      </m:r>
                      <m:d>
                        <m:dPr>
                          <m:ctrlPr>
                            <a:rPr lang="en-US" altLang="zh-SG" b="0" i="1" smtClean="0">
                              <a:latin typeface="Cambria Math" panose="02040503050406030204" pitchFamily="18" charset="0"/>
                            </a:rPr>
                          </m:ctrlPr>
                        </m:dPr>
                        <m:e>
                          <m:r>
                            <a:rPr lang="en-US" altLang="zh-SG" b="0" i="1" smtClean="0">
                              <a:latin typeface="Cambria Math" panose="02040503050406030204" pitchFamily="18" charset="0"/>
                            </a:rPr>
                            <m:t>𝑡</m:t>
                          </m:r>
                        </m:e>
                      </m:d>
                      <m:r>
                        <a:rPr lang="en-US" altLang="zh-SG" b="0" i="1" smtClean="0">
                          <a:latin typeface="Cambria Math" panose="02040503050406030204" pitchFamily="18" charset="0"/>
                        </a:rPr>
                        <m:t>=</m:t>
                      </m:r>
                      <m:sSub>
                        <m:sSubPr>
                          <m:ctrlPr>
                            <a:rPr lang="en-US" altLang="zh-SG" b="0" i="1" smtClean="0">
                              <a:latin typeface="Cambria Math" panose="02040503050406030204" pitchFamily="18" charset="0"/>
                            </a:rPr>
                          </m:ctrlPr>
                        </m:sSubPr>
                        <m:e>
                          <m:r>
                            <a:rPr lang="en-US" altLang="zh-SG" b="0" i="1" smtClean="0">
                              <a:latin typeface="Cambria Math" panose="02040503050406030204" pitchFamily="18" charset="0"/>
                            </a:rPr>
                            <m:t>𝐾</m:t>
                          </m:r>
                        </m:e>
                        <m:sub>
                          <m:r>
                            <a:rPr lang="en-US" altLang="zh-SG" b="0" i="1" smtClean="0">
                              <a:latin typeface="Cambria Math" panose="02040503050406030204" pitchFamily="18" charset="0"/>
                            </a:rPr>
                            <m:t>𝑝</m:t>
                          </m:r>
                        </m:sub>
                      </m:sSub>
                      <m:r>
                        <a:rPr lang="en-US" altLang="zh-SG" b="0" i="1" smtClean="0">
                          <a:latin typeface="Cambria Math" panose="02040503050406030204" pitchFamily="18" charset="0"/>
                        </a:rPr>
                        <m:t>𝑒</m:t>
                      </m:r>
                      <m:d>
                        <m:dPr>
                          <m:ctrlPr>
                            <a:rPr lang="en-US" altLang="zh-SG" b="0" i="1" smtClean="0">
                              <a:latin typeface="Cambria Math" panose="02040503050406030204" pitchFamily="18" charset="0"/>
                            </a:rPr>
                          </m:ctrlPr>
                        </m:dPr>
                        <m:e>
                          <m:r>
                            <a:rPr lang="en-US" altLang="zh-SG" b="0" i="1" smtClean="0">
                              <a:latin typeface="Cambria Math" panose="02040503050406030204" pitchFamily="18" charset="0"/>
                            </a:rPr>
                            <m:t>𝑡</m:t>
                          </m:r>
                        </m:e>
                      </m:d>
                      <m:r>
                        <a:rPr lang="en-US" altLang="zh-SG" b="0" i="1" smtClean="0">
                          <a:latin typeface="Cambria Math" panose="02040503050406030204" pitchFamily="18" charset="0"/>
                        </a:rPr>
                        <m:t>+</m:t>
                      </m:r>
                      <m:sSub>
                        <m:sSubPr>
                          <m:ctrlPr>
                            <a:rPr lang="en-US" altLang="zh-SG" b="0" i="1" smtClean="0">
                              <a:latin typeface="Cambria Math" panose="02040503050406030204" pitchFamily="18" charset="0"/>
                            </a:rPr>
                          </m:ctrlPr>
                        </m:sSubPr>
                        <m:e>
                          <m:r>
                            <a:rPr lang="en-US" altLang="zh-SG" b="0" i="1" smtClean="0">
                              <a:latin typeface="Cambria Math" panose="02040503050406030204" pitchFamily="18" charset="0"/>
                            </a:rPr>
                            <m:t>𝐾</m:t>
                          </m:r>
                        </m:e>
                        <m:sub>
                          <m:r>
                            <a:rPr lang="en-US" altLang="zh-SG" b="0" i="1" smtClean="0">
                              <a:latin typeface="Cambria Math" panose="02040503050406030204" pitchFamily="18" charset="0"/>
                            </a:rPr>
                            <m:t>𝑖</m:t>
                          </m:r>
                        </m:sub>
                      </m:sSub>
                      <m:nary>
                        <m:naryPr>
                          <m:ctrlPr>
                            <a:rPr lang="en-US" altLang="zh-SG" b="0" i="1" smtClean="0">
                              <a:latin typeface="Cambria Math" panose="02040503050406030204" pitchFamily="18" charset="0"/>
                            </a:rPr>
                          </m:ctrlPr>
                        </m:naryPr>
                        <m:sub>
                          <m:r>
                            <m:rPr>
                              <m:brk m:alnAt="23"/>
                            </m:rPr>
                            <a:rPr lang="en-US" altLang="zh-SG" b="0" i="1" smtClean="0">
                              <a:latin typeface="Cambria Math" panose="02040503050406030204" pitchFamily="18" charset="0"/>
                            </a:rPr>
                            <m:t>0</m:t>
                          </m:r>
                        </m:sub>
                        <m:sup>
                          <m:r>
                            <a:rPr lang="en-US" altLang="zh-SG" b="0" i="1" smtClean="0">
                              <a:latin typeface="Cambria Math" panose="02040503050406030204" pitchFamily="18" charset="0"/>
                            </a:rPr>
                            <m:t>𝑡</m:t>
                          </m:r>
                        </m:sup>
                        <m:e>
                          <m:r>
                            <a:rPr lang="en-US" altLang="zh-SG" b="0" i="1" smtClean="0">
                              <a:latin typeface="Cambria Math" panose="02040503050406030204" pitchFamily="18" charset="0"/>
                            </a:rPr>
                            <m:t>𝑒</m:t>
                          </m:r>
                          <m:d>
                            <m:dPr>
                              <m:ctrlPr>
                                <a:rPr lang="en-US" altLang="zh-SG" b="0" i="1" smtClean="0">
                                  <a:latin typeface="Cambria Math" panose="02040503050406030204" pitchFamily="18" charset="0"/>
                                </a:rPr>
                              </m:ctrlPr>
                            </m:dPr>
                            <m:e>
                              <m:r>
                                <a:rPr lang="zh-SG" altLang="en-US" b="0" i="1" smtClean="0">
                                  <a:latin typeface="Cambria Math" panose="02040503050406030204" pitchFamily="18" charset="0"/>
                                </a:rPr>
                                <m:t>𝜏</m:t>
                              </m:r>
                            </m:e>
                          </m:d>
                          <m:r>
                            <a:rPr lang="en-US" altLang="zh-SG" b="0" i="1" smtClean="0">
                              <a:latin typeface="Cambria Math" panose="02040503050406030204" pitchFamily="18" charset="0"/>
                            </a:rPr>
                            <m:t>𝑑</m:t>
                          </m:r>
                          <m:r>
                            <a:rPr lang="zh-SG" altLang="en-US" b="0" i="1" smtClean="0">
                              <a:latin typeface="Cambria Math" panose="02040503050406030204" pitchFamily="18" charset="0"/>
                            </a:rPr>
                            <m:t>𝜏</m:t>
                          </m:r>
                          <m:r>
                            <a:rPr lang="en-US" altLang="zh-SG" b="0" i="1" smtClean="0">
                              <a:latin typeface="Cambria Math" panose="02040503050406030204" pitchFamily="18" charset="0"/>
                            </a:rPr>
                            <m:t>+</m:t>
                          </m:r>
                          <m:sSub>
                            <m:sSubPr>
                              <m:ctrlPr>
                                <a:rPr lang="en-US" altLang="zh-SG" b="0" i="1" smtClean="0">
                                  <a:latin typeface="Cambria Math" panose="02040503050406030204" pitchFamily="18" charset="0"/>
                                </a:rPr>
                              </m:ctrlPr>
                            </m:sSubPr>
                            <m:e>
                              <m:r>
                                <a:rPr lang="en-US" altLang="zh-SG" b="0" i="1" smtClean="0">
                                  <a:latin typeface="Cambria Math" panose="02040503050406030204" pitchFamily="18" charset="0"/>
                                </a:rPr>
                                <m:t>𝐾</m:t>
                              </m:r>
                            </m:e>
                            <m:sub>
                              <m:r>
                                <a:rPr lang="en-US" altLang="zh-SG" b="0" i="1" smtClean="0">
                                  <a:latin typeface="Cambria Math" panose="02040503050406030204" pitchFamily="18" charset="0"/>
                                </a:rPr>
                                <m:t>𝑑</m:t>
                              </m:r>
                            </m:sub>
                          </m:sSub>
                          <m:f>
                            <m:fPr>
                              <m:ctrlPr>
                                <a:rPr lang="en-US" altLang="zh-SG" b="0" i="1" smtClean="0">
                                  <a:latin typeface="Cambria Math" panose="02040503050406030204" pitchFamily="18" charset="0"/>
                                </a:rPr>
                              </m:ctrlPr>
                            </m:fPr>
                            <m:num>
                              <m:r>
                                <a:rPr lang="en-US" altLang="zh-SG" b="0" i="1" smtClean="0">
                                  <a:latin typeface="Cambria Math" panose="02040503050406030204" pitchFamily="18" charset="0"/>
                                </a:rPr>
                                <m:t>𝑑𝑒</m:t>
                              </m:r>
                              <m:r>
                                <a:rPr lang="en-US" altLang="zh-SG" b="0" i="1" smtClean="0">
                                  <a:latin typeface="Cambria Math" panose="02040503050406030204" pitchFamily="18" charset="0"/>
                                </a:rPr>
                                <m:t>(</m:t>
                              </m:r>
                              <m:r>
                                <a:rPr lang="en-US" altLang="zh-SG" b="0" i="1" smtClean="0">
                                  <a:latin typeface="Cambria Math" panose="02040503050406030204" pitchFamily="18" charset="0"/>
                                </a:rPr>
                                <m:t>𝑡</m:t>
                              </m:r>
                              <m:r>
                                <a:rPr lang="en-US" altLang="zh-SG" b="0" i="1" smtClean="0">
                                  <a:latin typeface="Cambria Math" panose="02040503050406030204" pitchFamily="18" charset="0"/>
                                </a:rPr>
                                <m:t>)</m:t>
                              </m:r>
                            </m:num>
                            <m:den>
                              <m:r>
                                <a:rPr lang="en-US" altLang="zh-SG" b="0" i="1" smtClean="0">
                                  <a:latin typeface="Cambria Math" panose="02040503050406030204" pitchFamily="18" charset="0"/>
                                </a:rPr>
                                <m:t>𝑑𝑡</m:t>
                              </m:r>
                            </m:den>
                          </m:f>
                        </m:e>
                      </m:nary>
                    </m:oMath>
                  </m:oMathPara>
                </a14:m>
                <a:endParaRPr lang="en-US" altLang="zh-SG" dirty="0"/>
              </a:p>
              <a:p>
                <a:pPr marL="0" indent="0">
                  <a:buNone/>
                </a:pPr>
                <a:r>
                  <a:rPr lang="zh-CN" altLang="en-US" dirty="0"/>
                  <a:t>作拉普拉斯变换得</a:t>
                </a:r>
                <a14:m>
                  <m:oMath xmlns:m="http://schemas.openxmlformats.org/officeDocument/2006/math">
                    <m:r>
                      <a:rPr lang="en-US" altLang="zh-CN" b="0" i="1" dirty="0" smtClean="0">
                        <a:latin typeface="Cambria Math" panose="02040503050406030204" pitchFamily="18" charset="0"/>
                      </a:rPr>
                      <m:t>𝐶</m:t>
                    </m:r>
                    <m:d>
                      <m:dPr>
                        <m:ctrlPr>
                          <a:rPr lang="en-US" altLang="zh-CN" b="0" i="1" dirty="0" smtClean="0">
                            <a:latin typeface="Cambria Math" panose="02040503050406030204" pitchFamily="18" charset="0"/>
                          </a:rPr>
                        </m:ctrlPr>
                      </m:dPr>
                      <m:e>
                        <m:r>
                          <a:rPr lang="en-US" altLang="zh-CN" b="0" i="1" dirty="0" smtClean="0">
                            <a:latin typeface="Cambria Math" panose="02040503050406030204" pitchFamily="18" charset="0"/>
                          </a:rPr>
                          <m:t>𝑠</m:t>
                        </m:r>
                      </m:e>
                    </m:d>
                    <m:r>
                      <a:rPr lang="en-US" altLang="zh-CN" b="0" i="1" dirty="0" smtClean="0">
                        <a:latin typeface="Cambria Math" panose="02040503050406030204" pitchFamily="18" charset="0"/>
                      </a:rPr>
                      <m:t>=</m:t>
                    </m:r>
                    <m:f>
                      <m:fPr>
                        <m:ctrlPr>
                          <a:rPr lang="en-US" altLang="zh-SG" i="1" smtClean="0">
                            <a:latin typeface="Cambria Math" panose="02040503050406030204" pitchFamily="18" charset="0"/>
                          </a:rPr>
                        </m:ctrlPr>
                      </m:fPr>
                      <m:num>
                        <m:sSub>
                          <m:sSubPr>
                            <m:ctrlPr>
                              <a:rPr lang="en-US" altLang="zh-SG" i="1">
                                <a:latin typeface="Cambria Math" panose="02040503050406030204" pitchFamily="18" charset="0"/>
                              </a:rPr>
                            </m:ctrlPr>
                          </m:sSubPr>
                          <m:e>
                            <m:r>
                              <a:rPr lang="en-US" altLang="zh-SG" i="1">
                                <a:latin typeface="Cambria Math" panose="02040503050406030204" pitchFamily="18" charset="0"/>
                              </a:rPr>
                              <m:t>𝐾</m:t>
                            </m:r>
                          </m:e>
                          <m:sub>
                            <m:r>
                              <a:rPr lang="en-US" altLang="zh-SG" i="1">
                                <a:latin typeface="Cambria Math" panose="02040503050406030204" pitchFamily="18" charset="0"/>
                              </a:rPr>
                              <m:t>𝑝</m:t>
                            </m:r>
                          </m:sub>
                        </m:sSub>
                        <m:r>
                          <a:rPr lang="en-US" altLang="zh-SG" b="0" i="1" smtClean="0">
                            <a:latin typeface="Cambria Math" panose="02040503050406030204" pitchFamily="18" charset="0"/>
                          </a:rPr>
                          <m:t>𝑠</m:t>
                        </m:r>
                        <m:r>
                          <a:rPr lang="en-US" altLang="zh-SG" i="1">
                            <a:latin typeface="Cambria Math" panose="02040503050406030204" pitchFamily="18" charset="0"/>
                          </a:rPr>
                          <m:t>+</m:t>
                        </m:r>
                        <m:sSub>
                          <m:sSubPr>
                            <m:ctrlPr>
                              <a:rPr lang="en-US" altLang="zh-SG" i="1">
                                <a:latin typeface="Cambria Math" panose="02040503050406030204" pitchFamily="18" charset="0"/>
                              </a:rPr>
                            </m:ctrlPr>
                          </m:sSubPr>
                          <m:e>
                            <m:r>
                              <a:rPr lang="en-US" altLang="zh-SG" i="1">
                                <a:latin typeface="Cambria Math" panose="02040503050406030204" pitchFamily="18" charset="0"/>
                              </a:rPr>
                              <m:t>𝐾</m:t>
                            </m:r>
                          </m:e>
                          <m:sub>
                            <m:r>
                              <a:rPr lang="en-US" altLang="zh-SG" i="1">
                                <a:latin typeface="Cambria Math" panose="02040503050406030204" pitchFamily="18" charset="0"/>
                              </a:rPr>
                              <m:t>𝑖</m:t>
                            </m:r>
                          </m:sub>
                        </m:sSub>
                        <m:r>
                          <a:rPr lang="en-US" altLang="zh-SG" i="1">
                            <a:latin typeface="Cambria Math" panose="02040503050406030204" pitchFamily="18" charset="0"/>
                          </a:rPr>
                          <m:t>+</m:t>
                        </m:r>
                        <m:sSub>
                          <m:sSubPr>
                            <m:ctrlPr>
                              <a:rPr lang="en-US" altLang="zh-SG" i="1">
                                <a:latin typeface="Cambria Math" panose="02040503050406030204" pitchFamily="18" charset="0"/>
                              </a:rPr>
                            </m:ctrlPr>
                          </m:sSubPr>
                          <m:e>
                            <m:r>
                              <a:rPr lang="en-US" altLang="zh-SG" i="1">
                                <a:latin typeface="Cambria Math" panose="02040503050406030204" pitchFamily="18" charset="0"/>
                              </a:rPr>
                              <m:t>𝐾</m:t>
                            </m:r>
                          </m:e>
                          <m:sub>
                            <m:r>
                              <a:rPr lang="en-US" altLang="zh-SG" i="1">
                                <a:latin typeface="Cambria Math" panose="02040503050406030204" pitchFamily="18" charset="0"/>
                              </a:rPr>
                              <m:t>𝑑</m:t>
                            </m:r>
                          </m:sub>
                        </m:sSub>
                        <m:sSup>
                          <m:sSupPr>
                            <m:ctrlPr>
                              <a:rPr lang="en-US" altLang="zh-SG" i="1" smtClean="0">
                                <a:latin typeface="Cambria Math" panose="02040503050406030204" pitchFamily="18" charset="0"/>
                              </a:rPr>
                            </m:ctrlPr>
                          </m:sSupPr>
                          <m:e>
                            <m:r>
                              <a:rPr lang="en-US" altLang="zh-SG" b="0" i="1" smtClean="0">
                                <a:latin typeface="Cambria Math" panose="02040503050406030204" pitchFamily="18" charset="0"/>
                              </a:rPr>
                              <m:t>𝑠</m:t>
                            </m:r>
                          </m:e>
                          <m:sup>
                            <m:r>
                              <a:rPr lang="en-US" altLang="zh-SG" b="0" i="1" smtClean="0">
                                <a:latin typeface="Cambria Math" panose="02040503050406030204" pitchFamily="18" charset="0"/>
                              </a:rPr>
                              <m:t>2</m:t>
                            </m:r>
                          </m:sup>
                        </m:sSup>
                      </m:num>
                      <m:den>
                        <m:r>
                          <a:rPr lang="en-US" altLang="zh-SG" b="0" i="1" smtClean="0">
                            <a:latin typeface="Cambria Math" panose="02040503050406030204" pitchFamily="18" charset="0"/>
                          </a:rPr>
                          <m:t>𝑠</m:t>
                        </m:r>
                      </m:den>
                    </m:f>
                  </m:oMath>
                </a14:m>
                <a:endParaRPr lang="en-US" altLang="zh-SG" dirty="0"/>
              </a:p>
              <a:p>
                <a:pPr marL="0" indent="0">
                  <a:buNone/>
                </a:pPr>
                <a:r>
                  <a:rPr lang="zh-CN" altLang="en-US" dirty="0"/>
                  <a:t>记</a:t>
                </a:r>
                <a14:m>
                  <m:oMath xmlns:m="http://schemas.openxmlformats.org/officeDocument/2006/math">
                    <m:sSub>
                      <m:sSubPr>
                        <m:ctrlPr>
                          <a:rPr lang="en-US" altLang="zh-SG" b="0" i="1" smtClean="0">
                            <a:latin typeface="Cambria Math" panose="02040503050406030204" pitchFamily="18" charset="0"/>
                          </a:rPr>
                        </m:ctrlPr>
                      </m:sSubPr>
                      <m:e>
                        <m:r>
                          <a:rPr lang="en-US" altLang="zh-SG" b="0" i="1" smtClean="0">
                            <a:latin typeface="Cambria Math" panose="02040503050406030204" pitchFamily="18" charset="0"/>
                          </a:rPr>
                          <m:t>𝑇</m:t>
                        </m:r>
                      </m:e>
                      <m:sub>
                        <m:r>
                          <a:rPr lang="en-US" altLang="zh-SG" b="0" i="1" smtClean="0">
                            <a:latin typeface="Cambria Math" panose="02040503050406030204" pitchFamily="18" charset="0"/>
                          </a:rPr>
                          <m:t>𝑖</m:t>
                        </m:r>
                      </m:sub>
                    </m:sSub>
                    <m:r>
                      <a:rPr lang="en-US" altLang="zh-SG" b="0" i="1" smtClean="0">
                        <a:latin typeface="Cambria Math" panose="02040503050406030204" pitchFamily="18" charset="0"/>
                      </a:rPr>
                      <m:t>=</m:t>
                    </m:r>
                    <m:f>
                      <m:fPr>
                        <m:ctrlPr>
                          <a:rPr lang="en-US" altLang="zh-SG" b="0" i="1" smtClean="0">
                            <a:latin typeface="Cambria Math" panose="02040503050406030204" pitchFamily="18" charset="0"/>
                          </a:rPr>
                        </m:ctrlPr>
                      </m:fPr>
                      <m:num>
                        <m:sSub>
                          <m:sSubPr>
                            <m:ctrlPr>
                              <a:rPr lang="en-US" altLang="zh-SG" b="0" i="1" smtClean="0">
                                <a:latin typeface="Cambria Math" panose="02040503050406030204" pitchFamily="18" charset="0"/>
                              </a:rPr>
                            </m:ctrlPr>
                          </m:sSubPr>
                          <m:e>
                            <m:r>
                              <a:rPr lang="en-US" altLang="zh-SG" b="0" i="1" smtClean="0">
                                <a:latin typeface="Cambria Math" panose="02040503050406030204" pitchFamily="18" charset="0"/>
                              </a:rPr>
                              <m:t>𝐾</m:t>
                            </m:r>
                          </m:e>
                          <m:sub>
                            <m:r>
                              <a:rPr lang="en-US" altLang="zh-SG" b="0" i="1" smtClean="0">
                                <a:latin typeface="Cambria Math" panose="02040503050406030204" pitchFamily="18" charset="0"/>
                              </a:rPr>
                              <m:t>𝑝</m:t>
                            </m:r>
                          </m:sub>
                        </m:sSub>
                      </m:num>
                      <m:den>
                        <m:sSub>
                          <m:sSubPr>
                            <m:ctrlPr>
                              <a:rPr lang="en-US" altLang="zh-SG" b="0" i="1" smtClean="0">
                                <a:latin typeface="Cambria Math" panose="02040503050406030204" pitchFamily="18" charset="0"/>
                              </a:rPr>
                            </m:ctrlPr>
                          </m:sSubPr>
                          <m:e>
                            <m:r>
                              <a:rPr lang="en-US" altLang="zh-SG" b="0" i="1" smtClean="0">
                                <a:latin typeface="Cambria Math" panose="02040503050406030204" pitchFamily="18" charset="0"/>
                              </a:rPr>
                              <m:t>𝐾</m:t>
                            </m:r>
                          </m:e>
                          <m:sub>
                            <m:r>
                              <a:rPr lang="en-US" altLang="zh-SG" b="0" i="1" smtClean="0">
                                <a:latin typeface="Cambria Math" panose="02040503050406030204" pitchFamily="18" charset="0"/>
                              </a:rPr>
                              <m:t>𝑖</m:t>
                            </m:r>
                          </m:sub>
                        </m:sSub>
                      </m:den>
                    </m:f>
                  </m:oMath>
                </a14:m>
                <a:r>
                  <a:rPr lang="zh-CN" altLang="en-US" dirty="0"/>
                  <a:t>为积分时间，对于恒定误差，经过</a:t>
                </a:r>
                <a14:m>
                  <m:oMath xmlns:m="http://schemas.openxmlformats.org/officeDocument/2006/math">
                    <m:sSub>
                      <m:sSubPr>
                        <m:ctrlPr>
                          <a:rPr lang="en-US" altLang="zh-SG" i="1">
                            <a:latin typeface="Cambria Math" panose="02040503050406030204" pitchFamily="18" charset="0"/>
                          </a:rPr>
                        </m:ctrlPr>
                      </m:sSubPr>
                      <m:e>
                        <m:r>
                          <a:rPr lang="en-US" altLang="zh-SG" i="1">
                            <a:latin typeface="Cambria Math" panose="02040503050406030204" pitchFamily="18" charset="0"/>
                          </a:rPr>
                          <m:t>𝑇</m:t>
                        </m:r>
                      </m:e>
                      <m:sub>
                        <m:r>
                          <a:rPr lang="en-US" altLang="zh-SG" i="1">
                            <a:latin typeface="Cambria Math" panose="02040503050406030204" pitchFamily="18" charset="0"/>
                          </a:rPr>
                          <m:t>𝑖</m:t>
                        </m:r>
                      </m:sub>
                    </m:sSub>
                  </m:oMath>
                </a14:m>
                <a:r>
                  <a:rPr lang="zh-CN" altLang="en-US" dirty="0"/>
                  <a:t>后积分输出与比例输出相等，相当于积分器“记”住了过去</a:t>
                </a:r>
                <a14:m>
                  <m:oMath xmlns:m="http://schemas.openxmlformats.org/officeDocument/2006/math">
                    <m:sSub>
                      <m:sSubPr>
                        <m:ctrlPr>
                          <a:rPr lang="en-US" altLang="zh-SG" i="1">
                            <a:latin typeface="Cambria Math" panose="02040503050406030204" pitchFamily="18" charset="0"/>
                          </a:rPr>
                        </m:ctrlPr>
                      </m:sSubPr>
                      <m:e>
                        <m:r>
                          <a:rPr lang="en-US" altLang="zh-SG" i="1">
                            <a:latin typeface="Cambria Math" panose="02040503050406030204" pitchFamily="18" charset="0"/>
                          </a:rPr>
                          <m:t>𝑇</m:t>
                        </m:r>
                      </m:e>
                      <m:sub>
                        <m:r>
                          <a:rPr lang="en-US" altLang="zh-SG" i="1">
                            <a:latin typeface="Cambria Math" panose="02040503050406030204" pitchFamily="18" charset="0"/>
                          </a:rPr>
                          <m:t>𝑖</m:t>
                        </m:r>
                      </m:sub>
                    </m:sSub>
                  </m:oMath>
                </a14:m>
                <a:r>
                  <a:rPr lang="zh-CN" altLang="en-US" dirty="0"/>
                  <a:t>的误差</a:t>
                </a:r>
                <a:endParaRPr lang="en-US" altLang="zh-SG" i="1" dirty="0">
                  <a:latin typeface="Cambria Math" panose="02040503050406030204" pitchFamily="18" charset="0"/>
                </a:endParaRPr>
              </a:p>
              <a:p>
                <a:pPr marL="0" indent="0">
                  <a:buNone/>
                </a:pPr>
                <a14:m>
                  <m:oMath xmlns:m="http://schemas.openxmlformats.org/officeDocument/2006/math">
                    <m:sSub>
                      <m:sSubPr>
                        <m:ctrlPr>
                          <a:rPr lang="en-US" altLang="zh-SG" i="1">
                            <a:latin typeface="Cambria Math" panose="02040503050406030204" pitchFamily="18" charset="0"/>
                          </a:rPr>
                        </m:ctrlPr>
                      </m:sSubPr>
                      <m:e>
                        <m:r>
                          <a:rPr lang="en-US" altLang="zh-SG" i="1">
                            <a:latin typeface="Cambria Math" panose="02040503050406030204" pitchFamily="18" charset="0"/>
                          </a:rPr>
                          <m:t>𝑇</m:t>
                        </m:r>
                      </m:e>
                      <m:sub>
                        <m:r>
                          <m:rPr>
                            <m:sty m:val="p"/>
                          </m:rPr>
                          <a:rPr lang="en-US" altLang="zh-CN" i="1" smtClean="0">
                            <a:latin typeface="Cambria Math" panose="02040503050406030204" pitchFamily="18" charset="0"/>
                          </a:rPr>
                          <m:t>d</m:t>
                        </m:r>
                      </m:sub>
                    </m:sSub>
                    <m:r>
                      <a:rPr lang="en-US" altLang="zh-SG" i="1">
                        <a:latin typeface="Cambria Math" panose="02040503050406030204" pitchFamily="18" charset="0"/>
                      </a:rPr>
                      <m:t>=</m:t>
                    </m:r>
                    <m:f>
                      <m:fPr>
                        <m:ctrlPr>
                          <a:rPr lang="en-US" altLang="zh-SG" i="1">
                            <a:latin typeface="Cambria Math" panose="02040503050406030204" pitchFamily="18" charset="0"/>
                          </a:rPr>
                        </m:ctrlPr>
                      </m:fPr>
                      <m:num>
                        <m:sSub>
                          <m:sSubPr>
                            <m:ctrlPr>
                              <a:rPr lang="en-US" altLang="zh-SG" i="1">
                                <a:latin typeface="Cambria Math" panose="02040503050406030204" pitchFamily="18" charset="0"/>
                              </a:rPr>
                            </m:ctrlPr>
                          </m:sSubPr>
                          <m:e>
                            <m:r>
                              <a:rPr lang="en-US" altLang="zh-SG" i="1">
                                <a:latin typeface="Cambria Math" panose="02040503050406030204" pitchFamily="18" charset="0"/>
                              </a:rPr>
                              <m:t>𝐾</m:t>
                            </m:r>
                          </m:e>
                          <m:sub>
                            <m:r>
                              <a:rPr lang="en-US" altLang="zh-SG" b="0" i="1" smtClean="0">
                                <a:latin typeface="Cambria Math" panose="02040503050406030204" pitchFamily="18" charset="0"/>
                              </a:rPr>
                              <m:t>𝑑</m:t>
                            </m:r>
                          </m:sub>
                        </m:sSub>
                      </m:num>
                      <m:den>
                        <m:sSub>
                          <m:sSubPr>
                            <m:ctrlPr>
                              <a:rPr lang="en-US" altLang="zh-SG" i="1">
                                <a:latin typeface="Cambria Math" panose="02040503050406030204" pitchFamily="18" charset="0"/>
                              </a:rPr>
                            </m:ctrlPr>
                          </m:sSubPr>
                          <m:e>
                            <m:r>
                              <a:rPr lang="en-US" altLang="zh-SG" i="1">
                                <a:latin typeface="Cambria Math" panose="02040503050406030204" pitchFamily="18" charset="0"/>
                              </a:rPr>
                              <m:t>𝐾</m:t>
                            </m:r>
                          </m:e>
                          <m:sub>
                            <m:r>
                              <a:rPr lang="en-US" altLang="zh-SG" b="0" i="1" smtClean="0">
                                <a:latin typeface="Cambria Math" panose="02040503050406030204" pitchFamily="18" charset="0"/>
                              </a:rPr>
                              <m:t>𝑝</m:t>
                            </m:r>
                          </m:sub>
                        </m:sSub>
                      </m:den>
                    </m:f>
                  </m:oMath>
                </a14:m>
                <a:r>
                  <a:rPr lang="zh-CN" altLang="en-US" dirty="0"/>
                  <a:t>为微分时间，对于匀速变化的误差，经过</a:t>
                </a:r>
                <a14:m>
                  <m:oMath xmlns:m="http://schemas.openxmlformats.org/officeDocument/2006/math">
                    <m:sSub>
                      <m:sSubPr>
                        <m:ctrlPr>
                          <a:rPr lang="en-US" altLang="zh-SG" i="1">
                            <a:latin typeface="Cambria Math" panose="02040503050406030204" pitchFamily="18" charset="0"/>
                          </a:rPr>
                        </m:ctrlPr>
                      </m:sSubPr>
                      <m:e>
                        <m:r>
                          <a:rPr lang="en-US" altLang="zh-SG" i="1">
                            <a:latin typeface="Cambria Math" panose="02040503050406030204" pitchFamily="18" charset="0"/>
                          </a:rPr>
                          <m:t>𝑇</m:t>
                        </m:r>
                      </m:e>
                      <m:sub>
                        <m:r>
                          <m:rPr>
                            <m:sty m:val="p"/>
                          </m:rPr>
                          <a:rPr lang="en-US" altLang="zh-CN" i="1">
                            <a:latin typeface="Cambria Math" panose="02040503050406030204" pitchFamily="18" charset="0"/>
                          </a:rPr>
                          <m:t>d</m:t>
                        </m:r>
                      </m:sub>
                    </m:sSub>
                  </m:oMath>
                </a14:m>
                <a:r>
                  <a:rPr lang="zh-CN" altLang="en-US" dirty="0"/>
                  <a:t>后比例输出与微分输出相等，相当于微分器“预测”到了接下来</a:t>
                </a:r>
                <a14:m>
                  <m:oMath xmlns:m="http://schemas.openxmlformats.org/officeDocument/2006/math">
                    <m:sSub>
                      <m:sSubPr>
                        <m:ctrlPr>
                          <a:rPr lang="en-US" altLang="zh-SG" i="1">
                            <a:latin typeface="Cambria Math" panose="02040503050406030204" pitchFamily="18" charset="0"/>
                          </a:rPr>
                        </m:ctrlPr>
                      </m:sSubPr>
                      <m:e>
                        <m:r>
                          <a:rPr lang="en-US" altLang="zh-SG" i="1">
                            <a:latin typeface="Cambria Math" panose="02040503050406030204" pitchFamily="18" charset="0"/>
                          </a:rPr>
                          <m:t>𝑇</m:t>
                        </m:r>
                      </m:e>
                      <m:sub>
                        <m:r>
                          <m:rPr>
                            <m:sty m:val="p"/>
                          </m:rPr>
                          <a:rPr lang="en-US" altLang="zh-CN" i="1">
                            <a:latin typeface="Cambria Math" panose="02040503050406030204" pitchFamily="18" charset="0"/>
                          </a:rPr>
                          <m:t>d</m:t>
                        </m:r>
                      </m:sub>
                    </m:sSub>
                  </m:oMath>
                </a14:m>
                <a:r>
                  <a:rPr lang="zh-CN" altLang="en-US" dirty="0"/>
                  <a:t>的可能误差</a:t>
                </a:r>
                <a:endParaRPr lang="en-US" altLang="zh-CN" dirty="0"/>
              </a:p>
              <a:p>
                <a:pPr marL="0" indent="0">
                  <a:buNone/>
                </a:pPr>
                <a:r>
                  <a:rPr lang="zh-CN" altLang="en-US" dirty="0"/>
                  <a:t>传递函数化为</a:t>
                </a:r>
                <a14:m>
                  <m:oMath xmlns:m="http://schemas.openxmlformats.org/officeDocument/2006/math">
                    <m:r>
                      <a:rPr lang="en-US" altLang="zh-CN" b="0" i="1" dirty="0" smtClean="0">
                        <a:latin typeface="Cambria Math" panose="02040503050406030204" pitchFamily="18" charset="0"/>
                      </a:rPr>
                      <m:t>𝐶</m:t>
                    </m:r>
                    <m:d>
                      <m:dPr>
                        <m:ctrlPr>
                          <a:rPr lang="en-US" altLang="zh-CN" b="0" i="1" dirty="0" smtClean="0">
                            <a:latin typeface="Cambria Math" panose="02040503050406030204" pitchFamily="18" charset="0"/>
                          </a:rPr>
                        </m:ctrlPr>
                      </m:dPr>
                      <m:e>
                        <m:r>
                          <a:rPr lang="en-US" altLang="zh-CN" b="0" i="1" dirty="0" smtClean="0">
                            <a:latin typeface="Cambria Math" panose="02040503050406030204" pitchFamily="18" charset="0"/>
                          </a:rPr>
                          <m:t>𝑠</m:t>
                        </m:r>
                      </m:e>
                    </m:d>
                    <m:r>
                      <a:rPr lang="en-US" altLang="zh-CN" b="0" i="1" dirty="0" smtClean="0">
                        <a:latin typeface="Cambria Math" panose="02040503050406030204" pitchFamily="18" charset="0"/>
                      </a:rPr>
                      <m:t>=</m:t>
                    </m:r>
                    <m:sSub>
                      <m:sSubPr>
                        <m:ctrlPr>
                          <a:rPr lang="en-US" altLang="zh-CN" b="0" i="1" dirty="0" smtClean="0">
                            <a:latin typeface="Cambria Math" panose="02040503050406030204" pitchFamily="18" charset="0"/>
                          </a:rPr>
                        </m:ctrlPr>
                      </m:sSubPr>
                      <m:e>
                        <m:r>
                          <m:rPr>
                            <m:sty m:val="p"/>
                          </m:rPr>
                          <a:rPr lang="en-US" altLang="zh-CN" i="1" dirty="0">
                            <a:latin typeface="Cambria Math" panose="02040503050406030204" pitchFamily="18" charset="0"/>
                          </a:rPr>
                          <m:t>K</m:t>
                        </m:r>
                      </m:e>
                      <m:sub>
                        <m:r>
                          <a:rPr lang="en-US" altLang="zh-CN" b="0" i="1" dirty="0" smtClean="0">
                            <a:latin typeface="Cambria Math" panose="02040503050406030204" pitchFamily="18" charset="0"/>
                          </a:rPr>
                          <m:t>𝑝</m:t>
                        </m:r>
                      </m:sub>
                    </m:sSub>
                    <m:r>
                      <a:rPr lang="en-US" altLang="zh-CN" b="0" i="1" dirty="0" smtClean="0">
                        <a:latin typeface="Cambria Math" panose="02040503050406030204" pitchFamily="18" charset="0"/>
                      </a:rPr>
                      <m:t>(1+</m:t>
                    </m:r>
                    <m:f>
                      <m:fPr>
                        <m:ctrlPr>
                          <a:rPr lang="en-US" altLang="zh-CN" b="0" i="1" dirty="0" smtClean="0">
                            <a:latin typeface="Cambria Math" panose="02040503050406030204" pitchFamily="18" charset="0"/>
                          </a:rPr>
                        </m:ctrlPr>
                      </m:fPr>
                      <m:num>
                        <m:r>
                          <a:rPr lang="en-US" altLang="zh-CN" b="0" i="1" dirty="0" smtClean="0">
                            <a:latin typeface="Cambria Math" panose="02040503050406030204" pitchFamily="18" charset="0"/>
                          </a:rPr>
                          <m:t>1</m:t>
                        </m:r>
                      </m:num>
                      <m:den>
                        <m:sSub>
                          <m:sSubPr>
                            <m:ctrlPr>
                              <a:rPr lang="en-US" altLang="zh-SG" i="1">
                                <a:latin typeface="Cambria Math" panose="02040503050406030204" pitchFamily="18" charset="0"/>
                              </a:rPr>
                            </m:ctrlPr>
                          </m:sSubPr>
                          <m:e>
                            <m:r>
                              <a:rPr lang="en-US" altLang="zh-SG" i="1">
                                <a:latin typeface="Cambria Math" panose="02040503050406030204" pitchFamily="18" charset="0"/>
                              </a:rPr>
                              <m:t>𝑇</m:t>
                            </m:r>
                          </m:e>
                          <m:sub>
                            <m:r>
                              <a:rPr lang="en-US" altLang="zh-SG" i="1">
                                <a:latin typeface="Cambria Math" panose="02040503050406030204" pitchFamily="18" charset="0"/>
                              </a:rPr>
                              <m:t>𝑖</m:t>
                            </m:r>
                          </m:sub>
                        </m:sSub>
                        <m:r>
                          <a:rPr lang="en-US" altLang="zh-CN" b="0" i="1" dirty="0" smtClean="0">
                            <a:latin typeface="Cambria Math" panose="02040503050406030204" pitchFamily="18" charset="0"/>
                          </a:rPr>
                          <m:t>𝑠</m:t>
                        </m:r>
                      </m:den>
                    </m:f>
                    <m:r>
                      <a:rPr lang="en-US" altLang="zh-CN" b="0" i="1" dirty="0" smtClean="0">
                        <a:latin typeface="Cambria Math" panose="02040503050406030204" pitchFamily="18" charset="0"/>
                      </a:rPr>
                      <m:t>+</m:t>
                    </m:r>
                    <m:sSub>
                      <m:sSubPr>
                        <m:ctrlPr>
                          <a:rPr lang="en-US" altLang="zh-SG" i="1">
                            <a:latin typeface="Cambria Math" panose="02040503050406030204" pitchFamily="18" charset="0"/>
                          </a:rPr>
                        </m:ctrlPr>
                      </m:sSubPr>
                      <m:e>
                        <m:r>
                          <a:rPr lang="en-US" altLang="zh-SG" i="1">
                            <a:latin typeface="Cambria Math" panose="02040503050406030204" pitchFamily="18" charset="0"/>
                          </a:rPr>
                          <m:t>𝑇</m:t>
                        </m:r>
                      </m:e>
                      <m:sub>
                        <m:r>
                          <m:rPr>
                            <m:sty m:val="p"/>
                          </m:rPr>
                          <a:rPr lang="en-US" altLang="zh-CN" i="1">
                            <a:latin typeface="Cambria Math" panose="02040503050406030204" pitchFamily="18" charset="0"/>
                          </a:rPr>
                          <m:t>d</m:t>
                        </m:r>
                      </m:sub>
                    </m:sSub>
                    <m:r>
                      <a:rPr lang="en-US" altLang="zh-CN" b="0" i="1" smtClean="0">
                        <a:latin typeface="Cambria Math" panose="02040503050406030204" pitchFamily="18" charset="0"/>
                      </a:rPr>
                      <m:t>𝑠</m:t>
                    </m:r>
                    <m:r>
                      <a:rPr lang="en-US" altLang="zh-CN" b="0" i="1" dirty="0" smtClean="0">
                        <a:latin typeface="Cambria Math" panose="02040503050406030204" pitchFamily="18" charset="0"/>
                      </a:rPr>
                      <m:t>)</m:t>
                    </m:r>
                  </m:oMath>
                </a14:m>
                <a:endParaRPr lang="en-US" altLang="zh-CN" dirty="0"/>
              </a:p>
            </p:txBody>
          </p:sp>
        </mc:Choice>
        <mc:Fallback xmlns="">
          <p:sp>
            <p:nvSpPr>
              <p:cNvPr id="3" name="内容占位符 2">
                <a:extLst>
                  <a:ext uri="{FF2B5EF4-FFF2-40B4-BE49-F238E27FC236}">
                    <a16:creationId xmlns:a16="http://schemas.microsoft.com/office/drawing/2014/main" id="{F63275E3-EF6B-AB0F-1ED5-F3BBA3E2B8EA}"/>
                  </a:ext>
                </a:extLst>
              </p:cNvPr>
              <p:cNvSpPr>
                <a:spLocks noGrp="1" noRot="1" noChangeAspect="1" noMove="1" noResize="1" noEditPoints="1" noAdjustHandles="1" noChangeArrowheads="1" noChangeShapeType="1" noTextEdit="1"/>
              </p:cNvSpPr>
              <p:nvPr>
                <p:ph idx="1"/>
              </p:nvPr>
            </p:nvSpPr>
            <p:spPr>
              <a:xfrm>
                <a:off x="838200" y="1329532"/>
                <a:ext cx="10515600" cy="5032375"/>
              </a:xfrm>
              <a:blipFill>
                <a:blip r:embed="rId2"/>
                <a:stretch>
                  <a:fillRect l="-1217" r="-116"/>
                </a:stretch>
              </a:blipFill>
            </p:spPr>
            <p:txBody>
              <a:bodyPr/>
              <a:lstStyle/>
              <a:p>
                <a:r>
                  <a:rPr lang="zh-SG" altLang="en-US">
                    <a:noFill/>
                  </a:rPr>
                  <a:t> </a:t>
                </a:r>
              </a:p>
            </p:txBody>
          </p:sp>
        </mc:Fallback>
      </mc:AlternateContent>
    </p:spTree>
    <p:extLst>
      <p:ext uri="{BB962C8B-B14F-4D97-AF65-F5344CB8AC3E}">
        <p14:creationId xmlns:p14="http://schemas.microsoft.com/office/powerpoint/2010/main" val="26227143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017886-F1FB-394D-1E62-EC178A9BC020}"/>
              </a:ext>
            </a:extLst>
          </p:cNvPr>
          <p:cNvSpPr>
            <a:spLocks noGrp="1"/>
          </p:cNvSpPr>
          <p:nvPr>
            <p:ph type="title"/>
          </p:nvPr>
        </p:nvSpPr>
        <p:spPr>
          <a:xfrm>
            <a:off x="838200" y="0"/>
            <a:ext cx="10515600" cy="1325563"/>
          </a:xfrm>
        </p:spPr>
        <p:txBody>
          <a:bodyPr/>
          <a:lstStyle/>
          <a:p>
            <a:r>
              <a:rPr lang="en-US" altLang="zh-CN" dirty="0"/>
              <a:t>PID</a:t>
            </a:r>
            <a:r>
              <a:rPr lang="zh-CN" altLang="en-US" dirty="0"/>
              <a:t>的频率响应</a:t>
            </a:r>
            <a:endParaRPr lang="zh-SG" altLang="en-US" dirty="0"/>
          </a:p>
        </p:txBody>
      </p:sp>
      <mc:AlternateContent xmlns:mc="http://schemas.openxmlformats.org/markup-compatibility/2006">
        <mc:Choice xmlns:a14="http://schemas.microsoft.com/office/drawing/2010/main" Requires="a14">
          <p:sp>
            <p:nvSpPr>
              <p:cNvPr id="3" name="内容占位符 2">
                <a:extLst>
                  <a:ext uri="{FF2B5EF4-FFF2-40B4-BE49-F238E27FC236}">
                    <a16:creationId xmlns:a16="http://schemas.microsoft.com/office/drawing/2014/main" id="{F2FC0144-45E2-B528-AC72-F1083B9E1B8C}"/>
                  </a:ext>
                </a:extLst>
              </p:cNvPr>
              <p:cNvSpPr>
                <a:spLocks noGrp="1"/>
              </p:cNvSpPr>
              <p:nvPr>
                <p:ph idx="1"/>
              </p:nvPr>
            </p:nvSpPr>
            <p:spPr>
              <a:xfrm>
                <a:off x="838200" y="1325563"/>
                <a:ext cx="10515600" cy="5532437"/>
              </a:xfrm>
            </p:spPr>
            <p:txBody>
              <a:bodyPr>
                <a:normAutofit/>
              </a:bodyPr>
              <a:lstStyle/>
              <a:p>
                <a:pPr marL="0" indent="0">
                  <a:buNone/>
                </a:pPr>
                <a:r>
                  <a:rPr lang="zh-CN" altLang="en-US" dirty="0"/>
                  <a:t>对幅值恒定、频率为</a:t>
                </a:r>
                <a14:m>
                  <m:oMath xmlns:m="http://schemas.openxmlformats.org/officeDocument/2006/math">
                    <m:r>
                      <a:rPr lang="zh-CN" altLang="en-US" i="1" smtClean="0">
                        <a:latin typeface="Cambria Math" panose="02040503050406030204" pitchFamily="18" charset="0"/>
                      </a:rPr>
                      <m:t>𝜔</m:t>
                    </m:r>
                  </m:oMath>
                </a14:m>
                <a:r>
                  <a:rPr lang="zh-CN" altLang="en-US" dirty="0"/>
                  <a:t>的正弦信号的幅</a:t>
                </a:r>
                <a:r>
                  <a:rPr lang="zh-CN" altLang="en-US"/>
                  <a:t>值增益为</a:t>
                </a:r>
                <a:endParaRPr lang="en-US" altLang="zh-CN" dirty="0"/>
              </a:p>
              <a:p>
                <a:pPr marL="0" indent="0">
                  <a:buNone/>
                </a:pPr>
                <a14:m>
                  <m:oMathPara xmlns:m="http://schemas.openxmlformats.org/officeDocument/2006/math">
                    <m:oMathParaPr>
                      <m:jc m:val="centerGroup"/>
                    </m:oMathParaPr>
                    <m:oMath xmlns:m="http://schemas.openxmlformats.org/officeDocument/2006/math">
                      <m:d>
                        <m:dPr>
                          <m:begChr m:val="|"/>
                          <m:endChr m:val="|"/>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𝐶</m:t>
                          </m:r>
                          <m:d>
                            <m:dPr>
                              <m:ctrlPr>
                                <a:rPr lang="en-US" altLang="zh-CN" b="0" i="1" smtClean="0">
                                  <a:latin typeface="Cambria Math" panose="02040503050406030204" pitchFamily="18" charset="0"/>
                                </a:rPr>
                              </m:ctrlPr>
                            </m:dPr>
                            <m:e>
                              <m:r>
                                <a:rPr lang="en-US" altLang="zh-CN" b="0" i="1" smtClean="0">
                                  <a:latin typeface="Cambria Math" panose="02040503050406030204" pitchFamily="18" charset="0"/>
                                </a:rPr>
                                <m:t>𝑗</m:t>
                              </m:r>
                              <m:r>
                                <a:rPr lang="zh-CN" altLang="en-US" b="0" i="1" smtClean="0">
                                  <a:latin typeface="Cambria Math" panose="02040503050406030204" pitchFamily="18" charset="0"/>
                                </a:rPr>
                                <m:t>𝜔</m:t>
                              </m:r>
                            </m:e>
                          </m:d>
                        </m:e>
                      </m:d>
                      <m:r>
                        <a:rPr lang="en-US" altLang="zh-CN" b="0" i="1" smtClean="0">
                          <a:latin typeface="Cambria Math" panose="02040503050406030204" pitchFamily="18" charset="0"/>
                        </a:rPr>
                        <m:t>=</m:t>
                      </m:r>
                      <m:sSub>
                        <m:sSubPr>
                          <m:ctrlPr>
                            <a:rPr lang="en-US" altLang="zh-CN" b="0" i="1" smtClean="0">
                              <a:latin typeface="Cambria Math" panose="02040503050406030204" pitchFamily="18" charset="0"/>
                            </a:rPr>
                          </m:ctrlPr>
                        </m:sSubPr>
                        <m:e>
                          <m:r>
                            <m:rPr>
                              <m:sty m:val="p"/>
                            </m:rPr>
                            <a:rPr lang="en-US" altLang="zh-CN" i="1">
                              <a:latin typeface="Cambria Math" panose="02040503050406030204" pitchFamily="18" charset="0"/>
                            </a:rPr>
                            <m:t>K</m:t>
                          </m:r>
                        </m:e>
                        <m:sub>
                          <m:r>
                            <a:rPr lang="en-US" altLang="zh-CN" b="0" i="1" smtClean="0">
                              <a:latin typeface="Cambria Math" panose="02040503050406030204" pitchFamily="18" charset="0"/>
                            </a:rPr>
                            <m:t>𝑝</m:t>
                          </m:r>
                        </m:sub>
                      </m:sSub>
                      <m:rad>
                        <m:radPr>
                          <m:degHide m:val="on"/>
                          <m:ctrlPr>
                            <a:rPr lang="en-US" altLang="zh-CN" b="0" i="1" smtClean="0">
                              <a:latin typeface="Cambria Math" panose="02040503050406030204" pitchFamily="18" charset="0"/>
                            </a:rPr>
                          </m:ctrlPr>
                        </m:radPr>
                        <m:deg/>
                        <m:e>
                          <m:r>
                            <a:rPr lang="en-US" altLang="zh-CN" b="0" i="1" smtClean="0">
                              <a:latin typeface="Cambria Math" panose="02040503050406030204" pitchFamily="18" charset="0"/>
                            </a:rPr>
                            <m:t>1+</m:t>
                          </m:r>
                          <m:sSup>
                            <m:sSupPr>
                              <m:ctrlPr>
                                <a:rPr lang="en-US" altLang="zh-CN" b="0" i="1" smtClean="0">
                                  <a:latin typeface="Cambria Math" panose="02040503050406030204" pitchFamily="18" charset="0"/>
                                </a:rPr>
                              </m:ctrlPr>
                            </m:sSupPr>
                            <m:e>
                              <m:r>
                                <a:rPr lang="en-US" altLang="zh-CN" b="0" i="1" smtClean="0">
                                  <a:latin typeface="Cambria Math" panose="02040503050406030204" pitchFamily="18" charset="0"/>
                                </a:rPr>
                                <m:t>(</m:t>
                              </m:r>
                              <m:r>
                                <a:rPr lang="zh-CN" altLang="en-US" b="0" i="1" smtClean="0">
                                  <a:latin typeface="Cambria Math" panose="02040503050406030204" pitchFamily="18" charset="0"/>
                                </a:rPr>
                                <m:t>𝜔</m:t>
                              </m:r>
                              <m:sSub>
                                <m:sSubPr>
                                  <m:ctrlPr>
                                    <a:rPr lang="en-US" altLang="zh-CN" i="1">
                                      <a:latin typeface="Cambria Math" panose="02040503050406030204" pitchFamily="18" charset="0"/>
                                    </a:rPr>
                                  </m:ctrlPr>
                                </m:sSubPr>
                                <m:e>
                                  <m:r>
                                    <m:rPr>
                                      <m:sty m:val="p"/>
                                    </m:rPr>
                                    <a:rPr lang="en-US" altLang="zh-CN" i="1">
                                      <a:latin typeface="Cambria Math" panose="02040503050406030204" pitchFamily="18" charset="0"/>
                                    </a:rPr>
                                    <m:t>T</m:t>
                                  </m:r>
                                </m:e>
                                <m:sub>
                                  <m:r>
                                    <m:rPr>
                                      <m:sty m:val="p"/>
                                    </m:rPr>
                                    <a:rPr lang="en-US" altLang="zh-CN" i="1">
                                      <a:latin typeface="Cambria Math" panose="02040503050406030204" pitchFamily="18" charset="0"/>
                                    </a:rPr>
                                    <m:t>d</m:t>
                                  </m:r>
                                </m:sub>
                              </m:sSub>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1</m:t>
                                  </m:r>
                                </m:num>
                                <m:den>
                                  <m:r>
                                    <a:rPr lang="zh-CN" altLang="en-US" b="0" i="1" smtClean="0">
                                      <a:latin typeface="Cambria Math" panose="02040503050406030204" pitchFamily="18" charset="0"/>
                                    </a:rPr>
                                    <m:t>𝜔</m:t>
                                  </m:r>
                                  <m:sSub>
                                    <m:sSubPr>
                                      <m:ctrlPr>
                                        <a:rPr lang="en-US" altLang="zh-CN" i="1">
                                          <a:latin typeface="Cambria Math" panose="02040503050406030204" pitchFamily="18" charset="0"/>
                                        </a:rPr>
                                      </m:ctrlPr>
                                    </m:sSubPr>
                                    <m:e>
                                      <m:r>
                                        <m:rPr>
                                          <m:sty m:val="p"/>
                                        </m:rPr>
                                        <a:rPr lang="en-US" altLang="zh-CN" i="1">
                                          <a:latin typeface="Cambria Math" panose="02040503050406030204" pitchFamily="18" charset="0"/>
                                        </a:rPr>
                                        <m:t>T</m:t>
                                      </m:r>
                                    </m:e>
                                    <m:sub>
                                      <m:r>
                                        <a:rPr lang="en-US" altLang="zh-CN" i="1">
                                          <a:latin typeface="Cambria Math" panose="02040503050406030204" pitchFamily="18" charset="0"/>
                                        </a:rPr>
                                        <m:t>𝑖</m:t>
                                      </m:r>
                                    </m:sub>
                                  </m:sSub>
                                </m:den>
                              </m:f>
                              <m:r>
                                <a:rPr lang="en-US" altLang="zh-CN" b="0" i="1" smtClean="0">
                                  <a:latin typeface="Cambria Math" panose="02040503050406030204" pitchFamily="18" charset="0"/>
                                </a:rPr>
                                <m:t>)</m:t>
                              </m:r>
                            </m:e>
                            <m:sup>
                              <m:r>
                                <a:rPr lang="en-US" altLang="zh-CN" b="0" i="1" smtClean="0">
                                  <a:latin typeface="Cambria Math" panose="02040503050406030204" pitchFamily="18" charset="0"/>
                                </a:rPr>
                                <m:t>2</m:t>
                              </m:r>
                            </m:sup>
                          </m:sSup>
                        </m:e>
                      </m:rad>
                    </m:oMath>
                  </m:oMathPara>
                </a14:m>
                <a:endParaRPr lang="en-US" altLang="zh-CN" dirty="0"/>
              </a:p>
              <a:p>
                <a:r>
                  <a:rPr lang="zh-CN" altLang="en-US" dirty="0"/>
                  <a:t>积分项在极低频（</a:t>
                </a:r>
                <a14:m>
                  <m:oMath xmlns:m="http://schemas.openxmlformats.org/officeDocument/2006/math">
                    <m:r>
                      <a:rPr lang="el-GR" altLang="zh-CN" i="1" dirty="0">
                        <a:latin typeface="Cambria Math" panose="02040503050406030204" pitchFamily="18" charset="0"/>
                      </a:rPr>
                      <m:t>𝜔</m:t>
                    </m:r>
                    <m:r>
                      <a:rPr lang="el-GR" altLang="zh-CN" dirty="0">
                        <a:latin typeface="Cambria Math" panose="02040503050406030204" pitchFamily="18" charset="0"/>
                      </a:rPr>
                      <m:t>→0</m:t>
                    </m:r>
                  </m:oMath>
                </a14:m>
                <a:r>
                  <a:rPr lang="zh-CN" altLang="en-US" dirty="0"/>
                  <a:t>）增益趋向无穷大</a:t>
                </a:r>
                <a:endParaRPr lang="en-US" altLang="zh-CN" dirty="0"/>
              </a:p>
              <a:p>
                <a:r>
                  <a:rPr lang="zh-CN" altLang="en-US" dirty="0"/>
                  <a:t>微分项在高频（</a:t>
                </a:r>
                <a14:m>
                  <m:oMath xmlns:m="http://schemas.openxmlformats.org/officeDocument/2006/math">
                    <m:r>
                      <a:rPr lang="el-GR" altLang="zh-CN" i="1" dirty="0">
                        <a:latin typeface="Cambria Math" panose="02040503050406030204" pitchFamily="18" charset="0"/>
                      </a:rPr>
                      <m:t>𝜔</m:t>
                    </m:r>
                    <m:r>
                      <a:rPr lang="el-GR" altLang="zh-CN" dirty="0">
                        <a:latin typeface="Cambria Math" panose="02040503050406030204" pitchFamily="18" charset="0"/>
                      </a:rPr>
                      <m:t>→</m:t>
                    </m:r>
                    <m:r>
                      <a:rPr lang="el-GR" altLang="zh-CN" i="1" dirty="0">
                        <a:latin typeface="Cambria Math" panose="02040503050406030204" pitchFamily="18" charset="0"/>
                        <a:ea typeface="Cambria Math" panose="02040503050406030204" pitchFamily="18" charset="0"/>
                      </a:rPr>
                      <m:t>∞</m:t>
                    </m:r>
                  </m:oMath>
                </a14:m>
                <a:r>
                  <a:rPr lang="zh-CN" altLang="en-US" dirty="0"/>
                  <a:t>）增益趋向无穷大</a:t>
                </a:r>
                <a:endParaRPr lang="en-US" altLang="zh-CN" dirty="0"/>
              </a:p>
              <a:p>
                <a:r>
                  <a:rPr lang="zh-CN" altLang="en-US" dirty="0"/>
                  <a:t>在</a:t>
                </a:r>
                <a14:m>
                  <m:oMath xmlns:m="http://schemas.openxmlformats.org/officeDocument/2006/math">
                    <m:sSub>
                      <m:sSubPr>
                        <m:ctrlPr>
                          <a:rPr lang="en-US" altLang="zh-CN" i="1" smtClean="0">
                            <a:latin typeface="Cambria Math" panose="02040503050406030204" pitchFamily="18" charset="0"/>
                          </a:rPr>
                        </m:ctrlPr>
                      </m:sSubPr>
                      <m:e>
                        <m:r>
                          <a:rPr lang="zh-CN" altLang="en-US" i="1" smtClean="0">
                            <a:latin typeface="Cambria Math" panose="02040503050406030204" pitchFamily="18" charset="0"/>
                          </a:rPr>
                          <m:t>𝜔</m:t>
                        </m:r>
                      </m:e>
                      <m:sub>
                        <m:r>
                          <a:rPr lang="en-US" altLang="zh-CN" b="0" i="1" smtClean="0">
                            <a:latin typeface="Cambria Math" panose="02040503050406030204" pitchFamily="18" charset="0"/>
                          </a:rPr>
                          <m:t>1</m:t>
                        </m:r>
                      </m:sub>
                    </m:sSub>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1</m:t>
                        </m:r>
                      </m:num>
                      <m:den>
                        <m:sSub>
                          <m:sSubPr>
                            <m:ctrlPr>
                              <a:rPr lang="en-US" altLang="zh-CN" b="0" i="1" smtClean="0">
                                <a:latin typeface="Cambria Math" panose="02040503050406030204" pitchFamily="18" charset="0"/>
                              </a:rPr>
                            </m:ctrlPr>
                          </m:sSubPr>
                          <m:e>
                            <m:r>
                              <m:rPr>
                                <m:sty m:val="p"/>
                              </m:rPr>
                              <a:rPr lang="en-US" altLang="zh-CN" i="1">
                                <a:latin typeface="Cambria Math" panose="02040503050406030204" pitchFamily="18" charset="0"/>
                              </a:rPr>
                              <m:t>T</m:t>
                            </m:r>
                          </m:e>
                          <m:sub>
                            <m:r>
                              <a:rPr lang="en-US" altLang="zh-CN" b="0" i="1" smtClean="0">
                                <a:latin typeface="Cambria Math" panose="02040503050406030204" pitchFamily="18" charset="0"/>
                              </a:rPr>
                              <m:t>𝑖</m:t>
                            </m:r>
                          </m:sub>
                        </m:sSub>
                      </m:den>
                    </m:f>
                    <m:r>
                      <a:rPr lang="zh-CN" altLang="en-US" i="1">
                        <a:latin typeface="Cambria Math" panose="02040503050406030204" pitchFamily="18" charset="0"/>
                      </a:rPr>
                      <m:t>和</m:t>
                    </m:r>
                    <m:sSub>
                      <m:sSubPr>
                        <m:ctrlPr>
                          <a:rPr lang="en-US" altLang="zh-CN" i="1">
                            <a:latin typeface="Cambria Math" panose="02040503050406030204" pitchFamily="18" charset="0"/>
                          </a:rPr>
                        </m:ctrlPr>
                      </m:sSubPr>
                      <m:e>
                        <m:r>
                          <a:rPr lang="zh-CN" altLang="en-US" i="1">
                            <a:latin typeface="Cambria Math" panose="02040503050406030204" pitchFamily="18" charset="0"/>
                          </a:rPr>
                          <m:t>𝜔</m:t>
                        </m:r>
                      </m:e>
                      <m:sub>
                        <m:r>
                          <a:rPr lang="en-US" altLang="zh-CN" b="0" i="1" smtClean="0">
                            <a:latin typeface="Cambria Math" panose="02040503050406030204" pitchFamily="18" charset="0"/>
                          </a:rPr>
                          <m:t>2</m:t>
                        </m:r>
                      </m:sub>
                    </m:sSub>
                    <m:r>
                      <a:rPr lang="en-US" altLang="zh-CN" i="1">
                        <a:latin typeface="Cambria Math" panose="02040503050406030204" pitchFamily="18" charset="0"/>
                      </a:rPr>
                      <m:t>=</m:t>
                    </m:r>
                    <m:f>
                      <m:fPr>
                        <m:ctrlPr>
                          <a:rPr lang="en-US" altLang="zh-CN" i="1">
                            <a:latin typeface="Cambria Math" panose="02040503050406030204" pitchFamily="18" charset="0"/>
                          </a:rPr>
                        </m:ctrlPr>
                      </m:fPr>
                      <m:num>
                        <m:r>
                          <a:rPr lang="en-US" altLang="zh-CN" i="1">
                            <a:latin typeface="Cambria Math" panose="02040503050406030204" pitchFamily="18" charset="0"/>
                          </a:rPr>
                          <m:t>1</m:t>
                        </m:r>
                      </m:num>
                      <m:den>
                        <m:sSub>
                          <m:sSubPr>
                            <m:ctrlPr>
                              <a:rPr lang="en-US" altLang="zh-CN" i="1">
                                <a:latin typeface="Cambria Math" panose="02040503050406030204" pitchFamily="18" charset="0"/>
                              </a:rPr>
                            </m:ctrlPr>
                          </m:sSubPr>
                          <m:e>
                            <m:r>
                              <m:rPr>
                                <m:sty m:val="p"/>
                              </m:rPr>
                              <a:rPr lang="en-US" altLang="zh-CN" i="1">
                                <a:latin typeface="Cambria Math" panose="02040503050406030204" pitchFamily="18" charset="0"/>
                              </a:rPr>
                              <m:t>T</m:t>
                            </m:r>
                          </m:e>
                          <m:sub>
                            <m:r>
                              <m:rPr>
                                <m:sty m:val="p"/>
                              </m:rPr>
                              <a:rPr lang="en-US" altLang="zh-CN" i="1">
                                <a:latin typeface="Cambria Math" panose="02040503050406030204" pitchFamily="18" charset="0"/>
                              </a:rPr>
                              <m:t>d</m:t>
                            </m:r>
                          </m:sub>
                        </m:sSub>
                      </m:den>
                    </m:f>
                  </m:oMath>
                </a14:m>
                <a:r>
                  <a:rPr lang="zh-CN" altLang="en-US" dirty="0"/>
                  <a:t>之间，比例项占主导</a:t>
                </a:r>
                <a:endParaRPr lang="en-US" altLang="zh-CN" dirty="0"/>
              </a:p>
              <a:p>
                <a:pPr marL="0" indent="0">
                  <a:buNone/>
                </a:pPr>
                <a:endParaRPr lang="en-US" altLang="zh-CN" dirty="0"/>
              </a:p>
              <a:p>
                <a:pPr marL="0" indent="0">
                  <a:buNone/>
                </a:pPr>
                <a:r>
                  <a:rPr lang="zh-CN" altLang="en-US" dirty="0"/>
                  <a:t>因此</a:t>
                </a:r>
                <a:r>
                  <a:rPr lang="en-US" altLang="zh-CN" dirty="0"/>
                  <a:t>PID</a:t>
                </a:r>
                <a:r>
                  <a:rPr lang="zh-CN" altLang="en-US" dirty="0"/>
                  <a:t>的幅频图呈“</a:t>
                </a:r>
                <a:r>
                  <a:rPr lang="en-US" altLang="zh-CN" dirty="0"/>
                  <a:t>V</a:t>
                </a:r>
                <a:r>
                  <a:rPr lang="zh-CN" altLang="en-US" dirty="0"/>
                  <a:t>”形：低频处增益大（</a:t>
                </a:r>
                <a:r>
                  <a:rPr lang="en-US" altLang="zh-CN" dirty="0"/>
                  <a:t>I</a:t>
                </a:r>
                <a:r>
                  <a:rPr lang="zh-CN" altLang="en-US" dirty="0"/>
                  <a:t>），中间平坦（</a:t>
                </a:r>
                <a:r>
                  <a:rPr lang="en-US" altLang="zh-CN" dirty="0"/>
                  <a:t>P</a:t>
                </a:r>
                <a:r>
                  <a:rPr lang="zh-CN" altLang="en-US" dirty="0"/>
                  <a:t>），高频处上升（</a:t>
                </a:r>
                <a:r>
                  <a:rPr lang="en-US" altLang="zh-CN" dirty="0"/>
                  <a:t>D</a:t>
                </a:r>
                <a:r>
                  <a:rPr lang="zh-CN" altLang="en-US" dirty="0"/>
                  <a:t>）。</a:t>
                </a:r>
                <a:endParaRPr lang="en-US" altLang="zh-CN" dirty="0"/>
              </a:p>
              <a:p>
                <a:pPr marL="0" indent="0">
                  <a:buNone/>
                </a:pPr>
                <a14:m>
                  <m:oMath xmlns:m="http://schemas.openxmlformats.org/officeDocument/2006/math">
                    <m:sSub>
                      <m:sSubPr>
                        <m:ctrlPr>
                          <a:rPr lang="en-US" altLang="zh-CN" b="0" i="1" smtClean="0">
                            <a:latin typeface="Cambria Math" panose="02040503050406030204" pitchFamily="18" charset="0"/>
                          </a:rPr>
                        </m:ctrlPr>
                      </m:sSubPr>
                      <m:e>
                        <m:r>
                          <m:rPr>
                            <m:sty m:val="p"/>
                          </m:rPr>
                          <a:rPr lang="en-US" altLang="zh-CN" i="1">
                            <a:latin typeface="Cambria Math" panose="02040503050406030204" pitchFamily="18" charset="0"/>
                          </a:rPr>
                          <m:t>T</m:t>
                        </m:r>
                      </m:e>
                      <m:sub>
                        <m:r>
                          <a:rPr lang="en-US" altLang="zh-CN" b="0" i="1" smtClean="0">
                            <a:latin typeface="Cambria Math" panose="02040503050406030204" pitchFamily="18" charset="0"/>
                          </a:rPr>
                          <m:t>𝑖</m:t>
                        </m:r>
                      </m:sub>
                    </m:sSub>
                  </m:oMath>
                </a14:m>
                <a:r>
                  <a:rPr lang="zh-CN" altLang="en-US" dirty="0"/>
                  <a:t>越大，积分越慢；</a:t>
                </a:r>
                <a:r>
                  <a:rPr lang="en-US" altLang="zh-CN" dirty="0"/>
                  <a:t> </a:t>
                </a:r>
                <a14:m>
                  <m:oMath xmlns:m="http://schemas.openxmlformats.org/officeDocument/2006/math">
                    <m:sSub>
                      <m:sSubPr>
                        <m:ctrlPr>
                          <a:rPr lang="en-US" altLang="zh-CN" i="1">
                            <a:latin typeface="Cambria Math" panose="02040503050406030204" pitchFamily="18" charset="0"/>
                          </a:rPr>
                        </m:ctrlPr>
                      </m:sSubPr>
                      <m:e>
                        <m:r>
                          <m:rPr>
                            <m:sty m:val="p"/>
                          </m:rPr>
                          <a:rPr lang="en-US" altLang="zh-CN" i="1">
                            <a:latin typeface="Cambria Math" panose="02040503050406030204" pitchFamily="18" charset="0"/>
                          </a:rPr>
                          <m:t>T</m:t>
                        </m:r>
                      </m:e>
                      <m:sub>
                        <m:r>
                          <m:rPr>
                            <m:sty m:val="p"/>
                          </m:rPr>
                          <a:rPr lang="en-US" altLang="zh-CN" i="1">
                            <a:latin typeface="Cambria Math" panose="02040503050406030204" pitchFamily="18" charset="0"/>
                          </a:rPr>
                          <m:t>d</m:t>
                        </m:r>
                      </m:sub>
                    </m:sSub>
                  </m:oMath>
                </a14:m>
                <a:r>
                  <a:rPr lang="zh-CN" altLang="en-US" dirty="0"/>
                  <a:t>越大，预测性越强，对噪声也更敏感。</a:t>
                </a:r>
                <a:endParaRPr lang="zh-SG" altLang="en-US" dirty="0"/>
              </a:p>
            </p:txBody>
          </p:sp>
        </mc:Choice>
        <mc:Fallback>
          <p:sp>
            <p:nvSpPr>
              <p:cNvPr id="3" name="内容占位符 2">
                <a:extLst>
                  <a:ext uri="{FF2B5EF4-FFF2-40B4-BE49-F238E27FC236}">
                    <a16:creationId xmlns:a16="http://schemas.microsoft.com/office/drawing/2014/main" id="{F2FC0144-45E2-B528-AC72-F1083B9E1B8C}"/>
                  </a:ext>
                </a:extLst>
              </p:cNvPr>
              <p:cNvSpPr>
                <a:spLocks noGrp="1" noRot="1" noChangeAspect="1" noMove="1" noResize="1" noEditPoints="1" noAdjustHandles="1" noChangeArrowheads="1" noChangeShapeType="1" noTextEdit="1"/>
              </p:cNvSpPr>
              <p:nvPr>
                <p:ph idx="1"/>
              </p:nvPr>
            </p:nvSpPr>
            <p:spPr>
              <a:xfrm>
                <a:off x="838200" y="1325563"/>
                <a:ext cx="10515600" cy="5532437"/>
              </a:xfrm>
              <a:blipFill>
                <a:blip r:embed="rId2"/>
                <a:stretch>
                  <a:fillRect l="-1217" t="-1982"/>
                </a:stretch>
              </a:blipFill>
            </p:spPr>
            <p:txBody>
              <a:bodyPr/>
              <a:lstStyle/>
              <a:p>
                <a:r>
                  <a:rPr lang="zh-SG" altLang="en-US">
                    <a:noFill/>
                  </a:rPr>
                  <a:t> </a:t>
                </a:r>
              </a:p>
            </p:txBody>
          </p:sp>
        </mc:Fallback>
      </mc:AlternateContent>
    </p:spTree>
    <p:extLst>
      <p:ext uri="{BB962C8B-B14F-4D97-AF65-F5344CB8AC3E}">
        <p14:creationId xmlns:p14="http://schemas.microsoft.com/office/powerpoint/2010/main" val="267100128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00A2B01-C221-85A8-5684-CB1EA2CB6FB9}"/>
              </a:ext>
            </a:extLst>
          </p:cNvPr>
          <p:cNvSpPr>
            <a:spLocks noGrp="1"/>
          </p:cNvSpPr>
          <p:nvPr>
            <p:ph type="title"/>
          </p:nvPr>
        </p:nvSpPr>
        <p:spPr/>
        <p:txBody>
          <a:bodyPr/>
          <a:lstStyle/>
          <a:p>
            <a:r>
              <a:rPr lang="zh-CN" altLang="en-US" dirty="0"/>
              <a:t>如何搭配</a:t>
            </a:r>
            <a:r>
              <a:rPr lang="en-US" altLang="zh-CN" dirty="0"/>
              <a:t>P</a:t>
            </a:r>
            <a:r>
              <a:rPr lang="zh-CN" altLang="en-US" dirty="0"/>
              <a:t>、</a:t>
            </a:r>
            <a:r>
              <a:rPr lang="en-US" altLang="zh-CN" dirty="0"/>
              <a:t>I</a:t>
            </a:r>
            <a:r>
              <a:rPr lang="zh-CN" altLang="en-US" dirty="0"/>
              <a:t>和</a:t>
            </a:r>
            <a:r>
              <a:rPr lang="en-US" altLang="zh-CN" dirty="0"/>
              <a:t>D</a:t>
            </a:r>
            <a:r>
              <a:rPr lang="zh-CN" altLang="en-US" dirty="0"/>
              <a:t>项？</a:t>
            </a:r>
            <a:endParaRPr lang="zh-SG" altLang="en-US" dirty="0"/>
          </a:p>
        </p:txBody>
      </p:sp>
      <p:pic>
        <p:nvPicPr>
          <p:cNvPr id="15" name="内容占位符 14">
            <a:extLst>
              <a:ext uri="{FF2B5EF4-FFF2-40B4-BE49-F238E27FC236}">
                <a16:creationId xmlns:a16="http://schemas.microsoft.com/office/drawing/2014/main" id="{C58101F8-5B5E-534B-B271-814C2C4A7C79}"/>
              </a:ext>
            </a:extLst>
          </p:cNvPr>
          <p:cNvPicPr>
            <a:picLocks noGrp="1" noChangeAspect="1"/>
          </p:cNvPicPr>
          <p:nvPr>
            <p:ph idx="1"/>
          </p:nvPr>
        </p:nvPicPr>
        <p:blipFill>
          <a:blip r:embed="rId2"/>
          <a:stretch>
            <a:fillRect/>
          </a:stretch>
        </p:blipFill>
        <p:spPr>
          <a:xfrm>
            <a:off x="2337333" y="1690688"/>
            <a:ext cx="7517334" cy="5029429"/>
          </a:xfrm>
        </p:spPr>
      </p:pic>
    </p:spTree>
    <p:extLst>
      <p:ext uri="{BB962C8B-B14F-4D97-AF65-F5344CB8AC3E}">
        <p14:creationId xmlns:p14="http://schemas.microsoft.com/office/powerpoint/2010/main" val="2171541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8518C7C-E113-C264-8D00-AEBFAFE7DECF}"/>
              </a:ext>
            </a:extLst>
          </p:cNvPr>
          <p:cNvSpPr>
            <a:spLocks noGrp="1"/>
          </p:cNvSpPr>
          <p:nvPr>
            <p:ph type="title"/>
          </p:nvPr>
        </p:nvSpPr>
        <p:spPr/>
        <p:txBody>
          <a:bodyPr/>
          <a:lstStyle/>
          <a:p>
            <a:r>
              <a:rPr lang="en-US" altLang="zh-CN" dirty="0"/>
              <a:t>PID</a:t>
            </a:r>
            <a:r>
              <a:rPr lang="zh-CN" altLang="en-US" dirty="0"/>
              <a:t>的离散化</a:t>
            </a:r>
            <a:endParaRPr lang="zh-SG" altLang="en-US" dirty="0"/>
          </a:p>
        </p:txBody>
      </p:sp>
      <mc:AlternateContent xmlns:mc="http://schemas.openxmlformats.org/markup-compatibility/2006" xmlns:a14="http://schemas.microsoft.com/office/drawing/2010/main">
        <mc:Choice Requires="a14">
          <p:sp>
            <p:nvSpPr>
              <p:cNvPr id="3" name="内容占位符 2">
                <a:extLst>
                  <a:ext uri="{FF2B5EF4-FFF2-40B4-BE49-F238E27FC236}">
                    <a16:creationId xmlns:a16="http://schemas.microsoft.com/office/drawing/2014/main" id="{E373E8E0-2A36-5BA7-A867-AA978C36FC66}"/>
                  </a:ext>
                </a:extLst>
              </p:cNvPr>
              <p:cNvSpPr>
                <a:spLocks noGrp="1"/>
              </p:cNvSpPr>
              <p:nvPr>
                <p:ph idx="1"/>
              </p:nvPr>
            </p:nvSpPr>
            <p:spPr/>
            <p:txBody>
              <a:bodyPr/>
              <a:lstStyle/>
              <a:p>
                <a:r>
                  <a:rPr lang="zh-CN" altLang="en-US" dirty="0"/>
                  <a:t>最简单的形式：积分变累加，微分变差分，设处理周期恒为</a:t>
                </a:r>
                <a14:m>
                  <m:oMath xmlns:m="http://schemas.openxmlformats.org/officeDocument/2006/math">
                    <m:sSub>
                      <m:sSubPr>
                        <m:ctrlPr>
                          <a:rPr lang="en-US" altLang="zh-CN" b="0" i="1" dirty="0" smtClean="0">
                            <a:latin typeface="Cambria Math" panose="02040503050406030204" pitchFamily="18" charset="0"/>
                          </a:rPr>
                        </m:ctrlPr>
                      </m:sSubPr>
                      <m:e>
                        <m:r>
                          <a:rPr lang="en-US" altLang="zh-CN" b="0" i="1" dirty="0" smtClean="0">
                            <a:latin typeface="Cambria Math" panose="02040503050406030204" pitchFamily="18" charset="0"/>
                          </a:rPr>
                          <m:t>𝑇</m:t>
                        </m:r>
                      </m:e>
                      <m:sub>
                        <m:r>
                          <m:rPr>
                            <m:sty m:val="p"/>
                          </m:rPr>
                          <a:rPr lang="en-US" altLang="zh-CN" i="1" dirty="0">
                            <a:latin typeface="Cambria Math" panose="02040503050406030204" pitchFamily="18" charset="0"/>
                          </a:rPr>
                          <m:t>s</m:t>
                        </m:r>
                      </m:sub>
                    </m:sSub>
                  </m:oMath>
                </a14:m>
                <a:endParaRPr lang="en-US" altLang="zh-CN" dirty="0"/>
              </a:p>
              <a:p>
                <a:pPr marL="0" indent="0">
                  <a:buNone/>
                </a:pPr>
                <a14:m>
                  <m:oMathPara xmlns:m="http://schemas.openxmlformats.org/officeDocument/2006/math">
                    <m:oMathParaPr>
                      <m:jc m:val="centerGroup"/>
                    </m:oMathParaPr>
                    <m:oMath xmlns:m="http://schemas.openxmlformats.org/officeDocument/2006/math">
                      <m:r>
                        <m:rPr>
                          <m:sty m:val="p"/>
                        </m:rPr>
                        <a:rPr lang="en-US" altLang="zh-CN" i="1" dirty="0">
                          <a:latin typeface="Cambria Math" panose="02040503050406030204" pitchFamily="18" charset="0"/>
                        </a:rPr>
                        <m:t>u</m:t>
                      </m:r>
                      <m:d>
                        <m:dPr>
                          <m:begChr m:val="["/>
                          <m:endChr m:val="]"/>
                          <m:ctrlPr>
                            <a:rPr lang="en-US" altLang="zh-CN" b="0" i="1" dirty="0" smtClean="0">
                              <a:latin typeface="Cambria Math" panose="02040503050406030204" pitchFamily="18" charset="0"/>
                            </a:rPr>
                          </m:ctrlPr>
                        </m:dPr>
                        <m:e>
                          <m:r>
                            <a:rPr lang="en-US" altLang="zh-CN" b="0" i="1" dirty="0" smtClean="0">
                              <a:latin typeface="Cambria Math" panose="02040503050406030204" pitchFamily="18" charset="0"/>
                            </a:rPr>
                            <m:t>𝑛</m:t>
                          </m:r>
                        </m:e>
                      </m:d>
                      <m:r>
                        <a:rPr lang="en-US" altLang="zh-CN" b="0" i="1" dirty="0" smtClean="0">
                          <a:latin typeface="Cambria Math" panose="02040503050406030204" pitchFamily="18" charset="0"/>
                        </a:rPr>
                        <m:t>=</m:t>
                      </m:r>
                      <m:sSub>
                        <m:sSubPr>
                          <m:ctrlPr>
                            <a:rPr lang="en-US" altLang="zh-CN" b="0" i="1" dirty="0" smtClean="0">
                              <a:latin typeface="Cambria Math" panose="02040503050406030204" pitchFamily="18" charset="0"/>
                            </a:rPr>
                          </m:ctrlPr>
                        </m:sSubPr>
                        <m:e>
                          <m:r>
                            <a:rPr lang="en-US" altLang="zh-CN" b="0" i="1" dirty="0" smtClean="0">
                              <a:latin typeface="Cambria Math" panose="02040503050406030204" pitchFamily="18" charset="0"/>
                            </a:rPr>
                            <m:t>𝐾</m:t>
                          </m:r>
                        </m:e>
                        <m:sub>
                          <m:r>
                            <a:rPr lang="en-US" altLang="zh-CN" b="0" i="1" dirty="0" smtClean="0">
                              <a:latin typeface="Cambria Math" panose="02040503050406030204" pitchFamily="18" charset="0"/>
                            </a:rPr>
                            <m:t>𝑝</m:t>
                          </m:r>
                        </m:sub>
                      </m:sSub>
                      <m:r>
                        <a:rPr lang="en-US" altLang="zh-CN" b="0" i="1" dirty="0" smtClean="0">
                          <a:latin typeface="Cambria Math" panose="02040503050406030204" pitchFamily="18" charset="0"/>
                        </a:rPr>
                        <m:t>𝑒</m:t>
                      </m:r>
                      <m:d>
                        <m:dPr>
                          <m:begChr m:val="["/>
                          <m:endChr m:val="]"/>
                          <m:ctrlPr>
                            <a:rPr lang="en-US" altLang="zh-CN" b="0" i="1" dirty="0" smtClean="0">
                              <a:latin typeface="Cambria Math" panose="02040503050406030204" pitchFamily="18" charset="0"/>
                            </a:rPr>
                          </m:ctrlPr>
                        </m:dPr>
                        <m:e>
                          <m:r>
                            <a:rPr lang="en-US" altLang="zh-CN" b="0" i="1" dirty="0" smtClean="0">
                              <a:latin typeface="Cambria Math" panose="02040503050406030204" pitchFamily="18" charset="0"/>
                            </a:rPr>
                            <m:t>𝑛</m:t>
                          </m:r>
                        </m:e>
                      </m:d>
                      <m:r>
                        <a:rPr lang="en-US" altLang="zh-CN" b="0" i="1" dirty="0" smtClean="0">
                          <a:latin typeface="Cambria Math" panose="02040503050406030204" pitchFamily="18" charset="0"/>
                        </a:rPr>
                        <m:t>+</m:t>
                      </m:r>
                      <m:sSub>
                        <m:sSubPr>
                          <m:ctrlPr>
                            <a:rPr lang="en-US" altLang="zh-CN" i="1" dirty="0">
                              <a:latin typeface="Cambria Math" panose="02040503050406030204" pitchFamily="18" charset="0"/>
                            </a:rPr>
                          </m:ctrlPr>
                        </m:sSubPr>
                        <m:e>
                          <m:r>
                            <a:rPr lang="en-US" altLang="zh-CN" i="1" dirty="0">
                              <a:latin typeface="Cambria Math" panose="02040503050406030204" pitchFamily="18" charset="0"/>
                            </a:rPr>
                            <m:t>𝐾</m:t>
                          </m:r>
                        </m:e>
                        <m:sub>
                          <m:r>
                            <a:rPr lang="en-US" altLang="zh-CN" b="0" i="1" dirty="0" smtClean="0">
                              <a:latin typeface="Cambria Math" panose="02040503050406030204" pitchFamily="18" charset="0"/>
                            </a:rPr>
                            <m:t>𝑖</m:t>
                          </m:r>
                        </m:sub>
                      </m:sSub>
                      <m:sSub>
                        <m:sSubPr>
                          <m:ctrlPr>
                            <a:rPr lang="en-US" altLang="zh-CN" i="1" dirty="0">
                              <a:latin typeface="Cambria Math" panose="02040503050406030204" pitchFamily="18" charset="0"/>
                            </a:rPr>
                          </m:ctrlPr>
                        </m:sSubPr>
                        <m:e>
                          <m:r>
                            <a:rPr lang="en-US" altLang="zh-CN" b="0" i="1" dirty="0" smtClean="0">
                              <a:latin typeface="Cambria Math" panose="02040503050406030204" pitchFamily="18" charset="0"/>
                            </a:rPr>
                            <m:t>𝑇</m:t>
                          </m:r>
                        </m:e>
                        <m:sub>
                          <m:r>
                            <a:rPr lang="en-US" altLang="zh-CN" b="0" i="1" dirty="0" smtClean="0">
                              <a:latin typeface="Cambria Math" panose="02040503050406030204" pitchFamily="18" charset="0"/>
                            </a:rPr>
                            <m:t>𝑠</m:t>
                          </m:r>
                        </m:sub>
                      </m:sSub>
                      <m:nary>
                        <m:naryPr>
                          <m:chr m:val="∑"/>
                          <m:ctrlPr>
                            <a:rPr lang="en-US" altLang="zh-CN" i="1" dirty="0" smtClean="0">
                              <a:latin typeface="Cambria Math" panose="02040503050406030204" pitchFamily="18" charset="0"/>
                            </a:rPr>
                          </m:ctrlPr>
                        </m:naryPr>
                        <m:sub>
                          <m:r>
                            <m:rPr>
                              <m:brk m:alnAt="23"/>
                            </m:rPr>
                            <a:rPr lang="en-US" altLang="zh-CN" b="0" i="1" dirty="0" smtClean="0">
                              <a:latin typeface="Cambria Math" panose="02040503050406030204" pitchFamily="18" charset="0"/>
                            </a:rPr>
                            <m:t>0</m:t>
                          </m:r>
                        </m:sub>
                        <m:sup>
                          <m:r>
                            <a:rPr lang="en-US" altLang="zh-CN" b="0" i="1" dirty="0" smtClean="0">
                              <a:latin typeface="Cambria Math" panose="02040503050406030204" pitchFamily="18" charset="0"/>
                            </a:rPr>
                            <m:t>𝑛</m:t>
                          </m:r>
                        </m:sup>
                        <m:e>
                          <m:r>
                            <a:rPr lang="en-US" altLang="zh-CN" b="0" i="1" dirty="0" smtClean="0">
                              <a:latin typeface="Cambria Math" panose="02040503050406030204" pitchFamily="18" charset="0"/>
                            </a:rPr>
                            <m:t>𝑒</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𝑘</m:t>
                          </m:r>
                          <m:r>
                            <a:rPr lang="en-US" altLang="zh-CN" b="0" i="1" dirty="0" smtClean="0">
                              <a:latin typeface="Cambria Math" panose="02040503050406030204" pitchFamily="18" charset="0"/>
                            </a:rPr>
                            <m:t>]</m:t>
                          </m:r>
                        </m:e>
                      </m:nary>
                      <m:r>
                        <a:rPr lang="en-US" altLang="zh-CN" b="0" i="1" dirty="0" smtClean="0">
                          <a:latin typeface="Cambria Math" panose="02040503050406030204" pitchFamily="18" charset="0"/>
                        </a:rPr>
                        <m:t>+</m:t>
                      </m:r>
                      <m:sSub>
                        <m:sSubPr>
                          <m:ctrlPr>
                            <a:rPr lang="en-US" altLang="zh-CN" i="1" dirty="0">
                              <a:latin typeface="Cambria Math" panose="02040503050406030204" pitchFamily="18" charset="0"/>
                            </a:rPr>
                          </m:ctrlPr>
                        </m:sSubPr>
                        <m:e>
                          <m:r>
                            <a:rPr lang="en-US" altLang="zh-CN" i="1" dirty="0">
                              <a:latin typeface="Cambria Math" panose="02040503050406030204" pitchFamily="18" charset="0"/>
                            </a:rPr>
                            <m:t>𝐾</m:t>
                          </m:r>
                        </m:e>
                        <m:sub>
                          <m:r>
                            <a:rPr lang="en-US" altLang="zh-CN" b="0" i="1" dirty="0" smtClean="0">
                              <a:latin typeface="Cambria Math" panose="02040503050406030204" pitchFamily="18" charset="0"/>
                            </a:rPr>
                            <m:t>𝑑</m:t>
                          </m:r>
                        </m:sub>
                      </m:sSub>
                      <m:f>
                        <m:fPr>
                          <m:ctrlPr>
                            <a:rPr lang="en-US" altLang="zh-CN" i="1" dirty="0" smtClean="0">
                              <a:latin typeface="Cambria Math" panose="02040503050406030204" pitchFamily="18" charset="0"/>
                            </a:rPr>
                          </m:ctrlPr>
                        </m:fPr>
                        <m:num>
                          <m:r>
                            <a:rPr lang="en-US" altLang="zh-CN" b="0" i="1" dirty="0" smtClean="0">
                              <a:latin typeface="Cambria Math" panose="02040503050406030204" pitchFamily="18" charset="0"/>
                            </a:rPr>
                            <m:t>𝑒</m:t>
                          </m:r>
                          <m:d>
                            <m:dPr>
                              <m:begChr m:val="["/>
                              <m:endChr m:val="]"/>
                              <m:ctrlPr>
                                <a:rPr lang="en-US" altLang="zh-CN" b="0" i="1" dirty="0" smtClean="0">
                                  <a:latin typeface="Cambria Math" panose="02040503050406030204" pitchFamily="18" charset="0"/>
                                </a:rPr>
                              </m:ctrlPr>
                            </m:dPr>
                            <m:e>
                              <m:r>
                                <a:rPr lang="en-US" altLang="zh-CN" b="0" i="1" dirty="0" smtClean="0">
                                  <a:latin typeface="Cambria Math" panose="02040503050406030204" pitchFamily="18" charset="0"/>
                                </a:rPr>
                                <m:t>𝑛</m:t>
                              </m:r>
                            </m:e>
                          </m:d>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𝑒</m:t>
                          </m:r>
                          <m:r>
                            <a:rPr lang="en-US" altLang="zh-CN" b="0" i="1" dirty="0" smtClean="0">
                              <a:latin typeface="Cambria Math" panose="02040503050406030204" pitchFamily="18" charset="0"/>
                            </a:rPr>
                            <m:t>[</m:t>
                          </m:r>
                          <m:r>
                            <a:rPr lang="en-US" altLang="zh-CN" b="0" i="1" dirty="0" smtClean="0">
                              <a:latin typeface="Cambria Math" panose="02040503050406030204" pitchFamily="18" charset="0"/>
                            </a:rPr>
                            <m:t>𝑛</m:t>
                          </m:r>
                          <m:r>
                            <a:rPr lang="en-US" altLang="zh-CN" b="0" i="1" dirty="0" smtClean="0">
                              <a:latin typeface="Cambria Math" panose="02040503050406030204" pitchFamily="18" charset="0"/>
                            </a:rPr>
                            <m:t>−1]</m:t>
                          </m:r>
                        </m:num>
                        <m:den>
                          <m:sSub>
                            <m:sSubPr>
                              <m:ctrlPr>
                                <a:rPr lang="en-US" altLang="zh-CN" i="1" dirty="0">
                                  <a:latin typeface="Cambria Math" panose="02040503050406030204" pitchFamily="18" charset="0"/>
                                </a:rPr>
                              </m:ctrlPr>
                            </m:sSubPr>
                            <m:e>
                              <m:r>
                                <a:rPr lang="en-US" altLang="zh-CN" b="0" i="1" dirty="0" smtClean="0">
                                  <a:latin typeface="Cambria Math" panose="02040503050406030204" pitchFamily="18" charset="0"/>
                                </a:rPr>
                                <m:t>𝑇</m:t>
                              </m:r>
                            </m:e>
                            <m:sub>
                              <m:r>
                                <a:rPr lang="en-US" altLang="zh-CN" b="0" i="1" dirty="0" smtClean="0">
                                  <a:latin typeface="Cambria Math" panose="02040503050406030204" pitchFamily="18" charset="0"/>
                                </a:rPr>
                                <m:t>𝑠</m:t>
                              </m:r>
                            </m:sub>
                          </m:sSub>
                        </m:den>
                      </m:f>
                    </m:oMath>
                  </m:oMathPara>
                </a14:m>
                <a:endParaRPr lang="zh-SG" altLang="en-US" dirty="0"/>
              </a:p>
            </p:txBody>
          </p:sp>
        </mc:Choice>
        <mc:Fallback xmlns="">
          <p:sp>
            <p:nvSpPr>
              <p:cNvPr id="3" name="内容占位符 2">
                <a:extLst>
                  <a:ext uri="{FF2B5EF4-FFF2-40B4-BE49-F238E27FC236}">
                    <a16:creationId xmlns:a16="http://schemas.microsoft.com/office/drawing/2014/main" id="{E373E8E0-2A36-5BA7-A867-AA978C36FC66}"/>
                  </a:ext>
                </a:extLst>
              </p:cNvPr>
              <p:cNvSpPr>
                <a:spLocks noGrp="1" noRot="1" noChangeAspect="1" noMove="1" noResize="1" noEditPoints="1" noAdjustHandles="1" noChangeArrowheads="1" noChangeShapeType="1" noTextEdit="1"/>
              </p:cNvSpPr>
              <p:nvPr>
                <p:ph idx="1"/>
              </p:nvPr>
            </p:nvSpPr>
            <p:spPr>
              <a:blipFill>
                <a:blip r:embed="rId2"/>
                <a:stretch>
                  <a:fillRect l="-1043" t="-2521"/>
                </a:stretch>
              </a:blipFill>
            </p:spPr>
            <p:txBody>
              <a:bodyPr/>
              <a:lstStyle/>
              <a:p>
                <a:r>
                  <a:rPr lang="zh-SG" altLang="en-US">
                    <a:noFill/>
                  </a:rPr>
                  <a:t> </a:t>
                </a:r>
              </a:p>
            </p:txBody>
          </p:sp>
        </mc:Fallback>
      </mc:AlternateContent>
    </p:spTree>
    <p:extLst>
      <p:ext uri="{BB962C8B-B14F-4D97-AF65-F5344CB8AC3E}">
        <p14:creationId xmlns:p14="http://schemas.microsoft.com/office/powerpoint/2010/main" val="30443020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6845E9-D7C1-EB1F-AFDE-1A10B3C43F0E}"/>
              </a:ext>
            </a:extLst>
          </p:cNvPr>
          <p:cNvSpPr>
            <a:spLocks noGrp="1"/>
          </p:cNvSpPr>
          <p:nvPr>
            <p:ph type="title"/>
          </p:nvPr>
        </p:nvSpPr>
        <p:spPr/>
        <p:txBody>
          <a:bodyPr/>
          <a:lstStyle/>
          <a:p>
            <a:r>
              <a:rPr lang="zh-CN" altLang="en-US" dirty="0"/>
              <a:t>积分抗饱和</a:t>
            </a:r>
            <a:endParaRPr lang="zh-SG" altLang="en-US" dirty="0"/>
          </a:p>
        </p:txBody>
      </p:sp>
      <p:sp>
        <p:nvSpPr>
          <p:cNvPr id="3" name="内容占位符 2">
            <a:extLst>
              <a:ext uri="{FF2B5EF4-FFF2-40B4-BE49-F238E27FC236}">
                <a16:creationId xmlns:a16="http://schemas.microsoft.com/office/drawing/2014/main" id="{82593682-6FFD-59CE-9E6F-B3BCC6366B2A}"/>
              </a:ext>
            </a:extLst>
          </p:cNvPr>
          <p:cNvSpPr>
            <a:spLocks noGrp="1"/>
          </p:cNvSpPr>
          <p:nvPr>
            <p:ph idx="1"/>
          </p:nvPr>
        </p:nvSpPr>
        <p:spPr/>
        <p:txBody>
          <a:bodyPr/>
          <a:lstStyle/>
          <a:p>
            <a:r>
              <a:rPr lang="zh-CN" altLang="en-US" dirty="0"/>
              <a:t>积分项对恒定误差增益无穷大</a:t>
            </a:r>
            <a:endParaRPr lang="en-US" altLang="zh-CN" dirty="0"/>
          </a:p>
          <a:p>
            <a:pPr marL="0" indent="0">
              <a:buNone/>
            </a:pPr>
            <a:r>
              <a:rPr lang="zh-CN" altLang="en-US" dirty="0"/>
              <a:t>限制累加项</a:t>
            </a:r>
            <a:endParaRPr lang="en-US" altLang="zh-CN" dirty="0"/>
          </a:p>
          <a:p>
            <a:r>
              <a:rPr lang="zh-CN" altLang="en-US" dirty="0"/>
              <a:t>希望仅用积分项克服稳态误差</a:t>
            </a:r>
            <a:endParaRPr lang="en-US" altLang="zh-CN" dirty="0"/>
          </a:p>
          <a:p>
            <a:pPr marL="0" indent="0">
              <a:buNone/>
            </a:pPr>
            <a:r>
              <a:rPr lang="zh-CN" altLang="en-US" dirty="0"/>
              <a:t>仅在误差较小时累加</a:t>
            </a:r>
            <a:endParaRPr lang="zh-SG" altLang="en-US" dirty="0"/>
          </a:p>
        </p:txBody>
      </p:sp>
    </p:spTree>
    <p:extLst>
      <p:ext uri="{BB962C8B-B14F-4D97-AF65-F5344CB8AC3E}">
        <p14:creationId xmlns:p14="http://schemas.microsoft.com/office/powerpoint/2010/main" val="16670886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501C62-4BDE-FEA7-EE24-6D72C6473DC5}"/>
              </a:ext>
            </a:extLst>
          </p:cNvPr>
          <p:cNvSpPr>
            <a:spLocks noGrp="1"/>
          </p:cNvSpPr>
          <p:nvPr>
            <p:ph type="title"/>
          </p:nvPr>
        </p:nvSpPr>
        <p:spPr/>
        <p:txBody>
          <a:bodyPr/>
          <a:lstStyle/>
          <a:p>
            <a:r>
              <a:rPr lang="zh-CN" altLang="en-US" dirty="0"/>
              <a:t>微分先行</a:t>
            </a:r>
            <a:endParaRPr lang="zh-SG" altLang="en-US" dirty="0"/>
          </a:p>
        </p:txBody>
      </p:sp>
      <p:sp>
        <p:nvSpPr>
          <p:cNvPr id="3" name="内容占位符 2">
            <a:extLst>
              <a:ext uri="{FF2B5EF4-FFF2-40B4-BE49-F238E27FC236}">
                <a16:creationId xmlns:a16="http://schemas.microsoft.com/office/drawing/2014/main" id="{F5B29573-E43B-AD34-4409-FF8641B8914E}"/>
              </a:ext>
            </a:extLst>
          </p:cNvPr>
          <p:cNvSpPr>
            <a:spLocks noGrp="1"/>
          </p:cNvSpPr>
          <p:nvPr>
            <p:ph idx="1"/>
          </p:nvPr>
        </p:nvSpPr>
        <p:spPr/>
        <p:txBody>
          <a:bodyPr/>
          <a:lstStyle/>
          <a:p>
            <a:r>
              <a:rPr lang="zh-CN" altLang="en-US" dirty="0"/>
              <a:t>微分项在指令值突变时输出过大</a:t>
            </a:r>
            <a:endParaRPr lang="en-US" altLang="zh-CN" dirty="0"/>
          </a:p>
          <a:p>
            <a:pPr marL="0" indent="0">
              <a:buNone/>
            </a:pPr>
            <a:r>
              <a:rPr lang="zh-CN" altLang="en-US" dirty="0"/>
              <a:t>对系统输出的测量值而非误差值进行差分，借助测量值的连续性避免冲击</a:t>
            </a:r>
            <a:endParaRPr lang="zh-SG" altLang="en-US" dirty="0"/>
          </a:p>
        </p:txBody>
      </p:sp>
    </p:spTree>
    <p:extLst>
      <p:ext uri="{BB962C8B-B14F-4D97-AF65-F5344CB8AC3E}">
        <p14:creationId xmlns:p14="http://schemas.microsoft.com/office/powerpoint/2010/main" val="231951036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409B04E-EE8B-27EC-3815-D5F8D38EBD0F}"/>
              </a:ext>
            </a:extLst>
          </p:cNvPr>
          <p:cNvSpPr>
            <a:spLocks noGrp="1"/>
          </p:cNvSpPr>
          <p:nvPr>
            <p:ph type="title"/>
          </p:nvPr>
        </p:nvSpPr>
        <p:spPr/>
        <p:txBody>
          <a:bodyPr/>
          <a:lstStyle/>
          <a:p>
            <a:r>
              <a:rPr lang="zh-CN" altLang="en-US" dirty="0"/>
              <a:t>微分低通滤波</a:t>
            </a:r>
            <a:endParaRPr lang="zh-SG" altLang="en-US" dirty="0"/>
          </a:p>
        </p:txBody>
      </p:sp>
      <p:sp>
        <p:nvSpPr>
          <p:cNvPr id="3" name="内容占位符 2">
            <a:extLst>
              <a:ext uri="{FF2B5EF4-FFF2-40B4-BE49-F238E27FC236}">
                <a16:creationId xmlns:a16="http://schemas.microsoft.com/office/drawing/2014/main" id="{0ED07005-CA2D-3595-8947-127E93AD33D7}"/>
              </a:ext>
            </a:extLst>
          </p:cNvPr>
          <p:cNvSpPr>
            <a:spLocks noGrp="1"/>
          </p:cNvSpPr>
          <p:nvPr>
            <p:ph idx="1"/>
          </p:nvPr>
        </p:nvSpPr>
        <p:spPr/>
        <p:txBody>
          <a:bodyPr/>
          <a:lstStyle/>
          <a:p>
            <a:r>
              <a:rPr lang="zh-CN" altLang="en-US" dirty="0"/>
              <a:t>微分项会放大高频噪声</a:t>
            </a:r>
            <a:endParaRPr lang="en-US" altLang="zh-CN" dirty="0"/>
          </a:p>
          <a:p>
            <a:pPr marL="0" indent="0">
              <a:buNone/>
            </a:pPr>
            <a:r>
              <a:rPr lang="zh-CN" altLang="en-US" dirty="0"/>
              <a:t>对微分项进行低通滤波以滤除高频噪声</a:t>
            </a:r>
            <a:endParaRPr lang="en-US" altLang="zh-CN" dirty="0"/>
          </a:p>
          <a:p>
            <a:r>
              <a:rPr lang="zh-CN" altLang="en-US" dirty="0"/>
              <a:t>一般使用简单的一阶低通滤波器</a:t>
            </a:r>
            <a:endParaRPr lang="zh-SG" altLang="en-US" dirty="0"/>
          </a:p>
        </p:txBody>
      </p:sp>
    </p:spTree>
    <p:extLst>
      <p:ext uri="{BB962C8B-B14F-4D97-AF65-F5344CB8AC3E}">
        <p14:creationId xmlns:p14="http://schemas.microsoft.com/office/powerpoint/2010/main" val="287726697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EC3AE2-853C-3195-DBD9-A2B3DD2F31E6}"/>
              </a:ext>
            </a:extLst>
          </p:cNvPr>
          <p:cNvSpPr>
            <a:spLocks noGrp="1"/>
          </p:cNvSpPr>
          <p:nvPr>
            <p:ph type="title"/>
          </p:nvPr>
        </p:nvSpPr>
        <p:spPr/>
        <p:txBody>
          <a:bodyPr/>
          <a:lstStyle/>
          <a:p>
            <a:r>
              <a:rPr lang="zh-CN" altLang="en-US" dirty="0"/>
              <a:t>二自由度</a:t>
            </a:r>
            <a:r>
              <a:rPr lang="en-US" altLang="zh-CN" dirty="0"/>
              <a:t>PID</a:t>
            </a:r>
            <a:endParaRPr lang="zh-SG" altLang="en-US" dirty="0"/>
          </a:p>
        </p:txBody>
      </p:sp>
      <p:sp>
        <p:nvSpPr>
          <p:cNvPr id="3" name="内容占位符 2">
            <a:extLst>
              <a:ext uri="{FF2B5EF4-FFF2-40B4-BE49-F238E27FC236}">
                <a16:creationId xmlns:a16="http://schemas.microsoft.com/office/drawing/2014/main" id="{ED20FAE4-EC61-657B-3792-297228CDD4B8}"/>
              </a:ext>
            </a:extLst>
          </p:cNvPr>
          <p:cNvSpPr>
            <a:spLocks noGrp="1"/>
          </p:cNvSpPr>
          <p:nvPr>
            <p:ph idx="1"/>
          </p:nvPr>
        </p:nvSpPr>
        <p:spPr/>
        <p:txBody>
          <a:bodyPr/>
          <a:lstStyle/>
          <a:p>
            <a:r>
              <a:rPr lang="zh-CN" altLang="en-US" dirty="0"/>
              <a:t>将目标跟踪性能与抗扰动能力解耦</a:t>
            </a:r>
            <a:endParaRPr lang="zh-SG" altLang="en-US" dirty="0"/>
          </a:p>
        </p:txBody>
      </p:sp>
    </p:spTree>
    <p:extLst>
      <p:ext uri="{BB962C8B-B14F-4D97-AF65-F5344CB8AC3E}">
        <p14:creationId xmlns:p14="http://schemas.microsoft.com/office/powerpoint/2010/main" val="94937665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00FA852-4F6C-3E75-95D1-0E024CD55FBB}"/>
              </a:ext>
            </a:extLst>
          </p:cNvPr>
          <p:cNvSpPr>
            <a:spLocks noGrp="1"/>
          </p:cNvSpPr>
          <p:nvPr>
            <p:ph type="title"/>
          </p:nvPr>
        </p:nvSpPr>
        <p:spPr/>
        <p:txBody>
          <a:bodyPr/>
          <a:lstStyle/>
          <a:p>
            <a:r>
              <a:rPr lang="zh-CN" altLang="en-US" dirty="0"/>
              <a:t>前馈</a:t>
            </a:r>
            <a:endParaRPr lang="zh-SG" altLang="en-US" dirty="0"/>
          </a:p>
        </p:txBody>
      </p:sp>
      <p:sp>
        <p:nvSpPr>
          <p:cNvPr id="3" name="内容占位符 2">
            <a:extLst>
              <a:ext uri="{FF2B5EF4-FFF2-40B4-BE49-F238E27FC236}">
                <a16:creationId xmlns:a16="http://schemas.microsoft.com/office/drawing/2014/main" id="{529BE673-AAF9-87E9-88A4-1B49A9FEA7DE}"/>
              </a:ext>
            </a:extLst>
          </p:cNvPr>
          <p:cNvSpPr>
            <a:spLocks noGrp="1"/>
          </p:cNvSpPr>
          <p:nvPr>
            <p:ph idx="1"/>
          </p:nvPr>
        </p:nvSpPr>
        <p:spPr/>
        <p:txBody>
          <a:bodyPr/>
          <a:lstStyle/>
          <a:p>
            <a:r>
              <a:rPr lang="zh-CN" altLang="en-US" dirty="0"/>
              <a:t>如果我本来就知道要输出多少，反馈就只是对扰动的补偿</a:t>
            </a:r>
            <a:endParaRPr lang="zh-SG" altLang="en-US" dirty="0"/>
          </a:p>
        </p:txBody>
      </p:sp>
    </p:spTree>
    <p:extLst>
      <p:ext uri="{BB962C8B-B14F-4D97-AF65-F5344CB8AC3E}">
        <p14:creationId xmlns:p14="http://schemas.microsoft.com/office/powerpoint/2010/main" val="38130921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2C98173-6A0B-1B26-FFEC-482A20252C2E}"/>
              </a:ext>
            </a:extLst>
          </p:cNvPr>
          <p:cNvSpPr>
            <a:spLocks noGrp="1"/>
          </p:cNvSpPr>
          <p:nvPr>
            <p:ph type="title"/>
          </p:nvPr>
        </p:nvSpPr>
        <p:spPr/>
        <p:txBody>
          <a:bodyPr/>
          <a:lstStyle/>
          <a:p>
            <a:r>
              <a:rPr lang="zh-CN" altLang="en-US" dirty="0"/>
              <a:t>轨迹生成</a:t>
            </a:r>
            <a:r>
              <a:rPr lang="zh-CN" altLang="en-GB" dirty="0"/>
              <a:t>（</a:t>
            </a:r>
            <a:r>
              <a:rPr lang="en-GB" altLang="zh-CN" dirty="0"/>
              <a:t>Trajectory Generation</a:t>
            </a:r>
            <a:r>
              <a:rPr lang="zh-CN" altLang="en-GB" dirty="0"/>
              <a:t>）</a:t>
            </a:r>
            <a:endParaRPr lang="zh-SG" altLang="en-US" dirty="0"/>
          </a:p>
        </p:txBody>
      </p:sp>
      <p:sp>
        <p:nvSpPr>
          <p:cNvPr id="3" name="内容占位符 2">
            <a:extLst>
              <a:ext uri="{FF2B5EF4-FFF2-40B4-BE49-F238E27FC236}">
                <a16:creationId xmlns:a16="http://schemas.microsoft.com/office/drawing/2014/main" id="{EA907D2A-FC8C-E68C-41CA-9D8668D1CCA7}"/>
              </a:ext>
            </a:extLst>
          </p:cNvPr>
          <p:cNvSpPr>
            <a:spLocks noGrp="1"/>
          </p:cNvSpPr>
          <p:nvPr>
            <p:ph idx="1"/>
          </p:nvPr>
        </p:nvSpPr>
        <p:spPr/>
        <p:txBody>
          <a:bodyPr/>
          <a:lstStyle/>
          <a:p>
            <a:r>
              <a:rPr lang="zh-CN" altLang="en-US" dirty="0"/>
              <a:t>为目标值规划一条平滑的轨迹，避免阶跃指令带来的冲击和执行器饱和</a:t>
            </a:r>
            <a:endParaRPr lang="zh-SG" altLang="en-US" dirty="0"/>
          </a:p>
        </p:txBody>
      </p:sp>
    </p:spTree>
    <p:extLst>
      <p:ext uri="{BB962C8B-B14F-4D97-AF65-F5344CB8AC3E}">
        <p14:creationId xmlns:p14="http://schemas.microsoft.com/office/powerpoint/2010/main" val="4511263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6EA035-4F7A-ACBC-19EB-1B0A991C019A}"/>
              </a:ext>
            </a:extLst>
          </p:cNvPr>
          <p:cNvSpPr>
            <a:spLocks noGrp="1"/>
          </p:cNvSpPr>
          <p:nvPr>
            <p:ph type="title"/>
          </p:nvPr>
        </p:nvSpPr>
        <p:spPr/>
        <p:txBody>
          <a:bodyPr/>
          <a:lstStyle/>
          <a:p>
            <a:r>
              <a:rPr lang="zh-CN" altLang="en-US" dirty="0"/>
              <a:t>串级</a:t>
            </a:r>
            <a:r>
              <a:rPr lang="en-US" altLang="zh-CN" dirty="0"/>
              <a:t>PID</a:t>
            </a:r>
            <a:endParaRPr lang="zh-SG" altLang="en-US" dirty="0"/>
          </a:p>
        </p:txBody>
      </p:sp>
      <p:sp>
        <p:nvSpPr>
          <p:cNvPr id="3" name="内容占位符 2">
            <a:extLst>
              <a:ext uri="{FF2B5EF4-FFF2-40B4-BE49-F238E27FC236}">
                <a16:creationId xmlns:a16="http://schemas.microsoft.com/office/drawing/2014/main" id="{C0FF2D23-E8BC-819A-8674-DD7FED8ABD45}"/>
              </a:ext>
            </a:extLst>
          </p:cNvPr>
          <p:cNvSpPr>
            <a:spLocks noGrp="1"/>
          </p:cNvSpPr>
          <p:nvPr>
            <p:ph idx="1"/>
          </p:nvPr>
        </p:nvSpPr>
        <p:spPr/>
        <p:txBody>
          <a:bodyPr/>
          <a:lstStyle/>
          <a:p>
            <a:r>
              <a:rPr lang="zh-CN" altLang="en-US" dirty="0"/>
              <a:t>对于带积分环节的一阶对象，</a:t>
            </a:r>
            <a:r>
              <a:rPr lang="en-US" altLang="zh-CN" dirty="0"/>
              <a:t>PID</a:t>
            </a:r>
            <a:r>
              <a:rPr lang="zh-CN" altLang="en-US" dirty="0"/>
              <a:t>是最优状态反馈控制器</a:t>
            </a:r>
            <a:endParaRPr lang="en-US" altLang="zh-CN" dirty="0"/>
          </a:p>
          <a:p>
            <a:r>
              <a:rPr lang="zh-CN" altLang="en-US" dirty="0"/>
              <a:t>能不能分别让两个</a:t>
            </a:r>
            <a:r>
              <a:rPr lang="en-US" altLang="zh-CN" dirty="0"/>
              <a:t>PID</a:t>
            </a:r>
            <a:r>
              <a:rPr lang="zh-CN" altLang="en-US" dirty="0"/>
              <a:t>各处理一个一阶过程？</a:t>
            </a:r>
            <a:endParaRPr lang="en-US" altLang="zh-CN" dirty="0"/>
          </a:p>
          <a:p>
            <a:r>
              <a:rPr lang="zh-CN" altLang="en-US" dirty="0"/>
              <a:t>只要内环带宽远</a:t>
            </a:r>
            <a:r>
              <a:rPr lang="zh-CN" altLang="en-US"/>
              <a:t>高于外环，</a:t>
            </a:r>
            <a:r>
              <a:rPr lang="zh-CN" altLang="en-US" dirty="0"/>
              <a:t>在外环观测到扰动之前，内环就进行</a:t>
            </a:r>
            <a:r>
              <a:rPr lang="zh-CN" altLang="en-US"/>
              <a:t>了纠正，外环就无需操心内环的调整过程</a:t>
            </a:r>
            <a:endParaRPr lang="zh-SG" altLang="en-US" dirty="0"/>
          </a:p>
        </p:txBody>
      </p:sp>
    </p:spTree>
    <p:extLst>
      <p:ext uri="{BB962C8B-B14F-4D97-AF65-F5344CB8AC3E}">
        <p14:creationId xmlns:p14="http://schemas.microsoft.com/office/powerpoint/2010/main" val="34763859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4EF1776-0C98-1F61-CA09-FBBCFB87DE0F}"/>
              </a:ext>
            </a:extLst>
          </p:cNvPr>
          <p:cNvSpPr>
            <a:spLocks noGrp="1"/>
          </p:cNvSpPr>
          <p:nvPr>
            <p:ph type="ctrTitle"/>
          </p:nvPr>
        </p:nvSpPr>
        <p:spPr/>
        <p:txBody>
          <a:bodyPr anchor="ctr"/>
          <a:lstStyle/>
          <a:p>
            <a:r>
              <a:rPr lang="en-US" altLang="zh-SG" dirty="0"/>
              <a:t>4.5 </a:t>
            </a:r>
            <a:r>
              <a:rPr lang="zh-CN" altLang="en-US" dirty="0"/>
              <a:t>调试与</a:t>
            </a:r>
            <a:r>
              <a:rPr lang="en-US" altLang="zh-CN" dirty="0"/>
              <a:t>debug</a:t>
            </a:r>
            <a:endParaRPr lang="zh-SG" altLang="en-US" dirty="0"/>
          </a:p>
        </p:txBody>
      </p:sp>
      <p:sp>
        <p:nvSpPr>
          <p:cNvPr id="3" name="副标题 2">
            <a:extLst>
              <a:ext uri="{FF2B5EF4-FFF2-40B4-BE49-F238E27FC236}">
                <a16:creationId xmlns:a16="http://schemas.microsoft.com/office/drawing/2014/main" id="{4C07DCF3-73F4-D15F-54F6-0C5183E028A3}"/>
              </a:ext>
            </a:extLst>
          </p:cNvPr>
          <p:cNvSpPr>
            <a:spLocks noGrp="1"/>
          </p:cNvSpPr>
          <p:nvPr>
            <p:ph type="subTitle" idx="1"/>
          </p:nvPr>
        </p:nvSpPr>
        <p:spPr/>
        <p:txBody>
          <a:bodyPr/>
          <a:lstStyle/>
          <a:p>
            <a:r>
              <a:rPr lang="zh-CN" altLang="en-US" dirty="0"/>
              <a:t>要求：</a:t>
            </a:r>
            <a:endParaRPr lang="zh-SG" altLang="en-US" dirty="0"/>
          </a:p>
        </p:txBody>
      </p:sp>
    </p:spTree>
    <p:extLst>
      <p:ext uri="{BB962C8B-B14F-4D97-AF65-F5344CB8AC3E}">
        <p14:creationId xmlns:p14="http://schemas.microsoft.com/office/powerpoint/2010/main" val="40448509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D84766-17A2-DB3F-775C-61ECA3220316}"/>
              </a:ext>
            </a:extLst>
          </p:cNvPr>
          <p:cNvSpPr>
            <a:spLocks noGrp="1"/>
          </p:cNvSpPr>
          <p:nvPr>
            <p:ph type="title"/>
          </p:nvPr>
        </p:nvSpPr>
        <p:spPr/>
        <p:txBody>
          <a:bodyPr/>
          <a:lstStyle/>
          <a:p>
            <a:endParaRPr lang="zh-SG" altLang="en-US"/>
          </a:p>
        </p:txBody>
      </p:sp>
      <p:sp>
        <p:nvSpPr>
          <p:cNvPr id="3" name="内容占位符 2">
            <a:extLst>
              <a:ext uri="{FF2B5EF4-FFF2-40B4-BE49-F238E27FC236}">
                <a16:creationId xmlns:a16="http://schemas.microsoft.com/office/drawing/2014/main" id="{0B52ABF7-BFEB-E555-073C-E78BC6FF79C7}"/>
              </a:ext>
            </a:extLst>
          </p:cNvPr>
          <p:cNvSpPr>
            <a:spLocks noGrp="1"/>
          </p:cNvSpPr>
          <p:nvPr>
            <p:ph idx="1"/>
          </p:nvPr>
        </p:nvSpPr>
        <p:spPr/>
        <p:txBody>
          <a:bodyPr/>
          <a:lstStyle/>
          <a:p>
            <a:endParaRPr lang="zh-SG" altLang="en-US" dirty="0"/>
          </a:p>
        </p:txBody>
      </p:sp>
    </p:spTree>
    <p:extLst>
      <p:ext uri="{BB962C8B-B14F-4D97-AF65-F5344CB8AC3E}">
        <p14:creationId xmlns:p14="http://schemas.microsoft.com/office/powerpoint/2010/main" val="1162372085"/>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2280</TotalTime>
  <Words>2673</Words>
  <PresentationFormat>宽屏</PresentationFormat>
  <Paragraphs>242</Paragraphs>
  <Slides>42</Slides>
  <Notes>1</Notes>
  <HiddenSlides>0</HiddenSlides>
  <MMClips>1</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42</vt:i4>
      </vt:variant>
    </vt:vector>
  </HeadingPairs>
  <TitlesOfParts>
    <vt:vector size="47" baseType="lpstr">
      <vt:lpstr>Aptos</vt:lpstr>
      <vt:lpstr>Aptos Display</vt:lpstr>
      <vt:lpstr>Arial</vt:lpstr>
      <vt:lpstr>Cambria Math</vt:lpstr>
      <vt:lpstr>Office 主题​​</vt:lpstr>
      <vt:lpstr>4.1 从调参到控制器设计</vt:lpstr>
      <vt:lpstr>闭环控制的基本概念</vt:lpstr>
      <vt:lpstr>描述阶跃响应：目标突变，输出怎么变？</vt:lpstr>
      <vt:lpstr>场景对响应的需求决定设计时的权衡</vt:lpstr>
      <vt:lpstr>既要看输出量，也要看控制量</vt:lpstr>
      <vt:lpstr>如何减少盲目调参？</vt:lpstr>
      <vt:lpstr>4.2 描述系统</vt:lpstr>
      <vt:lpstr>什么是系统（System）</vt:lpstr>
      <vt:lpstr>为什么设计控制器时要了解系统？</vt:lpstr>
      <vt:lpstr>如何对系统进行建模</vt:lpstr>
      <vt:lpstr>如何对系统进行建模</vt:lpstr>
      <vt:lpstr>线性时不变系统的描述</vt:lpstr>
      <vt:lpstr>微积分算起来太复杂，能不能少一些？</vt:lpstr>
      <vt:lpstr>借助拉普拉斯变换简化对系统的描述</vt:lpstr>
      <vt:lpstr>从微分方程到传递函数</vt:lpstr>
      <vt:lpstr>一阶系统的阶跃响应</vt:lpstr>
      <vt:lpstr>一阶系统特征与传递函数的关系</vt:lpstr>
      <vt:lpstr>二阶系统模型</vt:lpstr>
      <vt:lpstr>二阶系统的极点</vt:lpstr>
      <vt:lpstr>从方程推出响应特征</vt:lpstr>
      <vt:lpstr>如何运用这些结论压力机械？</vt:lpstr>
      <vt:lpstr>直观估计系统阶数</vt:lpstr>
      <vt:lpstr>如何得到系统的模型？</vt:lpstr>
      <vt:lpstr>系统辨识的常见手段</vt:lpstr>
      <vt:lpstr>系统辨识的常见手段</vt:lpstr>
      <vt:lpstr>为什么要看频率响应？</vt:lpstr>
      <vt:lpstr>4.3 闭环控制的稳定性</vt:lpstr>
      <vt:lpstr>To be continued…</vt:lpstr>
      <vt:lpstr>4.4 PID、离散化与改进</vt:lpstr>
      <vt:lpstr>PID的时域方程和传递函数</vt:lpstr>
      <vt:lpstr>PID的频率响应</vt:lpstr>
      <vt:lpstr>如何搭配P、I和D项？</vt:lpstr>
      <vt:lpstr>PID的离散化</vt:lpstr>
      <vt:lpstr>积分抗饱和</vt:lpstr>
      <vt:lpstr>微分先行</vt:lpstr>
      <vt:lpstr>微分低通滤波</vt:lpstr>
      <vt:lpstr>二自由度PID</vt:lpstr>
      <vt:lpstr>前馈</vt:lpstr>
      <vt:lpstr>轨迹生成（Trajectory Generation）</vt:lpstr>
      <vt:lpstr>串级PID</vt:lpstr>
      <vt:lpstr>4.5 调试与debug</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terms:created xsi:type="dcterms:W3CDTF">2026-07-13T06:46:52Z</dcterms:created>
  <dcterms:modified xsi:type="dcterms:W3CDTF">2026-07-16T10:24:20Z</dcterms:modified>
</cp:coreProperties>
</file>