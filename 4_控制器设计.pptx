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60" r:id="rId3"/>
    <p:sldId id="257" r:id="rId4"/>
    <p:sldId id="261" r:id="rId5"/>
    <p:sldId id="259" r:id="rId6"/>
    <p:sldId id="262" r:id="rId7"/>
    <p:sldId id="263" r:id="rId8"/>
    <p:sldId id="264" r:id="rId9"/>
    <p:sldId id="274" r:id="rId10"/>
    <p:sldId id="265" r:id="rId11"/>
    <p:sldId id="266" r:id="rId12"/>
    <p:sldId id="267" r:id="rId13"/>
    <p:sldId id="268" r:id="rId14"/>
    <p:sldId id="269" r:id="rId15"/>
    <p:sldId id="272" r:id="rId16"/>
    <p:sldId id="273" r:id="rId17"/>
    <p:sldId id="271" r:id="rId18"/>
    <p:sldId id="270" r:id="rId19"/>
    <p:sldId id="275" r:id="rId20"/>
    <p:sldId id="277" r:id="rId21"/>
    <p:sldId id="276"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147"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SG"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94BDB-505B-4C6D-B796-E840FEED8A75}" type="datetimeFigureOut">
              <a:rPr lang="zh-SG" altLang="en-US" smtClean="0"/>
              <a:t>2026/07/15</a:t>
            </a:fld>
            <a:endParaRPr lang="zh-SG"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SG"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SG"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44597E-1E91-42A3-B6E9-C6744F606C3F}" type="slidenum">
              <a:rPr lang="zh-SG" altLang="en-US" smtClean="0"/>
              <a:t>‹#›</a:t>
            </a:fld>
            <a:endParaRPr lang="zh-SG" altLang="en-US"/>
          </a:p>
        </p:txBody>
      </p:sp>
    </p:spTree>
    <p:extLst>
      <p:ext uri="{BB962C8B-B14F-4D97-AF65-F5344CB8AC3E}">
        <p14:creationId xmlns:p14="http://schemas.microsoft.com/office/powerpoint/2010/main" val="3091499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SG" altLang="en-US" dirty="0"/>
          </a:p>
        </p:txBody>
      </p:sp>
      <p:sp>
        <p:nvSpPr>
          <p:cNvPr id="4" name="灯片编号占位符 3"/>
          <p:cNvSpPr>
            <a:spLocks noGrp="1"/>
          </p:cNvSpPr>
          <p:nvPr>
            <p:ph type="sldNum" sz="quarter" idx="5"/>
          </p:nvPr>
        </p:nvSpPr>
        <p:spPr/>
        <p:txBody>
          <a:bodyPr/>
          <a:lstStyle/>
          <a:p>
            <a:fld id="{5044597E-1E91-42A3-B6E9-C6744F606C3F}" type="slidenum">
              <a:rPr lang="zh-SG" altLang="en-US" smtClean="0"/>
              <a:t>3</a:t>
            </a:fld>
            <a:endParaRPr lang="zh-SG" altLang="en-US"/>
          </a:p>
        </p:txBody>
      </p:sp>
    </p:spTree>
    <p:extLst>
      <p:ext uri="{BB962C8B-B14F-4D97-AF65-F5344CB8AC3E}">
        <p14:creationId xmlns:p14="http://schemas.microsoft.com/office/powerpoint/2010/main" val="233755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ECFC06-7F98-47B4-4A2B-7532E409FB4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SG" altLang="en-US"/>
          </a:p>
        </p:txBody>
      </p:sp>
      <p:sp>
        <p:nvSpPr>
          <p:cNvPr id="3" name="副标题 2">
            <a:extLst>
              <a:ext uri="{FF2B5EF4-FFF2-40B4-BE49-F238E27FC236}">
                <a16:creationId xmlns:a16="http://schemas.microsoft.com/office/drawing/2014/main" id="{72D23841-448B-34C2-67AC-A0EA047536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SG" altLang="en-US"/>
          </a:p>
        </p:txBody>
      </p:sp>
      <p:sp>
        <p:nvSpPr>
          <p:cNvPr id="4" name="日期占位符 3">
            <a:extLst>
              <a:ext uri="{FF2B5EF4-FFF2-40B4-BE49-F238E27FC236}">
                <a16:creationId xmlns:a16="http://schemas.microsoft.com/office/drawing/2014/main" id="{5A7FBEA4-D591-9C05-AA49-5BD0684DF2BC}"/>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6A3E2443-8757-8527-6443-EEF1FB8B414D}"/>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8D5DD579-0F78-6826-3995-AA687D9CF44B}"/>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2169315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15998C-62E5-4887-4083-907445BC9AA8}"/>
              </a:ext>
            </a:extLst>
          </p:cNvPr>
          <p:cNvSpPr>
            <a:spLocks noGrp="1"/>
          </p:cNvSpPr>
          <p:nvPr>
            <p:ph type="title"/>
          </p:nvPr>
        </p:nvSpPr>
        <p:spPr/>
        <p:txBody>
          <a:body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D63F16F4-8F44-4EC6-6008-D28D4E9706F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E0774205-0D0C-837C-B740-DC490B6772C4}"/>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A0F5E9F6-2E4D-BF99-C6D3-0E35C2CD2FC6}"/>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9349CFF0-2F63-BFC6-F118-BBFE9F16ED1C}"/>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43679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DBB1-4E83-F9E8-D9C7-28C10F095E2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7F617B79-3610-3019-9D59-4304DFF0A7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B860275-C98C-1DD9-ECE2-B15DA27163F2}"/>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93348216-66C1-2A9D-3E65-5B9E3424F4D7}"/>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82383727-1F23-ED74-5111-45848615A826}"/>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278732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94A2D0-2853-EDA1-5969-E7A6FFAF8E5C}"/>
              </a:ext>
            </a:extLst>
          </p:cNvPr>
          <p:cNvSpPr>
            <a:spLocks noGrp="1"/>
          </p:cNvSpPr>
          <p:nvPr>
            <p:ph type="title"/>
          </p:nvPr>
        </p:nvSpPr>
        <p:spPr/>
        <p:txBody>
          <a:body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29CAC18E-670C-30CE-B371-2361AA84F67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内容占位符 3">
            <a:extLst>
              <a:ext uri="{FF2B5EF4-FFF2-40B4-BE49-F238E27FC236}">
                <a16:creationId xmlns:a16="http://schemas.microsoft.com/office/drawing/2014/main" id="{1204FCCA-554E-4703-D98A-2F0D144D0BF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5" name="日期占位符 4">
            <a:extLst>
              <a:ext uri="{FF2B5EF4-FFF2-40B4-BE49-F238E27FC236}">
                <a16:creationId xmlns:a16="http://schemas.microsoft.com/office/drawing/2014/main" id="{4E119F0C-A505-11B6-244B-221F9175CB1D}"/>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6" name="页脚占位符 5">
            <a:extLst>
              <a:ext uri="{FF2B5EF4-FFF2-40B4-BE49-F238E27FC236}">
                <a16:creationId xmlns:a16="http://schemas.microsoft.com/office/drawing/2014/main" id="{D0B54973-9D23-DE34-F931-4C9940FDAA14}"/>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2975272A-E3B5-7A5A-796E-507B804ADA9A}"/>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2531705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796830-DC9E-E85F-28B8-5B9857A3DED8}"/>
              </a:ext>
            </a:extLst>
          </p:cNvPr>
          <p:cNvSpPr>
            <a:spLocks noGrp="1"/>
          </p:cNvSpPr>
          <p:nvPr>
            <p:ph type="title"/>
          </p:nvPr>
        </p:nvSpPr>
        <p:spPr>
          <a:xfrm>
            <a:off x="839788" y="365125"/>
            <a:ext cx="10515600" cy="1325563"/>
          </a:xfrm>
        </p:spPr>
        <p:txBody>
          <a:body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F41F473C-A750-3593-DD2B-9C2F939AF2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6FA566F-037B-DD2B-AF6A-241FCCB41AB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5" name="文本占位符 4">
            <a:extLst>
              <a:ext uri="{FF2B5EF4-FFF2-40B4-BE49-F238E27FC236}">
                <a16:creationId xmlns:a16="http://schemas.microsoft.com/office/drawing/2014/main" id="{92779D76-CB80-F6DA-366C-34DF920A2B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22A4130-6176-1DD9-9FCF-E4F87E87F2A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7" name="日期占位符 6">
            <a:extLst>
              <a:ext uri="{FF2B5EF4-FFF2-40B4-BE49-F238E27FC236}">
                <a16:creationId xmlns:a16="http://schemas.microsoft.com/office/drawing/2014/main" id="{E13DFC7A-CEB6-4A33-32C6-532BE28B023E}"/>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8" name="页脚占位符 7">
            <a:extLst>
              <a:ext uri="{FF2B5EF4-FFF2-40B4-BE49-F238E27FC236}">
                <a16:creationId xmlns:a16="http://schemas.microsoft.com/office/drawing/2014/main" id="{00242DCD-FE07-B18C-3D96-52D96745BE68}"/>
              </a:ext>
            </a:extLst>
          </p:cNvPr>
          <p:cNvSpPr>
            <a:spLocks noGrp="1"/>
          </p:cNvSpPr>
          <p:nvPr>
            <p:ph type="ftr" sz="quarter" idx="11"/>
          </p:nvPr>
        </p:nvSpPr>
        <p:spPr/>
        <p:txBody>
          <a:bodyPr/>
          <a:lstStyle/>
          <a:p>
            <a:endParaRPr lang="zh-SG" altLang="en-US"/>
          </a:p>
        </p:txBody>
      </p:sp>
      <p:sp>
        <p:nvSpPr>
          <p:cNvPr id="9" name="灯片编号占位符 8">
            <a:extLst>
              <a:ext uri="{FF2B5EF4-FFF2-40B4-BE49-F238E27FC236}">
                <a16:creationId xmlns:a16="http://schemas.microsoft.com/office/drawing/2014/main" id="{D76D2F99-1D05-6DFF-160B-C51720652595}"/>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4082507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5190EC-0FEB-A068-0A0D-023DF7DD47B8}"/>
              </a:ext>
            </a:extLst>
          </p:cNvPr>
          <p:cNvSpPr>
            <a:spLocks noGrp="1"/>
          </p:cNvSpPr>
          <p:nvPr>
            <p:ph type="title"/>
          </p:nvPr>
        </p:nvSpPr>
        <p:spPr/>
        <p:txBody>
          <a:bodyPr/>
          <a:lstStyle/>
          <a:p>
            <a:r>
              <a:rPr lang="zh-CN" altLang="en-US"/>
              <a:t>单击此处编辑母版标题样式</a:t>
            </a:r>
            <a:endParaRPr lang="zh-SG" altLang="en-US"/>
          </a:p>
        </p:txBody>
      </p:sp>
      <p:sp>
        <p:nvSpPr>
          <p:cNvPr id="3" name="日期占位符 2">
            <a:extLst>
              <a:ext uri="{FF2B5EF4-FFF2-40B4-BE49-F238E27FC236}">
                <a16:creationId xmlns:a16="http://schemas.microsoft.com/office/drawing/2014/main" id="{56254016-BFC6-E58B-32C8-BE3B331D20B4}"/>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4" name="页脚占位符 3">
            <a:extLst>
              <a:ext uri="{FF2B5EF4-FFF2-40B4-BE49-F238E27FC236}">
                <a16:creationId xmlns:a16="http://schemas.microsoft.com/office/drawing/2014/main" id="{66CCDF8B-4E55-83BE-2302-75216F6AC967}"/>
              </a:ext>
            </a:extLst>
          </p:cNvPr>
          <p:cNvSpPr>
            <a:spLocks noGrp="1"/>
          </p:cNvSpPr>
          <p:nvPr>
            <p:ph type="ftr" sz="quarter" idx="11"/>
          </p:nvPr>
        </p:nvSpPr>
        <p:spPr/>
        <p:txBody>
          <a:bodyPr/>
          <a:lstStyle/>
          <a:p>
            <a:endParaRPr lang="zh-SG" altLang="en-US"/>
          </a:p>
        </p:txBody>
      </p:sp>
      <p:sp>
        <p:nvSpPr>
          <p:cNvPr id="5" name="灯片编号占位符 4">
            <a:extLst>
              <a:ext uri="{FF2B5EF4-FFF2-40B4-BE49-F238E27FC236}">
                <a16:creationId xmlns:a16="http://schemas.microsoft.com/office/drawing/2014/main" id="{8AE1A8F0-EA03-6507-0B8A-76D967BC1C9C}"/>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740129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F3044F5-644B-1D56-800F-9CB3EB0D0C76}"/>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3" name="页脚占位符 2">
            <a:extLst>
              <a:ext uri="{FF2B5EF4-FFF2-40B4-BE49-F238E27FC236}">
                <a16:creationId xmlns:a16="http://schemas.microsoft.com/office/drawing/2014/main" id="{AFE9E6CF-AD82-C1A3-1C92-2E1F39EB2DEB}"/>
              </a:ext>
            </a:extLst>
          </p:cNvPr>
          <p:cNvSpPr>
            <a:spLocks noGrp="1"/>
          </p:cNvSpPr>
          <p:nvPr>
            <p:ph type="ftr" sz="quarter" idx="11"/>
          </p:nvPr>
        </p:nvSpPr>
        <p:spPr/>
        <p:txBody>
          <a:bodyPr/>
          <a:lstStyle/>
          <a:p>
            <a:endParaRPr lang="zh-SG" altLang="en-US"/>
          </a:p>
        </p:txBody>
      </p:sp>
      <p:sp>
        <p:nvSpPr>
          <p:cNvPr id="4" name="灯片编号占位符 3">
            <a:extLst>
              <a:ext uri="{FF2B5EF4-FFF2-40B4-BE49-F238E27FC236}">
                <a16:creationId xmlns:a16="http://schemas.microsoft.com/office/drawing/2014/main" id="{681360A2-3AF8-CF49-E3A6-E1080E20A822}"/>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1782012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CA8EBD-E818-97EA-AD5A-2BB7480CF75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SG" altLang="en-US"/>
          </a:p>
        </p:txBody>
      </p:sp>
      <p:sp>
        <p:nvSpPr>
          <p:cNvPr id="3" name="内容占位符 2">
            <a:extLst>
              <a:ext uri="{FF2B5EF4-FFF2-40B4-BE49-F238E27FC236}">
                <a16:creationId xmlns:a16="http://schemas.microsoft.com/office/drawing/2014/main" id="{6FEE7321-DC6A-9663-FBB8-22E42068B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文本占位符 3">
            <a:extLst>
              <a:ext uri="{FF2B5EF4-FFF2-40B4-BE49-F238E27FC236}">
                <a16:creationId xmlns:a16="http://schemas.microsoft.com/office/drawing/2014/main" id="{7DF5D2CB-C77F-09B0-1F46-F61D7257C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5E71E4C-28BC-5A4C-3246-CE1AE9076D8C}"/>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6" name="页脚占位符 5">
            <a:extLst>
              <a:ext uri="{FF2B5EF4-FFF2-40B4-BE49-F238E27FC236}">
                <a16:creationId xmlns:a16="http://schemas.microsoft.com/office/drawing/2014/main" id="{6ABEDDEB-0C7B-6346-F675-982E9C148246}"/>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D6DBD486-89FB-114F-3D23-79EC5A7B4043}"/>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2692968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7C1D5D-2EEE-C0B4-FCE2-DB5741F9BA8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SG" altLang="en-US"/>
          </a:p>
        </p:txBody>
      </p:sp>
      <p:sp>
        <p:nvSpPr>
          <p:cNvPr id="3" name="图片占位符 2">
            <a:extLst>
              <a:ext uri="{FF2B5EF4-FFF2-40B4-BE49-F238E27FC236}">
                <a16:creationId xmlns:a16="http://schemas.microsoft.com/office/drawing/2014/main" id="{E42FD72D-4E58-CA95-886B-E0A074A135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SG" altLang="en-US"/>
          </a:p>
        </p:txBody>
      </p:sp>
      <p:sp>
        <p:nvSpPr>
          <p:cNvPr id="4" name="文本占位符 3">
            <a:extLst>
              <a:ext uri="{FF2B5EF4-FFF2-40B4-BE49-F238E27FC236}">
                <a16:creationId xmlns:a16="http://schemas.microsoft.com/office/drawing/2014/main" id="{8DFB5665-DB2E-3EF3-607C-9917278B8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B70B83C-172A-AE26-6BF0-A805825B6E84}"/>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6" name="页脚占位符 5">
            <a:extLst>
              <a:ext uri="{FF2B5EF4-FFF2-40B4-BE49-F238E27FC236}">
                <a16:creationId xmlns:a16="http://schemas.microsoft.com/office/drawing/2014/main" id="{8F378252-9F58-FF27-9B75-06064EE209C3}"/>
              </a:ext>
            </a:extLst>
          </p:cNvPr>
          <p:cNvSpPr>
            <a:spLocks noGrp="1"/>
          </p:cNvSpPr>
          <p:nvPr>
            <p:ph type="ftr" sz="quarter" idx="11"/>
          </p:nvPr>
        </p:nvSpPr>
        <p:spPr/>
        <p:txBody>
          <a:bodyPr/>
          <a:lstStyle/>
          <a:p>
            <a:endParaRPr lang="zh-SG" altLang="en-US"/>
          </a:p>
        </p:txBody>
      </p:sp>
      <p:sp>
        <p:nvSpPr>
          <p:cNvPr id="7" name="灯片编号占位符 6">
            <a:extLst>
              <a:ext uri="{FF2B5EF4-FFF2-40B4-BE49-F238E27FC236}">
                <a16:creationId xmlns:a16="http://schemas.microsoft.com/office/drawing/2014/main" id="{0A752FE2-0D9B-6164-14BD-12FC58D973A1}"/>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2386602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D5AD0E-5554-B7A5-AFAD-2611C41E5909}"/>
              </a:ext>
            </a:extLst>
          </p:cNvPr>
          <p:cNvSpPr>
            <a:spLocks noGrp="1"/>
          </p:cNvSpPr>
          <p:nvPr>
            <p:ph type="title"/>
          </p:nvPr>
        </p:nvSpPr>
        <p:spPr/>
        <p:txBody>
          <a:bodyPr/>
          <a:lstStyle/>
          <a:p>
            <a:r>
              <a:rPr lang="zh-CN" altLang="en-US"/>
              <a:t>单击此处编辑母版标题样式</a:t>
            </a:r>
            <a:endParaRPr lang="zh-SG" altLang="en-US"/>
          </a:p>
        </p:txBody>
      </p:sp>
      <p:sp>
        <p:nvSpPr>
          <p:cNvPr id="3" name="竖排文字占位符 2">
            <a:extLst>
              <a:ext uri="{FF2B5EF4-FFF2-40B4-BE49-F238E27FC236}">
                <a16:creationId xmlns:a16="http://schemas.microsoft.com/office/drawing/2014/main" id="{082B09C5-C1AF-FCE0-19AA-F54D13BC880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FB072CC0-17BB-4DD3-3017-8CEC07D552D5}"/>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6216DB3B-AE97-C622-5802-8B970D6A7F2F}"/>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FCB740E8-2F1C-5AC0-2005-963D7DE4CC7F}"/>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51198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2663BB-06B7-198A-A140-08C45A1FAB7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SG" altLang="en-US"/>
          </a:p>
        </p:txBody>
      </p:sp>
      <p:sp>
        <p:nvSpPr>
          <p:cNvPr id="3" name="竖排文字占位符 2">
            <a:extLst>
              <a:ext uri="{FF2B5EF4-FFF2-40B4-BE49-F238E27FC236}">
                <a16:creationId xmlns:a16="http://schemas.microsoft.com/office/drawing/2014/main" id="{D575485B-EEBD-FE60-3B08-4350A08C7B4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B2970637-24EA-8302-ED30-C25EAB5DB624}"/>
              </a:ext>
            </a:extLst>
          </p:cNvPr>
          <p:cNvSpPr>
            <a:spLocks noGrp="1"/>
          </p:cNvSpPr>
          <p:nvPr>
            <p:ph type="dt" sz="half" idx="10"/>
          </p:nvPr>
        </p:nvSpPr>
        <p:spPr/>
        <p:txBody>
          <a:body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7ADFB74B-99AC-8F0B-FC52-594FC851E734}"/>
              </a:ext>
            </a:extLst>
          </p:cNvPr>
          <p:cNvSpPr>
            <a:spLocks noGrp="1"/>
          </p:cNvSpPr>
          <p:nvPr>
            <p:ph type="ftr" sz="quarter" idx="11"/>
          </p:nvPr>
        </p:nvSpPr>
        <p:spPr/>
        <p:txBody>
          <a:bodyPr/>
          <a:lstStyle/>
          <a:p>
            <a:endParaRPr lang="zh-SG" altLang="en-US"/>
          </a:p>
        </p:txBody>
      </p:sp>
      <p:sp>
        <p:nvSpPr>
          <p:cNvPr id="6" name="灯片编号占位符 5">
            <a:extLst>
              <a:ext uri="{FF2B5EF4-FFF2-40B4-BE49-F238E27FC236}">
                <a16:creationId xmlns:a16="http://schemas.microsoft.com/office/drawing/2014/main" id="{ECB91CAC-6DB0-43B0-CE44-C575F0B453E0}"/>
              </a:ext>
            </a:extLst>
          </p:cNvPr>
          <p:cNvSpPr>
            <a:spLocks noGrp="1"/>
          </p:cNvSpPr>
          <p:nvPr>
            <p:ph type="sldNum" sz="quarter" idx="12"/>
          </p:nvPr>
        </p:nvSpPr>
        <p:spPr/>
        <p:txBody>
          <a:body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3423191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5A886B1-C4FA-F7D9-7DB7-F642F9FD60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SG" altLang="en-US"/>
          </a:p>
        </p:txBody>
      </p:sp>
      <p:sp>
        <p:nvSpPr>
          <p:cNvPr id="3" name="文本占位符 2">
            <a:extLst>
              <a:ext uri="{FF2B5EF4-FFF2-40B4-BE49-F238E27FC236}">
                <a16:creationId xmlns:a16="http://schemas.microsoft.com/office/drawing/2014/main" id="{0472C01C-8929-11E6-C272-A9BF16610A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SG" altLang="en-US"/>
          </a:p>
        </p:txBody>
      </p:sp>
      <p:sp>
        <p:nvSpPr>
          <p:cNvPr id="4" name="日期占位符 3">
            <a:extLst>
              <a:ext uri="{FF2B5EF4-FFF2-40B4-BE49-F238E27FC236}">
                <a16:creationId xmlns:a16="http://schemas.microsoft.com/office/drawing/2014/main" id="{26AA31C8-5D88-9688-58CD-C2C455E728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931E22-7369-4ECC-A555-200EE9C2A1C3}" type="datetimeFigureOut">
              <a:rPr lang="zh-SG" altLang="en-US" smtClean="0"/>
              <a:t>2026/07/15</a:t>
            </a:fld>
            <a:endParaRPr lang="zh-SG" altLang="en-US"/>
          </a:p>
        </p:txBody>
      </p:sp>
      <p:sp>
        <p:nvSpPr>
          <p:cNvPr id="5" name="页脚占位符 4">
            <a:extLst>
              <a:ext uri="{FF2B5EF4-FFF2-40B4-BE49-F238E27FC236}">
                <a16:creationId xmlns:a16="http://schemas.microsoft.com/office/drawing/2014/main" id="{638DE21E-A288-D14F-FCDC-CF2AC35754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SG" altLang="en-US"/>
          </a:p>
        </p:txBody>
      </p:sp>
      <p:sp>
        <p:nvSpPr>
          <p:cNvPr id="6" name="灯片编号占位符 5">
            <a:extLst>
              <a:ext uri="{FF2B5EF4-FFF2-40B4-BE49-F238E27FC236}">
                <a16:creationId xmlns:a16="http://schemas.microsoft.com/office/drawing/2014/main" id="{E9E2B78C-2EE5-A198-987E-3E011D7A13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4AF1BFE-8AAB-4F14-AFFB-BE81CB5BC14E}" type="slidenum">
              <a:rPr lang="zh-SG" altLang="en-US" smtClean="0"/>
              <a:t>‹#›</a:t>
            </a:fld>
            <a:endParaRPr lang="zh-SG" altLang="en-US"/>
          </a:p>
        </p:txBody>
      </p:sp>
    </p:spTree>
    <p:extLst>
      <p:ext uri="{BB962C8B-B14F-4D97-AF65-F5344CB8AC3E}">
        <p14:creationId xmlns:p14="http://schemas.microsoft.com/office/powerpoint/2010/main" val="467232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S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D5A971-B1CC-2C35-814D-C1037C24EC80}"/>
              </a:ext>
            </a:extLst>
          </p:cNvPr>
          <p:cNvSpPr>
            <a:spLocks noGrp="1"/>
          </p:cNvSpPr>
          <p:nvPr>
            <p:ph type="ctrTitle"/>
          </p:nvPr>
        </p:nvSpPr>
        <p:spPr/>
        <p:txBody>
          <a:bodyPr anchor="ctr"/>
          <a:lstStyle/>
          <a:p>
            <a:r>
              <a:rPr lang="en-US" altLang="zh-SG" dirty="0"/>
              <a:t>4.1 </a:t>
            </a:r>
            <a:r>
              <a:rPr lang="zh-CN" altLang="en-US" dirty="0"/>
              <a:t>从调参到控制器设计</a:t>
            </a:r>
            <a:endParaRPr lang="zh-SG" altLang="en-US" dirty="0"/>
          </a:p>
        </p:txBody>
      </p:sp>
      <p:sp>
        <p:nvSpPr>
          <p:cNvPr id="3" name="副标题 2">
            <a:extLst>
              <a:ext uri="{FF2B5EF4-FFF2-40B4-BE49-F238E27FC236}">
                <a16:creationId xmlns:a16="http://schemas.microsoft.com/office/drawing/2014/main" id="{C6DE6775-ED5A-3B3E-6706-3E6EA376AEE7}"/>
              </a:ext>
            </a:extLst>
          </p:cNvPr>
          <p:cNvSpPr>
            <a:spLocks noGrp="1"/>
          </p:cNvSpPr>
          <p:nvPr>
            <p:ph type="subTitle" idx="1"/>
          </p:nvPr>
        </p:nvSpPr>
        <p:spPr>
          <a:xfrm>
            <a:off x="3024076" y="3509963"/>
            <a:ext cx="6143847" cy="3348037"/>
          </a:xfrm>
        </p:spPr>
        <p:txBody>
          <a:bodyPr>
            <a:normAutofit/>
          </a:bodyPr>
          <a:lstStyle/>
          <a:p>
            <a:r>
              <a:rPr lang="zh-CN" altLang="en-US" dirty="0"/>
              <a:t>要求：</a:t>
            </a:r>
            <a:endParaRPr lang="en-US" altLang="zh-CN" dirty="0"/>
          </a:p>
          <a:p>
            <a:pPr marL="342900" indent="-342900" algn="l">
              <a:buFont typeface="Arial" panose="020B0604020202020204" pitchFamily="34" charset="0"/>
              <a:buChar char="•"/>
            </a:pPr>
            <a:r>
              <a:rPr lang="zh-CN" altLang="en-US" dirty="0"/>
              <a:t>了解闭环控制的基本概念</a:t>
            </a:r>
            <a:endParaRPr lang="en-US" altLang="zh-CN" dirty="0"/>
          </a:p>
          <a:p>
            <a:pPr marL="342900" indent="-342900" algn="l">
              <a:buFont typeface="Arial" panose="020B0604020202020204" pitchFamily="34" charset="0"/>
              <a:buChar char="•"/>
            </a:pPr>
            <a:r>
              <a:rPr lang="zh-CN" altLang="en-US" dirty="0"/>
              <a:t>通过上升时间、调节时间、超调量和稳态误差等指标直观评价阶跃响应</a:t>
            </a:r>
            <a:endParaRPr lang="en-US" altLang="zh-CN" dirty="0"/>
          </a:p>
          <a:p>
            <a:pPr marL="342900" indent="-342900" algn="l">
              <a:buFont typeface="Arial" panose="020B0604020202020204" pitchFamily="34" charset="0"/>
              <a:buChar char="•"/>
            </a:pPr>
            <a:r>
              <a:rPr lang="zh-CN" altLang="en-US" dirty="0"/>
              <a:t>理解控制量的重要性，以及控制量对响应的限制</a:t>
            </a:r>
          </a:p>
        </p:txBody>
      </p:sp>
    </p:spTree>
    <p:extLst>
      <p:ext uri="{BB962C8B-B14F-4D97-AF65-F5344CB8AC3E}">
        <p14:creationId xmlns:p14="http://schemas.microsoft.com/office/powerpoint/2010/main" val="4267725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7A3F4B21-3407-F384-AFD1-0F872B721C52}"/>
              </a:ext>
            </a:extLst>
          </p:cNvPr>
          <p:cNvPicPr>
            <a:picLocks noChangeAspect="1"/>
          </p:cNvPicPr>
          <p:nvPr/>
        </p:nvPicPr>
        <p:blipFill>
          <a:blip r:embed="rId2"/>
          <a:stretch>
            <a:fillRect/>
          </a:stretch>
        </p:blipFill>
        <p:spPr>
          <a:xfrm>
            <a:off x="5960234" y="3014239"/>
            <a:ext cx="6231766" cy="987055"/>
          </a:xfrm>
          <a:prstGeom prst="rect">
            <a:avLst/>
          </a:prstGeom>
        </p:spPr>
      </p:pic>
      <p:sp>
        <p:nvSpPr>
          <p:cNvPr id="2" name="标题 1">
            <a:extLst>
              <a:ext uri="{FF2B5EF4-FFF2-40B4-BE49-F238E27FC236}">
                <a16:creationId xmlns:a16="http://schemas.microsoft.com/office/drawing/2014/main" id="{285535D0-2033-D04E-9E82-6633DB7655C0}"/>
              </a:ext>
            </a:extLst>
          </p:cNvPr>
          <p:cNvSpPr>
            <a:spLocks noGrp="1"/>
          </p:cNvSpPr>
          <p:nvPr>
            <p:ph type="title"/>
          </p:nvPr>
        </p:nvSpPr>
        <p:spPr/>
        <p:txBody>
          <a:bodyPr/>
          <a:lstStyle/>
          <a:p>
            <a:r>
              <a:rPr lang="zh-CN" altLang="en-US" dirty="0"/>
              <a:t>闭环控制的基本概念</a:t>
            </a:r>
            <a:endParaRPr lang="zh-SG" altLang="en-US" dirty="0"/>
          </a:p>
        </p:txBody>
      </p:sp>
      <p:sp>
        <p:nvSpPr>
          <p:cNvPr id="3" name="内容占位符 2">
            <a:extLst>
              <a:ext uri="{FF2B5EF4-FFF2-40B4-BE49-F238E27FC236}">
                <a16:creationId xmlns:a16="http://schemas.microsoft.com/office/drawing/2014/main" id="{F1054843-5A83-DF54-A83C-73F66861DD8D}"/>
              </a:ext>
            </a:extLst>
          </p:cNvPr>
          <p:cNvSpPr>
            <a:spLocks noGrp="1"/>
          </p:cNvSpPr>
          <p:nvPr>
            <p:ph idx="1"/>
          </p:nvPr>
        </p:nvSpPr>
        <p:spPr/>
        <p:txBody>
          <a:bodyPr/>
          <a:lstStyle/>
          <a:p>
            <a:r>
              <a:rPr lang="zh-CN" altLang="en-US" dirty="0"/>
              <a:t>以使用电机控制云台为例</a:t>
            </a:r>
            <a:endParaRPr lang="en-US" altLang="zh-CN" dirty="0"/>
          </a:p>
          <a:p>
            <a:pPr marL="0" indent="0">
              <a:buNone/>
            </a:pPr>
            <a:r>
              <a:rPr lang="zh-CN" altLang="en-US" dirty="0"/>
              <a:t>给定期望角度，观测当前速度，</a:t>
            </a:r>
            <a:endParaRPr lang="en-US" altLang="zh-CN" dirty="0"/>
          </a:p>
          <a:p>
            <a:pPr marL="0" indent="0">
              <a:buNone/>
            </a:pPr>
            <a:r>
              <a:rPr lang="zh-CN" altLang="en-US" dirty="0"/>
              <a:t>计算电机扭矩，最终使云台</a:t>
            </a:r>
            <a:endParaRPr lang="en-US" altLang="zh-CN" dirty="0"/>
          </a:p>
          <a:p>
            <a:pPr marL="0" indent="0">
              <a:buNone/>
            </a:pPr>
            <a:r>
              <a:rPr lang="zh-CN" altLang="en-US" dirty="0"/>
              <a:t>转到指定角度</a:t>
            </a:r>
            <a:endParaRPr lang="en-US" altLang="zh-CN" sz="1800" dirty="0"/>
          </a:p>
          <a:p>
            <a:pPr marL="0" indent="0">
              <a:buNone/>
            </a:pPr>
            <a:endParaRPr lang="en-US" altLang="zh-CN" sz="1400" dirty="0"/>
          </a:p>
          <a:p>
            <a:pPr marL="0" indent="0">
              <a:buNone/>
            </a:pPr>
            <a:r>
              <a:rPr lang="zh-CN" altLang="en-US" dirty="0"/>
              <a:t>此时期望角度是目标，电机扭矩是控制量，云台角度是输出，</a:t>
            </a:r>
            <a:endParaRPr lang="en-US" altLang="zh-CN" dirty="0"/>
          </a:p>
          <a:p>
            <a:pPr marL="0" indent="0">
              <a:buNone/>
            </a:pPr>
            <a:r>
              <a:rPr lang="zh-CN" altLang="en-US" dirty="0"/>
              <a:t>编码器或</a:t>
            </a:r>
            <a:r>
              <a:rPr lang="en-US" altLang="zh-CN" dirty="0"/>
              <a:t>IMU</a:t>
            </a:r>
            <a:r>
              <a:rPr lang="zh-CN" altLang="en-US" dirty="0"/>
              <a:t>观测的云台角度是反馈量</a:t>
            </a:r>
            <a:endParaRPr lang="en-US" altLang="zh-CN" dirty="0"/>
          </a:p>
        </p:txBody>
      </p:sp>
      <p:pic>
        <p:nvPicPr>
          <p:cNvPr id="5" name="图片 4">
            <a:extLst>
              <a:ext uri="{FF2B5EF4-FFF2-40B4-BE49-F238E27FC236}">
                <a16:creationId xmlns:a16="http://schemas.microsoft.com/office/drawing/2014/main" id="{C66EC2F5-9D2E-BA47-3200-7934DA874FEA}"/>
              </a:ext>
            </a:extLst>
          </p:cNvPr>
          <p:cNvPicPr>
            <a:picLocks noChangeAspect="1"/>
          </p:cNvPicPr>
          <p:nvPr/>
        </p:nvPicPr>
        <p:blipFill>
          <a:blip r:embed="rId3"/>
          <a:stretch>
            <a:fillRect/>
          </a:stretch>
        </p:blipFill>
        <p:spPr>
          <a:xfrm>
            <a:off x="5960234" y="1689682"/>
            <a:ext cx="6231766" cy="1325564"/>
          </a:xfrm>
          <a:prstGeom prst="rect">
            <a:avLst/>
          </a:prstGeom>
        </p:spPr>
      </p:pic>
      <p:sp>
        <p:nvSpPr>
          <p:cNvPr id="8" name="矩形: 圆角 7">
            <a:extLst>
              <a:ext uri="{FF2B5EF4-FFF2-40B4-BE49-F238E27FC236}">
                <a16:creationId xmlns:a16="http://schemas.microsoft.com/office/drawing/2014/main" id="{E82C5270-8010-26BD-B7FC-8DBC38175F87}"/>
              </a:ext>
            </a:extLst>
          </p:cNvPr>
          <p:cNvSpPr/>
          <p:nvPr/>
        </p:nvSpPr>
        <p:spPr>
          <a:xfrm>
            <a:off x="8702749" y="3084649"/>
            <a:ext cx="3359888" cy="10589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SG" altLang="en-US"/>
          </a:p>
        </p:txBody>
      </p:sp>
      <p:sp>
        <p:nvSpPr>
          <p:cNvPr id="10" name="文本框 9">
            <a:extLst>
              <a:ext uri="{FF2B5EF4-FFF2-40B4-BE49-F238E27FC236}">
                <a16:creationId xmlns:a16="http://schemas.microsoft.com/office/drawing/2014/main" id="{AADB9E59-B33E-FAB6-6BB3-C6D341BE4928}"/>
              </a:ext>
            </a:extLst>
          </p:cNvPr>
          <p:cNvSpPr txBox="1"/>
          <p:nvPr/>
        </p:nvSpPr>
        <p:spPr>
          <a:xfrm>
            <a:off x="9076117" y="3834528"/>
            <a:ext cx="2710074" cy="338554"/>
          </a:xfrm>
          <a:prstGeom prst="rect">
            <a:avLst/>
          </a:prstGeom>
          <a:noFill/>
        </p:spPr>
        <p:txBody>
          <a:bodyPr wrap="square" rtlCol="0">
            <a:spAutoFit/>
          </a:bodyPr>
          <a:lstStyle/>
          <a:p>
            <a:r>
              <a:rPr lang="zh-CN" altLang="en-US" sz="1600" dirty="0"/>
              <a:t>（我们只关心框内部分）</a:t>
            </a:r>
            <a:endParaRPr lang="zh-SG" altLang="en-US" sz="1600" dirty="0"/>
          </a:p>
        </p:txBody>
      </p:sp>
      <p:sp>
        <p:nvSpPr>
          <p:cNvPr id="11" name="矩形: 圆角 10">
            <a:extLst>
              <a:ext uri="{FF2B5EF4-FFF2-40B4-BE49-F238E27FC236}">
                <a16:creationId xmlns:a16="http://schemas.microsoft.com/office/drawing/2014/main" id="{06268102-22AA-4DC1-AEC7-4A61E1B7577C}"/>
              </a:ext>
            </a:extLst>
          </p:cNvPr>
          <p:cNvSpPr/>
          <p:nvPr/>
        </p:nvSpPr>
        <p:spPr>
          <a:xfrm>
            <a:off x="7596963" y="1620279"/>
            <a:ext cx="2216888" cy="67635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SG" altLang="en-US"/>
          </a:p>
        </p:txBody>
      </p:sp>
      <p:sp>
        <p:nvSpPr>
          <p:cNvPr id="12" name="文本框 11">
            <a:extLst>
              <a:ext uri="{FF2B5EF4-FFF2-40B4-BE49-F238E27FC236}">
                <a16:creationId xmlns:a16="http://schemas.microsoft.com/office/drawing/2014/main" id="{834157B6-BCF6-4D57-A587-63B63F369FAF}"/>
              </a:ext>
            </a:extLst>
          </p:cNvPr>
          <p:cNvSpPr txBox="1"/>
          <p:nvPr/>
        </p:nvSpPr>
        <p:spPr>
          <a:xfrm>
            <a:off x="7400924" y="1648341"/>
            <a:ext cx="2497323" cy="338554"/>
          </a:xfrm>
          <a:prstGeom prst="rect">
            <a:avLst/>
          </a:prstGeom>
          <a:noFill/>
        </p:spPr>
        <p:txBody>
          <a:bodyPr wrap="square" rtlCol="0">
            <a:spAutoFit/>
          </a:bodyPr>
          <a:lstStyle/>
          <a:p>
            <a:r>
              <a:rPr lang="zh-CN" altLang="en-US" sz="1600" dirty="0"/>
              <a:t>（分析时简化为同一环节）</a:t>
            </a:r>
            <a:endParaRPr lang="zh-SG" altLang="en-US" sz="1600" dirty="0"/>
          </a:p>
        </p:txBody>
      </p:sp>
    </p:spTree>
    <p:extLst>
      <p:ext uri="{BB962C8B-B14F-4D97-AF65-F5344CB8AC3E}">
        <p14:creationId xmlns:p14="http://schemas.microsoft.com/office/powerpoint/2010/main" val="1415709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DA5210F-EA22-51A3-4DB1-D831F14E30E1}"/>
              </a:ext>
            </a:extLst>
          </p:cNvPr>
          <p:cNvPicPr>
            <a:picLocks noChangeAspect="1"/>
          </p:cNvPicPr>
          <p:nvPr/>
        </p:nvPicPr>
        <p:blipFill>
          <a:blip r:embed="rId3"/>
          <a:stretch>
            <a:fillRect/>
          </a:stretch>
        </p:blipFill>
        <p:spPr>
          <a:xfrm>
            <a:off x="7211581" y="1690688"/>
            <a:ext cx="4980419" cy="3466103"/>
          </a:xfrm>
          <a:prstGeom prst="rect">
            <a:avLst/>
          </a:prstGeom>
        </p:spPr>
      </p:pic>
      <p:sp>
        <p:nvSpPr>
          <p:cNvPr id="2" name="标题 1">
            <a:extLst>
              <a:ext uri="{FF2B5EF4-FFF2-40B4-BE49-F238E27FC236}">
                <a16:creationId xmlns:a16="http://schemas.microsoft.com/office/drawing/2014/main" id="{5785B0BF-A0BE-0212-03CA-A49150CA0D9C}"/>
              </a:ext>
            </a:extLst>
          </p:cNvPr>
          <p:cNvSpPr>
            <a:spLocks noGrp="1"/>
          </p:cNvSpPr>
          <p:nvPr>
            <p:ph type="title"/>
          </p:nvPr>
        </p:nvSpPr>
        <p:spPr/>
        <p:txBody>
          <a:bodyPr/>
          <a:lstStyle/>
          <a:p>
            <a:r>
              <a:rPr lang="zh-CN" altLang="en-US" dirty="0"/>
              <a:t>描述阶跃响应：目标突变，输出怎么变？</a:t>
            </a:r>
            <a:endParaRPr lang="zh-SG"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3070B06-034F-54B6-E3CB-1EA31C2A57C8}"/>
                  </a:ext>
                </a:extLst>
              </p:cNvPr>
              <p:cNvSpPr>
                <a:spLocks noGrp="1"/>
              </p:cNvSpPr>
              <p:nvPr>
                <p:ph idx="1"/>
              </p:nvPr>
            </p:nvSpPr>
            <p:spPr>
              <a:xfrm>
                <a:off x="838200" y="1825624"/>
                <a:ext cx="10515600" cy="5032375"/>
              </a:xfrm>
            </p:spPr>
            <p:txBody>
              <a:bodyPr>
                <a:normAutofit/>
              </a:bodyPr>
              <a:lstStyle/>
              <a:p>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i="1" smtClean="0">
                            <a:solidFill>
                              <a:schemeClr val="tx1"/>
                            </a:solidFill>
                            <a:latin typeface="Cambria Math" panose="02040503050406030204" pitchFamily="18" charset="0"/>
                          </a:rPr>
                          <m:t>𝑡</m:t>
                        </m:r>
                      </m:e>
                      <m:sub>
                        <m:r>
                          <a:rPr lang="zh-CN" altLang="en-US" i="1" smtClean="0">
                            <a:solidFill>
                              <a:schemeClr val="tx1"/>
                            </a:solidFill>
                            <a:latin typeface="Cambria Math" panose="02040503050406030204" pitchFamily="18" charset="0"/>
                          </a:rPr>
                          <m:t>𝑟</m:t>
                        </m:r>
                      </m:sub>
                    </m:sSub>
                  </m:oMath>
                </a14:m>
                <a:r>
                  <a:rPr lang="zh-CN" altLang="en-US" dirty="0">
                    <a:solidFill>
                      <a:schemeClr val="tx1"/>
                    </a:solidFill>
                  </a:rPr>
                  <a:t>：上升时间（</a:t>
                </a:r>
                <a:r>
                  <a:rPr lang="en-US" altLang="zh-CN" dirty="0">
                    <a:solidFill>
                      <a:schemeClr val="tx1"/>
                    </a:solidFill>
                  </a:rPr>
                  <a:t>Rise time</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输出从终值的</a:t>
                </a:r>
                <a:r>
                  <a:rPr lang="en-US" altLang="zh-CN" dirty="0">
                    <a:solidFill>
                      <a:schemeClr val="tx1"/>
                    </a:solidFill>
                  </a:rPr>
                  <a:t>10%</a:t>
                </a:r>
                <a:r>
                  <a:rPr lang="zh-CN" altLang="en-US" dirty="0">
                    <a:solidFill>
                      <a:schemeClr val="tx1"/>
                    </a:solidFill>
                  </a:rPr>
                  <a:t>上升到</a:t>
                </a:r>
                <a:r>
                  <a:rPr lang="en-US" altLang="zh-CN" dirty="0">
                    <a:solidFill>
                      <a:schemeClr val="tx1"/>
                    </a:solidFill>
                  </a:rPr>
                  <a:t>90%</a:t>
                </a:r>
                <a:r>
                  <a:rPr lang="zh-CN" altLang="en-US" dirty="0">
                    <a:solidFill>
                      <a:schemeClr val="tx1"/>
                    </a:solidFill>
                  </a:rPr>
                  <a:t>所需的时间</a:t>
                </a:r>
                <a:endParaRPr lang="en-US" altLang="zh-CN" dirty="0">
                  <a:solidFill>
                    <a:schemeClr val="tx1"/>
                  </a:solidFill>
                </a:endParaRPr>
              </a:p>
              <a:p>
                <a:pPr lvl="1"/>
                <a:r>
                  <a:rPr lang="zh-CN" altLang="en-US" dirty="0">
                    <a:solidFill>
                      <a:schemeClr val="tx1"/>
                    </a:solidFill>
                  </a:rPr>
                  <a:t>越快越好</a:t>
                </a:r>
              </a:p>
              <a:p>
                <a14:m>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en-US" altLang="zh-CN" i="1">
                            <a:solidFill>
                              <a:schemeClr val="tx1"/>
                            </a:solidFill>
                            <a:latin typeface="Cambria Math" panose="02040503050406030204" pitchFamily="18" charset="0"/>
                          </a:rPr>
                          <m:t>M</m:t>
                        </m:r>
                      </m:e>
                      <m:sub>
                        <m:r>
                          <a:rPr lang="zh-CN" altLang="en-US" i="1" smtClean="0">
                            <a:solidFill>
                              <a:schemeClr val="tx1"/>
                            </a:solidFill>
                            <a:latin typeface="Cambria Math" panose="02040503050406030204" pitchFamily="18" charset="0"/>
                          </a:rPr>
                          <m:t>𝑃</m:t>
                        </m:r>
                      </m:sub>
                    </m:sSub>
                    <m:r>
                      <a:rPr lang="zh-CN" altLang="en-US" i="1">
                        <a:latin typeface="Cambria Math" panose="02040503050406030204" pitchFamily="18" charset="0"/>
                      </a:rPr>
                      <m:t>：</m:t>
                    </m:r>
                  </m:oMath>
                </a14:m>
                <a:r>
                  <a:rPr lang="zh-CN" altLang="en-US" dirty="0">
                    <a:solidFill>
                      <a:schemeClr val="tx1"/>
                    </a:solidFill>
                  </a:rPr>
                  <a:t>超调量（</a:t>
                </a:r>
                <a:r>
                  <a:rPr lang="en-US" altLang="zh-CN" dirty="0">
                    <a:solidFill>
                      <a:schemeClr val="tx1"/>
                    </a:solidFill>
                  </a:rPr>
                  <a:t>Overshoot</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输出超过设定值的幅度，以百分比表示</a:t>
                </a:r>
                <a:endParaRPr lang="en-US" altLang="zh-CN" dirty="0">
                  <a:solidFill>
                    <a:schemeClr val="tx1"/>
                  </a:solidFill>
                </a:endParaRPr>
              </a:p>
              <a:p>
                <a:pPr lvl="1"/>
                <a:r>
                  <a:rPr lang="zh-CN" altLang="en-US" dirty="0">
                    <a:solidFill>
                      <a:schemeClr val="tx1"/>
                    </a:solidFill>
                  </a:rPr>
                  <a:t>越小越好</a:t>
                </a:r>
              </a:p>
              <a:p>
                <a14:m>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zh-CN" altLang="en-US" i="1" smtClean="0">
                            <a:solidFill>
                              <a:schemeClr val="tx1"/>
                            </a:solidFill>
                            <a:latin typeface="Cambria Math" panose="02040503050406030204" pitchFamily="18" charset="0"/>
                          </a:rPr>
                          <m:t>𝑡</m:t>
                        </m:r>
                      </m:e>
                      <m:sub>
                        <m:r>
                          <m:rPr>
                            <m:sty m:val="p"/>
                          </m:rPr>
                          <a:rPr lang="en-US" altLang="zh-CN" i="1">
                            <a:latin typeface="Cambria Math" panose="02040503050406030204" pitchFamily="18" charset="0"/>
                          </a:rPr>
                          <m:t>s</m:t>
                        </m:r>
                      </m:sub>
                    </m:sSub>
                  </m:oMath>
                </a14:m>
                <a:r>
                  <a:rPr lang="zh-CN" altLang="en-US" dirty="0">
                    <a:solidFill>
                      <a:schemeClr val="tx1"/>
                    </a:solidFill>
                  </a:rPr>
                  <a:t>：调节时间（</a:t>
                </a:r>
                <a:r>
                  <a:rPr lang="en-US" altLang="zh-CN" dirty="0">
                    <a:solidFill>
                      <a:schemeClr val="tx1"/>
                    </a:solidFill>
                  </a:rPr>
                  <a:t>Settling time</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输出不再超出终值</a:t>
                </a:r>
                <a:r>
                  <a:rPr lang="en-US" altLang="zh-CN" dirty="0">
                    <a:solidFill>
                      <a:schemeClr val="tx1"/>
                    </a:solidFill>
                  </a:rPr>
                  <a:t>±2%</a:t>
                </a:r>
                <a:r>
                  <a:rPr lang="zh-CN" altLang="en-US" dirty="0">
                    <a:solidFill>
                      <a:schemeClr val="tx1"/>
                    </a:solidFill>
                  </a:rPr>
                  <a:t>范围所需的时间</a:t>
                </a:r>
              </a:p>
              <a:p>
                <a14:m>
                  <m:oMath xmlns:m="http://schemas.openxmlformats.org/officeDocument/2006/math">
                    <m:sSub>
                      <m:sSubPr>
                        <m:ctrlPr>
                          <a:rPr lang="zh-CN" altLang="en-US" i="1" smtClean="0">
                            <a:solidFill>
                              <a:schemeClr val="tx1"/>
                            </a:solidFill>
                            <a:latin typeface="Cambria Math" panose="02040503050406030204" pitchFamily="18" charset="0"/>
                          </a:rPr>
                        </m:ctrlPr>
                      </m:sSubPr>
                      <m:e>
                        <m:r>
                          <m:rPr>
                            <m:sty m:val="p"/>
                          </m:rPr>
                          <a:rPr lang="en-US" altLang="zh-CN" i="1">
                            <a:latin typeface="Cambria Math" panose="02040503050406030204" pitchFamily="18" charset="0"/>
                          </a:rPr>
                          <m:t>e</m:t>
                        </m:r>
                      </m:e>
                      <m:sub>
                        <m:r>
                          <a:rPr lang="en-US" altLang="zh-CN" b="0" i="1" smtClean="0">
                            <a:solidFill>
                              <a:schemeClr val="tx1"/>
                            </a:solidFill>
                            <a:latin typeface="Cambria Math" panose="02040503050406030204" pitchFamily="18" charset="0"/>
                          </a:rPr>
                          <m:t>𝑠</m:t>
                        </m:r>
                        <m:r>
                          <a:rPr lang="en-US" altLang="zh-CN" b="0" i="1" smtClean="0">
                            <a:latin typeface="Cambria Math" panose="02040503050406030204" pitchFamily="18" charset="0"/>
                          </a:rPr>
                          <m:t>𝑠</m:t>
                        </m:r>
                      </m:sub>
                    </m:sSub>
                    <m:r>
                      <a:rPr lang="zh-CN" altLang="en-US" i="1">
                        <a:latin typeface="Cambria Math" panose="02040503050406030204" pitchFamily="18" charset="0"/>
                      </a:rPr>
                      <m:t>：</m:t>
                    </m:r>
                  </m:oMath>
                </a14:m>
                <a:r>
                  <a:rPr lang="zh-CN" altLang="en-US" dirty="0">
                    <a:solidFill>
                      <a:schemeClr val="tx1"/>
                    </a:solidFill>
                  </a:rPr>
                  <a:t>稳态误差（</a:t>
                </a:r>
                <a:r>
                  <a:rPr lang="en-US" altLang="zh-CN" dirty="0">
                    <a:solidFill>
                      <a:schemeClr val="tx1"/>
                    </a:solidFill>
                  </a:rPr>
                  <a:t>Steady-state error</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系统稳定后剩余的误差</a:t>
                </a:r>
                <a:endParaRPr lang="en-US" altLang="zh-CN" dirty="0">
                  <a:solidFill>
                    <a:schemeClr val="tx1"/>
                  </a:solidFill>
                </a:endParaRPr>
              </a:p>
              <a:p>
                <a:pPr lvl="1"/>
                <a:r>
                  <a:rPr lang="zh-CN" altLang="en-US" dirty="0">
                    <a:solidFill>
                      <a:schemeClr val="tx1"/>
                    </a:solidFill>
                  </a:rPr>
                  <a:t>理想情况下为零</a:t>
                </a:r>
                <a:endParaRPr lang="zh-SG" altLang="en-US" dirty="0">
                  <a:solidFill>
                    <a:schemeClr val="tx1"/>
                  </a:solidFill>
                </a:endParaRPr>
              </a:p>
            </p:txBody>
          </p:sp>
        </mc:Choice>
        <mc:Fallback xmlns="">
          <p:sp>
            <p:nvSpPr>
              <p:cNvPr id="3" name="内容占位符 2">
                <a:extLst>
                  <a:ext uri="{FF2B5EF4-FFF2-40B4-BE49-F238E27FC236}">
                    <a16:creationId xmlns:a16="http://schemas.microsoft.com/office/drawing/2014/main" id="{03070B06-034F-54B6-E3CB-1EA31C2A57C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4"/>
                <a:stretch>
                  <a:fillRect t="-2179"/>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15318365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30199-4D47-8628-C086-49883BCAF46D}"/>
              </a:ext>
            </a:extLst>
          </p:cNvPr>
          <p:cNvSpPr>
            <a:spLocks noGrp="1"/>
          </p:cNvSpPr>
          <p:nvPr>
            <p:ph type="title"/>
          </p:nvPr>
        </p:nvSpPr>
        <p:spPr/>
        <p:txBody>
          <a:bodyPr/>
          <a:lstStyle/>
          <a:p>
            <a:r>
              <a:rPr lang="zh-CN" altLang="en-US" dirty="0"/>
              <a:t>场景对响应的需求决定设计时的权衡</a:t>
            </a:r>
            <a:endParaRPr lang="zh-SG" altLang="en-US" dirty="0"/>
          </a:p>
        </p:txBody>
      </p:sp>
      <p:sp>
        <p:nvSpPr>
          <p:cNvPr id="3" name="内容占位符 2">
            <a:extLst>
              <a:ext uri="{FF2B5EF4-FFF2-40B4-BE49-F238E27FC236}">
                <a16:creationId xmlns:a16="http://schemas.microsoft.com/office/drawing/2014/main" id="{8CAE347D-C49D-DD92-6122-51D5E747A4EE}"/>
              </a:ext>
            </a:extLst>
          </p:cNvPr>
          <p:cNvSpPr>
            <a:spLocks noGrp="1"/>
          </p:cNvSpPr>
          <p:nvPr>
            <p:ph idx="1"/>
          </p:nvPr>
        </p:nvSpPr>
        <p:spPr/>
        <p:txBody>
          <a:bodyPr/>
          <a:lstStyle/>
          <a:p>
            <a:r>
              <a:rPr lang="zh-CN" altLang="en-US" dirty="0"/>
              <a:t>上升时间越快，超调往往越大（我们之后会加以证明）</a:t>
            </a:r>
            <a:endParaRPr lang="en-US" altLang="zh-CN" dirty="0"/>
          </a:p>
          <a:p>
            <a:r>
              <a:rPr lang="zh-CN" altLang="en-US" dirty="0"/>
              <a:t>视觉希望云台跟随目标：</a:t>
            </a:r>
            <a:endParaRPr lang="en-US" altLang="zh-CN" dirty="0"/>
          </a:p>
          <a:p>
            <a:pPr marL="0" indent="0">
              <a:buNone/>
            </a:pPr>
            <a:r>
              <a:rPr lang="zh-CN" altLang="en-US" dirty="0"/>
              <a:t>超调要小，不能在目标前后抖</a:t>
            </a:r>
            <a:endParaRPr lang="en-US" altLang="zh-CN" dirty="0"/>
          </a:p>
          <a:p>
            <a:r>
              <a:rPr lang="zh-CN" altLang="en-US" dirty="0"/>
              <a:t>操作手希望底盘冲刺：</a:t>
            </a:r>
            <a:endParaRPr lang="en-US" altLang="zh-CN" dirty="0"/>
          </a:p>
          <a:p>
            <a:pPr marL="0" indent="0">
              <a:buNone/>
            </a:pPr>
            <a:r>
              <a:rPr lang="zh-CN" altLang="en-US" dirty="0"/>
              <a:t>越快到速越好，超调可以接受</a:t>
            </a:r>
            <a:endParaRPr lang="en-US" altLang="zh-CN" dirty="0"/>
          </a:p>
        </p:txBody>
      </p:sp>
    </p:spTree>
    <p:extLst>
      <p:ext uri="{BB962C8B-B14F-4D97-AF65-F5344CB8AC3E}">
        <p14:creationId xmlns:p14="http://schemas.microsoft.com/office/powerpoint/2010/main" val="160400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C4FA1C-82E5-09A0-15AD-4DAB62CEB18D}"/>
              </a:ext>
            </a:extLst>
          </p:cNvPr>
          <p:cNvSpPr>
            <a:spLocks noGrp="1"/>
          </p:cNvSpPr>
          <p:nvPr>
            <p:ph type="title"/>
          </p:nvPr>
        </p:nvSpPr>
        <p:spPr/>
        <p:txBody>
          <a:bodyPr/>
          <a:lstStyle/>
          <a:p>
            <a:r>
              <a:rPr lang="zh-CN" altLang="en-US" dirty="0"/>
              <a:t>既要看输出量，也要看控制量</a:t>
            </a:r>
            <a:endParaRPr lang="zh-SG" altLang="en-US" dirty="0"/>
          </a:p>
        </p:txBody>
      </p:sp>
      <p:sp>
        <p:nvSpPr>
          <p:cNvPr id="3" name="内容占位符 2">
            <a:extLst>
              <a:ext uri="{FF2B5EF4-FFF2-40B4-BE49-F238E27FC236}">
                <a16:creationId xmlns:a16="http://schemas.microsoft.com/office/drawing/2014/main" id="{3291EDF4-6B90-A08C-37B6-26E5797E9FCB}"/>
              </a:ext>
            </a:extLst>
          </p:cNvPr>
          <p:cNvSpPr>
            <a:spLocks noGrp="1"/>
          </p:cNvSpPr>
          <p:nvPr>
            <p:ph idx="1"/>
          </p:nvPr>
        </p:nvSpPr>
        <p:spPr>
          <a:xfrm>
            <a:off x="0" y="1825624"/>
            <a:ext cx="6352953" cy="5032375"/>
          </a:xfrm>
        </p:spPr>
        <p:txBody>
          <a:bodyPr>
            <a:normAutofit lnSpcReduction="10000"/>
          </a:bodyPr>
          <a:lstStyle/>
          <a:p>
            <a:r>
              <a:rPr lang="zh-CN" altLang="en-US" dirty="0"/>
              <a:t>执行器饱和</a:t>
            </a:r>
            <a:endParaRPr lang="en-US" altLang="zh-CN" dirty="0"/>
          </a:p>
          <a:p>
            <a:pPr lvl="1"/>
            <a:r>
              <a:rPr lang="zh-CN" altLang="en-US" dirty="0"/>
              <a:t>电机一直输出最大扭矩，系统近似开环</a:t>
            </a:r>
            <a:endParaRPr lang="en-US" altLang="zh-CN" dirty="0"/>
          </a:p>
          <a:p>
            <a:r>
              <a:rPr lang="zh-CN" altLang="en-US" dirty="0"/>
              <a:t>输出过大</a:t>
            </a:r>
            <a:endParaRPr lang="en-US" altLang="zh-CN" dirty="0"/>
          </a:p>
          <a:p>
            <a:pPr lvl="1"/>
            <a:r>
              <a:rPr lang="zh-CN" altLang="en-US" dirty="0"/>
              <a:t>电流过大，电池进入保护</a:t>
            </a:r>
            <a:endParaRPr lang="en-US" altLang="zh-CN" dirty="0"/>
          </a:p>
          <a:p>
            <a:pPr lvl="1"/>
            <a:r>
              <a:rPr lang="zh-CN" altLang="en-US" dirty="0"/>
              <a:t>大电流下线损（见布线课件）导致压降，</a:t>
            </a:r>
            <a:endParaRPr lang="en-US" altLang="zh-CN" dirty="0"/>
          </a:p>
          <a:p>
            <a:pPr marL="457200" lvl="1" indent="0">
              <a:buNone/>
            </a:pPr>
            <a:r>
              <a:rPr lang="zh-CN" altLang="en-US" dirty="0"/>
              <a:t>电机因电压过低进入欠压保护</a:t>
            </a:r>
            <a:endParaRPr lang="en-US" altLang="zh-CN" dirty="0"/>
          </a:p>
          <a:p>
            <a:r>
              <a:rPr lang="zh-CN" altLang="en-US" dirty="0"/>
              <a:t>输出量突变</a:t>
            </a:r>
            <a:endParaRPr lang="en-US" altLang="zh-CN" dirty="0"/>
          </a:p>
          <a:p>
            <a:pPr lvl="1"/>
            <a:r>
              <a:rPr lang="zh-CN" altLang="en-US" dirty="0"/>
              <a:t>容易造成机械冲击，尤其在机械臂控制中</a:t>
            </a:r>
            <a:endParaRPr lang="en-US" altLang="zh-CN" dirty="0"/>
          </a:p>
          <a:p>
            <a:pPr lvl="1"/>
            <a:r>
              <a:rPr lang="zh-CN" altLang="en-US" dirty="0"/>
              <a:t>频繁突变容易导致电机过热</a:t>
            </a:r>
            <a:endParaRPr lang="en-US" altLang="zh-CN" dirty="0"/>
          </a:p>
          <a:p>
            <a:r>
              <a:rPr lang="zh-CN" altLang="en-US" dirty="0"/>
              <a:t>超功率</a:t>
            </a:r>
            <a:endParaRPr lang="en-US" altLang="zh-CN" dirty="0"/>
          </a:p>
          <a:p>
            <a:pPr lvl="1"/>
            <a:r>
              <a:rPr lang="zh-CN" altLang="en-US" dirty="0"/>
              <a:t>加上功率限制之后运动性能严重下降</a:t>
            </a:r>
            <a:endParaRPr lang="en-US" altLang="zh-CN" dirty="0"/>
          </a:p>
        </p:txBody>
      </p:sp>
      <p:pic>
        <p:nvPicPr>
          <p:cNvPr id="5" name="图片 4">
            <a:extLst>
              <a:ext uri="{FF2B5EF4-FFF2-40B4-BE49-F238E27FC236}">
                <a16:creationId xmlns:a16="http://schemas.microsoft.com/office/drawing/2014/main" id="{82BB4E53-6785-0ACA-6274-5A2B5C21C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6537" y="3083442"/>
            <a:ext cx="2927208" cy="3774557"/>
          </a:xfrm>
          <a:prstGeom prst="rect">
            <a:avLst/>
          </a:prstGeom>
        </p:spPr>
      </p:pic>
      <p:pic>
        <p:nvPicPr>
          <p:cNvPr id="7" name="图片 6">
            <a:extLst>
              <a:ext uri="{FF2B5EF4-FFF2-40B4-BE49-F238E27FC236}">
                <a16:creationId xmlns:a16="http://schemas.microsoft.com/office/drawing/2014/main" id="{4286D2FD-3961-B961-00C5-EF6C6C0C59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3744" y="2171277"/>
            <a:ext cx="2968257" cy="4686724"/>
          </a:xfrm>
          <a:prstGeom prst="rect">
            <a:avLst/>
          </a:prstGeom>
        </p:spPr>
      </p:pic>
    </p:spTree>
    <p:extLst>
      <p:ext uri="{BB962C8B-B14F-4D97-AF65-F5344CB8AC3E}">
        <p14:creationId xmlns:p14="http://schemas.microsoft.com/office/powerpoint/2010/main" val="4152399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6D17F0-66E3-E6A2-0F27-EF700F3BADFC}"/>
              </a:ext>
            </a:extLst>
          </p:cNvPr>
          <p:cNvSpPr>
            <a:spLocks noGrp="1"/>
          </p:cNvSpPr>
          <p:nvPr>
            <p:ph type="title"/>
          </p:nvPr>
        </p:nvSpPr>
        <p:spPr/>
        <p:txBody>
          <a:bodyPr/>
          <a:lstStyle/>
          <a:p>
            <a:r>
              <a:rPr lang="zh-CN" altLang="en-US" dirty="0"/>
              <a:t>如何减少盲目调参？</a:t>
            </a:r>
            <a:endParaRPr lang="zh-SG" altLang="en-US" dirty="0"/>
          </a:p>
        </p:txBody>
      </p:sp>
      <p:sp>
        <p:nvSpPr>
          <p:cNvPr id="3" name="内容占位符 2">
            <a:extLst>
              <a:ext uri="{FF2B5EF4-FFF2-40B4-BE49-F238E27FC236}">
                <a16:creationId xmlns:a16="http://schemas.microsoft.com/office/drawing/2014/main" id="{D412A5ED-C41C-7922-C792-91C42805E137}"/>
              </a:ext>
            </a:extLst>
          </p:cNvPr>
          <p:cNvSpPr>
            <a:spLocks noGrp="1"/>
          </p:cNvSpPr>
          <p:nvPr>
            <p:ph idx="1"/>
          </p:nvPr>
        </p:nvSpPr>
        <p:spPr/>
        <p:txBody>
          <a:bodyPr/>
          <a:lstStyle/>
          <a:p>
            <a:r>
              <a:rPr lang="zh-CN" altLang="en-US" dirty="0"/>
              <a:t>根据场景需求明确我想要什么效果，也就是性能指标</a:t>
            </a:r>
            <a:endParaRPr lang="en-US" altLang="zh-CN" dirty="0"/>
          </a:p>
          <a:p>
            <a:r>
              <a:rPr lang="zh-CN" altLang="en-US" dirty="0"/>
              <a:t>摸清被控对象的脾气，也就是对输入的响应</a:t>
            </a:r>
            <a:endParaRPr lang="en-US" altLang="zh-CN" dirty="0"/>
          </a:p>
          <a:p>
            <a:r>
              <a:rPr lang="zh-CN" altLang="en-US" dirty="0"/>
              <a:t>了解控制算法在干什么，也就是控制器的性质</a:t>
            </a:r>
            <a:endParaRPr lang="en-US" altLang="zh-CN" dirty="0"/>
          </a:p>
          <a:p>
            <a:r>
              <a:rPr lang="zh-CN" altLang="en-US" dirty="0"/>
              <a:t>在尽量多的可能工况下测试，避免不同工况下出现异常</a:t>
            </a:r>
            <a:endParaRPr lang="en-US" altLang="zh-CN" dirty="0"/>
          </a:p>
          <a:p>
            <a:pPr marL="0" indent="0">
              <a:buNone/>
            </a:pPr>
            <a:endParaRPr lang="en-US" altLang="zh-CN" dirty="0"/>
          </a:p>
          <a:p>
            <a:r>
              <a:rPr lang="zh-CN" altLang="en-US" dirty="0"/>
              <a:t>之后我们会逐步探讨</a:t>
            </a:r>
            <a:endParaRPr lang="en-US" altLang="zh-CN" dirty="0"/>
          </a:p>
        </p:txBody>
      </p:sp>
    </p:spTree>
    <p:extLst>
      <p:ext uri="{BB962C8B-B14F-4D97-AF65-F5344CB8AC3E}">
        <p14:creationId xmlns:p14="http://schemas.microsoft.com/office/powerpoint/2010/main" val="2162027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DCDBB-FA73-7188-08BE-8E9B6E9DA40C}"/>
              </a:ext>
            </a:extLst>
          </p:cNvPr>
          <p:cNvSpPr>
            <a:spLocks noGrp="1"/>
          </p:cNvSpPr>
          <p:nvPr>
            <p:ph type="ctrTitle"/>
          </p:nvPr>
        </p:nvSpPr>
        <p:spPr/>
        <p:txBody>
          <a:bodyPr anchor="ctr"/>
          <a:lstStyle/>
          <a:p>
            <a:r>
              <a:rPr lang="en-US" altLang="zh-SG" dirty="0"/>
              <a:t>4.2 </a:t>
            </a:r>
            <a:r>
              <a:rPr lang="zh-CN" altLang="en-US" dirty="0"/>
              <a:t>描述系统</a:t>
            </a:r>
            <a:endParaRPr lang="zh-SG" altLang="en-US" dirty="0"/>
          </a:p>
        </p:txBody>
      </p:sp>
      <p:sp>
        <p:nvSpPr>
          <p:cNvPr id="3" name="副标题 2">
            <a:extLst>
              <a:ext uri="{FF2B5EF4-FFF2-40B4-BE49-F238E27FC236}">
                <a16:creationId xmlns:a16="http://schemas.microsoft.com/office/drawing/2014/main" id="{61D1EB91-1CE8-02E0-53B4-561E74C1F338}"/>
              </a:ext>
            </a:extLst>
          </p:cNvPr>
          <p:cNvSpPr>
            <a:spLocks noGrp="1"/>
          </p:cNvSpPr>
          <p:nvPr>
            <p:ph type="subTitle" idx="1"/>
          </p:nvPr>
        </p:nvSpPr>
        <p:spPr/>
        <p:txBody>
          <a:bodyPr/>
          <a:lstStyle/>
          <a:p>
            <a:r>
              <a:rPr lang="zh-CN" altLang="en-US" dirty="0"/>
              <a:t>要求：</a:t>
            </a:r>
            <a:endParaRPr lang="en-US" altLang="zh-CN" dirty="0"/>
          </a:p>
          <a:p>
            <a:pPr marL="342900" indent="-342900">
              <a:buFont typeface="Arial" panose="020B0604020202020204" pitchFamily="34" charset="0"/>
              <a:buChar char="•"/>
            </a:pPr>
            <a:r>
              <a:rPr lang="zh-CN" altLang="en-US" dirty="0"/>
              <a:t>了解描述系统特征的各种手段</a:t>
            </a:r>
            <a:endParaRPr lang="en-US" altLang="zh-CN" dirty="0"/>
          </a:p>
          <a:p>
            <a:pPr marL="342900" indent="-342900">
              <a:buFont typeface="Arial" panose="020B0604020202020204" pitchFamily="34" charset="0"/>
              <a:buChar char="•"/>
            </a:pPr>
            <a:r>
              <a:rPr lang="zh-CN" altLang="en-US" dirty="0"/>
              <a:t>学习系统辨识</a:t>
            </a:r>
            <a:endParaRPr lang="zh-SG" altLang="en-US" dirty="0"/>
          </a:p>
        </p:txBody>
      </p:sp>
    </p:spTree>
    <p:extLst>
      <p:ext uri="{BB962C8B-B14F-4D97-AF65-F5344CB8AC3E}">
        <p14:creationId xmlns:p14="http://schemas.microsoft.com/office/powerpoint/2010/main" val="238472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091C5-C5EF-9CAB-2C3F-009854FB5B94}"/>
              </a:ext>
            </a:extLst>
          </p:cNvPr>
          <p:cNvSpPr>
            <a:spLocks noGrp="1"/>
          </p:cNvSpPr>
          <p:nvPr>
            <p:ph type="title"/>
          </p:nvPr>
        </p:nvSpPr>
        <p:spPr/>
        <p:txBody>
          <a:bodyPr/>
          <a:lstStyle/>
          <a:p>
            <a:r>
              <a:rPr lang="zh-CN" altLang="en-US" dirty="0"/>
              <a:t>什么是系统（</a:t>
            </a:r>
            <a:r>
              <a:rPr lang="en-US" altLang="zh-CN" dirty="0"/>
              <a:t>System</a:t>
            </a:r>
            <a:r>
              <a:rPr lang="zh-CN" altLang="en-US" dirty="0"/>
              <a:t>）</a:t>
            </a:r>
            <a:endParaRPr lang="zh-SG" altLang="en-US" dirty="0"/>
          </a:p>
        </p:txBody>
      </p:sp>
      <p:sp>
        <p:nvSpPr>
          <p:cNvPr id="3" name="内容占位符 2">
            <a:extLst>
              <a:ext uri="{FF2B5EF4-FFF2-40B4-BE49-F238E27FC236}">
                <a16:creationId xmlns:a16="http://schemas.microsoft.com/office/drawing/2014/main" id="{3C08365D-BCCB-77C6-93E7-5EA15DADE0EA}"/>
              </a:ext>
            </a:extLst>
          </p:cNvPr>
          <p:cNvSpPr>
            <a:spLocks noGrp="1"/>
          </p:cNvSpPr>
          <p:nvPr>
            <p:ph idx="1"/>
          </p:nvPr>
        </p:nvSpPr>
        <p:spPr/>
        <p:txBody>
          <a:bodyPr/>
          <a:lstStyle/>
          <a:p>
            <a:r>
              <a:rPr lang="zh-CN" altLang="en-US" dirty="0"/>
              <a:t>接受输入、产生输出的任何东西</a:t>
            </a:r>
            <a:endParaRPr lang="en-US" altLang="zh-CN" dirty="0"/>
          </a:p>
          <a:p>
            <a:r>
              <a:rPr lang="zh-CN" altLang="en-US" dirty="0"/>
              <a:t>直流有刷电机吃电压、吐角速度；底盘吃轮速、吐运动轨迹；云台吃力矩、吐角度</a:t>
            </a:r>
            <a:r>
              <a:rPr lang="en-US" altLang="zh-CN" dirty="0"/>
              <a:t>……</a:t>
            </a:r>
          </a:p>
          <a:p>
            <a:r>
              <a:rPr lang="zh-CN" altLang="en-US" dirty="0"/>
              <a:t>把这些输入</a:t>
            </a:r>
            <a:r>
              <a:rPr lang="en-US" altLang="zh-CN" dirty="0"/>
              <a:t>-</a:t>
            </a:r>
            <a:r>
              <a:rPr lang="zh-CN" altLang="en-US" dirty="0"/>
              <a:t>输出关系写成数学式子，就叫建模（</a:t>
            </a:r>
            <a:r>
              <a:rPr lang="en-US" altLang="zh-CN" dirty="0"/>
              <a:t>Modeling</a:t>
            </a:r>
            <a:r>
              <a:rPr lang="zh-CN" altLang="en-US" dirty="0"/>
              <a:t>）</a:t>
            </a:r>
            <a:endParaRPr lang="zh-SG" altLang="en-US" dirty="0"/>
          </a:p>
        </p:txBody>
      </p:sp>
    </p:spTree>
    <p:extLst>
      <p:ext uri="{BB962C8B-B14F-4D97-AF65-F5344CB8AC3E}">
        <p14:creationId xmlns:p14="http://schemas.microsoft.com/office/powerpoint/2010/main" val="35585638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42058D-1D68-CF01-4FFD-CC70F0707A1A}"/>
              </a:ext>
            </a:extLst>
          </p:cNvPr>
          <p:cNvSpPr>
            <a:spLocks noGrp="1"/>
          </p:cNvSpPr>
          <p:nvPr>
            <p:ph type="title"/>
          </p:nvPr>
        </p:nvSpPr>
        <p:spPr/>
        <p:txBody>
          <a:bodyPr/>
          <a:lstStyle/>
          <a:p>
            <a:r>
              <a:rPr lang="zh-CN" altLang="en-US" dirty="0"/>
              <a:t>为什么设计控制器时要了解系统？</a:t>
            </a:r>
            <a:endParaRPr lang="zh-SG" altLang="en-US" dirty="0"/>
          </a:p>
        </p:txBody>
      </p:sp>
      <p:sp>
        <p:nvSpPr>
          <p:cNvPr id="3" name="内容占位符 2">
            <a:extLst>
              <a:ext uri="{FF2B5EF4-FFF2-40B4-BE49-F238E27FC236}">
                <a16:creationId xmlns:a16="http://schemas.microsoft.com/office/drawing/2014/main" id="{07F103D9-8849-93A9-C51F-45DB464614F0}"/>
              </a:ext>
            </a:extLst>
          </p:cNvPr>
          <p:cNvSpPr>
            <a:spLocks noGrp="1"/>
          </p:cNvSpPr>
          <p:nvPr>
            <p:ph idx="1"/>
          </p:nvPr>
        </p:nvSpPr>
        <p:spPr/>
        <p:txBody>
          <a:bodyPr/>
          <a:lstStyle/>
          <a:p>
            <a:r>
              <a:rPr lang="zh-CN" altLang="en-US" dirty="0"/>
              <a:t>内模原理</a:t>
            </a:r>
            <a:endParaRPr lang="zh-SG" altLang="en-US" dirty="0"/>
          </a:p>
        </p:txBody>
      </p:sp>
    </p:spTree>
    <p:extLst>
      <p:ext uri="{BB962C8B-B14F-4D97-AF65-F5344CB8AC3E}">
        <p14:creationId xmlns:p14="http://schemas.microsoft.com/office/powerpoint/2010/main" val="2128720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E5F1D-69CE-70C7-1C54-AEFDFB3FE0D3}"/>
              </a:ext>
            </a:extLst>
          </p:cNvPr>
          <p:cNvSpPr>
            <a:spLocks noGrp="1"/>
          </p:cNvSpPr>
          <p:nvPr>
            <p:ph type="title"/>
          </p:nvPr>
        </p:nvSpPr>
        <p:spPr>
          <a:xfrm>
            <a:off x="838200" y="0"/>
            <a:ext cx="10515600" cy="1325563"/>
          </a:xfrm>
        </p:spPr>
        <p:txBody>
          <a:bodyPr/>
          <a:lstStyle/>
          <a:p>
            <a:r>
              <a:rPr lang="zh-CN" altLang="en-US" dirty="0"/>
              <a:t>如何对系统进行建模</a:t>
            </a:r>
            <a:endParaRPr lang="zh-SG"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C6D2022-6B88-C192-1B16-20551B2DFD2A}"/>
                  </a:ext>
                </a:extLst>
              </p:cNvPr>
              <p:cNvSpPr>
                <a:spLocks noGrp="1"/>
              </p:cNvSpPr>
              <p:nvPr>
                <p:ph idx="1"/>
              </p:nvPr>
            </p:nvSpPr>
            <p:spPr>
              <a:xfrm>
                <a:off x="838200" y="1325563"/>
                <a:ext cx="10515600" cy="5532437"/>
              </a:xfrm>
            </p:spPr>
            <p:txBody>
              <a:bodyPr>
                <a:normAutofit/>
              </a:bodyPr>
              <a:lstStyle/>
              <a:p>
                <a:pPr marL="0" indent="0">
                  <a:buNone/>
                </a:pPr>
                <a:r>
                  <a:rPr lang="zh-CN" altLang="en-US" dirty="0">
                    <a:solidFill>
                      <a:schemeClr val="tx1"/>
                    </a:solidFill>
                  </a:rPr>
                  <a:t>选定一个物理模型，例如空载下轮电机的运动</a:t>
                </a:r>
                <a:endParaRPr lang="en-US" altLang="zh-CN" dirty="0">
                  <a:solidFill>
                    <a:schemeClr val="tx1"/>
                  </a:solidFill>
                </a:endParaRPr>
              </a:p>
              <a:p>
                <a:pPr marL="0" indent="0">
                  <a:buNone/>
                </a:pPr>
                <a:r>
                  <a:rPr lang="zh-CN" altLang="en-US" dirty="0">
                    <a:solidFill>
                      <a:schemeClr val="tx1"/>
                    </a:solidFill>
                  </a:rPr>
                  <a:t>电机转矩一部分由于阻力被损耗，另一部分用于加速，角加速度</a:t>
                </a:r>
                <a:r>
                  <a:rPr lang="en-US" altLang="zh-CN" dirty="0">
                    <a:solidFill>
                      <a:schemeClr val="tx1"/>
                    </a:solidFill>
                  </a:rPr>
                  <a:t>×</a:t>
                </a:r>
                <a:r>
                  <a:rPr lang="zh-CN" altLang="en-US" dirty="0">
                    <a:solidFill>
                      <a:schemeClr val="tx1"/>
                    </a:solidFill>
                  </a:rPr>
                  <a:t>转动惯量</a:t>
                </a:r>
                <a:r>
                  <a:rPr lang="en-US" altLang="zh-CN" dirty="0">
                    <a:solidFill>
                      <a:schemeClr val="tx1"/>
                    </a:solidFill>
                  </a:rPr>
                  <a:t>=</a:t>
                </a:r>
                <a:r>
                  <a:rPr lang="zh-CN" altLang="en-US" dirty="0">
                    <a:solidFill>
                      <a:schemeClr val="tx1"/>
                    </a:solidFill>
                  </a:rPr>
                  <a:t>合转矩</a:t>
                </a:r>
                <a:endParaRPr lang="en-US"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zh-SG" altLang="en-US" i="1" smtClean="0">
                          <a:solidFill>
                            <a:schemeClr val="tx1"/>
                          </a:solidFill>
                          <a:latin typeface="Cambria Math" panose="02040503050406030204" pitchFamily="18" charset="0"/>
                        </a:rPr>
                        <m:t>𝐽</m:t>
                      </m:r>
                      <m:r>
                        <a:rPr lang="zh-SG" altLang="en-US" i="1" smtClean="0">
                          <a:solidFill>
                            <a:schemeClr val="tx1"/>
                          </a:solidFill>
                          <a:latin typeface="Cambria Math" panose="02040503050406030204" pitchFamily="18" charset="0"/>
                        </a:rPr>
                        <m:t>𝛼</m:t>
                      </m:r>
                      <m:r>
                        <a:rPr lang="zh-SG" altLang="en-US" i="1" smtClean="0">
                          <a:solidFill>
                            <a:schemeClr val="tx1"/>
                          </a:solidFill>
                          <a:latin typeface="Cambria Math" panose="02040503050406030204" pitchFamily="18" charset="0"/>
                        </a:rPr>
                        <m:t>=</m:t>
                      </m:r>
                      <m:r>
                        <a:rPr lang="zh-SG" altLang="en-US" i="1" smtClean="0">
                          <a:solidFill>
                            <a:schemeClr val="tx1"/>
                          </a:solidFill>
                          <a:latin typeface="Cambria Math" panose="02040503050406030204" pitchFamily="18" charset="0"/>
                        </a:rPr>
                        <m:t>𝜏</m:t>
                      </m:r>
                      <m:r>
                        <a:rPr lang="zh-SG" altLang="en-US" i="1" smtClean="0">
                          <a:solidFill>
                            <a:schemeClr val="tx1"/>
                          </a:solidFill>
                          <a:latin typeface="Cambria Math" panose="02040503050406030204" pitchFamily="18" charset="0"/>
                        </a:rPr>
                        <m:t>−</m:t>
                      </m:r>
                      <m:sSub>
                        <m:sSubPr>
                          <m:ctrlPr>
                            <a:rPr lang="zh-SG" altLang="en-US" i="1" smtClean="0">
                              <a:solidFill>
                                <a:schemeClr val="tx1"/>
                              </a:solidFill>
                              <a:latin typeface="Cambria Math" panose="02040503050406030204" pitchFamily="18" charset="0"/>
                            </a:rPr>
                          </m:ctrlPr>
                        </m:sSubPr>
                        <m:e>
                          <m:r>
                            <a:rPr lang="zh-SG" altLang="en-US" i="1" smtClean="0">
                              <a:solidFill>
                                <a:schemeClr val="tx1"/>
                              </a:solidFill>
                              <a:latin typeface="Cambria Math" panose="02040503050406030204" pitchFamily="18" charset="0"/>
                            </a:rPr>
                            <m:t>𝜏</m:t>
                          </m:r>
                        </m:e>
                        <m:sub>
                          <m:r>
                            <a:rPr lang="zh-SG" altLang="en-US" i="1" smtClean="0">
                              <a:solidFill>
                                <a:schemeClr val="tx1"/>
                              </a:solidFill>
                              <a:latin typeface="Cambria Math" panose="02040503050406030204" pitchFamily="18" charset="0"/>
                            </a:rPr>
                            <m:t>𝑓</m:t>
                          </m:r>
                        </m:sub>
                      </m:sSub>
                    </m:oMath>
                  </m:oMathPara>
                </a14:m>
                <a:endParaRPr lang="en-US" altLang="zh-SG" dirty="0">
                  <a:solidFill>
                    <a:schemeClr val="tx1"/>
                  </a:solidFill>
                </a:endParaRPr>
              </a:p>
              <a:p>
                <a:pPr marL="0" indent="0">
                  <a:buNone/>
                </a:pPr>
                <a:r>
                  <a:rPr lang="zh-CN" altLang="en-US" dirty="0"/>
                  <a:t>假设电机速度大小不为零且方向不突变，此时可以将阻力简化为大小恒定的库仑阻力与大小同速度近似正比的粘滞阻力之和</a:t>
                </a:r>
                <a:endParaRPr lang="en-US" altLang="zh-CN" dirty="0"/>
              </a:p>
              <a:p>
                <a:pPr marL="0" indent="0">
                  <a:buNone/>
                </a:pPr>
                <a14:m>
                  <m:oMathPara xmlns:m="http://schemas.openxmlformats.org/officeDocument/2006/math">
                    <m:oMathParaPr>
                      <m:jc m:val="centerGroup"/>
                    </m:oMathParaPr>
                    <m:oMath xmlns:m="http://schemas.openxmlformats.org/officeDocument/2006/math">
                      <m:sSub>
                        <m:sSubPr>
                          <m:ctrlPr>
                            <a:rPr lang="zh-SG" altLang="en-US" i="1" dirty="0" smtClean="0">
                              <a:solidFill>
                                <a:schemeClr val="tx1"/>
                              </a:solidFill>
                              <a:latin typeface="Cambria Math" panose="02040503050406030204" pitchFamily="18" charset="0"/>
                            </a:rPr>
                          </m:ctrlPr>
                        </m:sSubPr>
                        <m:e>
                          <m:r>
                            <a:rPr lang="zh-SG" altLang="en-US" i="1" dirty="0">
                              <a:solidFill>
                                <a:schemeClr val="tx1"/>
                              </a:solidFill>
                              <a:latin typeface="Cambria Math" panose="02040503050406030204" pitchFamily="18" charset="0"/>
                            </a:rPr>
                            <m:t>𝜏</m:t>
                          </m:r>
                        </m:e>
                        <m:sub>
                          <m:r>
                            <a:rPr lang="zh-SG" altLang="en-US" i="1" dirty="0">
                              <a:solidFill>
                                <a:schemeClr val="tx1"/>
                              </a:solidFill>
                              <a:latin typeface="Cambria Math" panose="02040503050406030204" pitchFamily="18" charset="0"/>
                            </a:rPr>
                            <m:t>𝑓</m:t>
                          </m:r>
                        </m:sub>
                      </m:sSub>
                      <m:r>
                        <a:rPr lang="zh-SG" altLang="en-US" i="0" dirty="0">
                          <a:solidFill>
                            <a:schemeClr val="tx1"/>
                          </a:solidFill>
                          <a:latin typeface="Cambria Math" panose="02040503050406030204" pitchFamily="18" charset="0"/>
                        </a:rPr>
                        <m:t>=</m:t>
                      </m:r>
                      <m:r>
                        <a:rPr lang="zh-SG" altLang="en-US" i="1" dirty="0">
                          <a:solidFill>
                            <a:schemeClr val="tx1"/>
                          </a:solidFill>
                          <a:latin typeface="Cambria Math" panose="02040503050406030204" pitchFamily="18" charset="0"/>
                        </a:rPr>
                        <m:t>𝑏</m:t>
                      </m:r>
                      <m:r>
                        <a:rPr lang="zh-SG" altLang="en-US" i="1" dirty="0">
                          <a:solidFill>
                            <a:schemeClr val="tx1"/>
                          </a:solidFill>
                          <a:latin typeface="Cambria Math" panose="02040503050406030204" pitchFamily="18" charset="0"/>
                        </a:rPr>
                        <m:t>𝜔</m:t>
                      </m:r>
                      <m:r>
                        <a:rPr lang="zh-SG" altLang="en-US" i="0" dirty="0">
                          <a:solidFill>
                            <a:schemeClr val="tx1"/>
                          </a:solidFill>
                          <a:latin typeface="Cambria Math" panose="02040503050406030204" pitchFamily="18" charset="0"/>
                        </a:rPr>
                        <m:t>+</m:t>
                      </m:r>
                      <m:sSub>
                        <m:sSubPr>
                          <m:ctrlPr>
                            <a:rPr lang="zh-SG" altLang="en-US" i="1" dirty="0">
                              <a:solidFill>
                                <a:schemeClr val="tx1"/>
                              </a:solidFill>
                              <a:latin typeface="Cambria Math" panose="02040503050406030204" pitchFamily="18" charset="0"/>
                            </a:rPr>
                          </m:ctrlPr>
                        </m:sSubPr>
                        <m:e>
                          <m:r>
                            <a:rPr lang="zh-SG" altLang="en-US" i="1" dirty="0">
                              <a:solidFill>
                                <a:schemeClr val="tx1"/>
                              </a:solidFill>
                              <a:latin typeface="Cambria Math" panose="02040503050406030204" pitchFamily="18" charset="0"/>
                            </a:rPr>
                            <m:t>𝜏</m:t>
                          </m:r>
                        </m:e>
                        <m:sub>
                          <m:r>
                            <a:rPr lang="zh-SG" altLang="en-US" i="1" dirty="0">
                              <a:solidFill>
                                <a:schemeClr val="tx1"/>
                              </a:solidFill>
                              <a:latin typeface="Cambria Math" panose="02040503050406030204" pitchFamily="18" charset="0"/>
                            </a:rPr>
                            <m:t>𝑐</m:t>
                          </m:r>
                        </m:sub>
                      </m:sSub>
                    </m:oMath>
                  </m:oMathPara>
                </a14:m>
                <a:endParaRPr lang="en-US" altLang="zh-SG" dirty="0">
                  <a:solidFill>
                    <a:schemeClr val="tx1"/>
                  </a:solidFill>
                </a:endParaRPr>
              </a:p>
              <a:p>
                <a:pPr marL="0" indent="0">
                  <a:buNone/>
                </a:pPr>
                <a:r>
                  <a:rPr lang="zh-CN" altLang="en-US" dirty="0">
                    <a:solidFill>
                      <a:schemeClr val="tx1"/>
                    </a:solidFill>
                  </a:rPr>
                  <a:t>在某一工作点</a:t>
                </a:r>
                <a14:m>
                  <m:oMath xmlns:m="http://schemas.openxmlformats.org/officeDocument/2006/math">
                    <m:d>
                      <m:dPr>
                        <m:ctrlPr>
                          <a:rPr lang="zh-CN" altLang="en-US" i="1" dirty="0" smtClean="0">
                            <a:solidFill>
                              <a:schemeClr val="tx1"/>
                            </a:solidFill>
                            <a:latin typeface="Cambria Math" panose="02040503050406030204" pitchFamily="18" charset="0"/>
                          </a:rPr>
                        </m:ctrlPr>
                      </m:dPr>
                      <m:e>
                        <m:sSub>
                          <m:sSubPr>
                            <m:ctrlPr>
                              <a:rPr lang="zh-CN" altLang="en-US" i="1" dirty="0" smtClean="0">
                                <a:solidFill>
                                  <a:schemeClr val="tx1"/>
                                </a:solidFill>
                                <a:latin typeface="Cambria Math" panose="02040503050406030204" pitchFamily="18" charset="0"/>
                              </a:rPr>
                            </m:ctrlPr>
                          </m:sSubPr>
                          <m:e>
                            <m:r>
                              <a:rPr lang="zh-CN" altLang="en-US" i="1" dirty="0" smtClean="0">
                                <a:solidFill>
                                  <a:schemeClr val="tx1"/>
                                </a:solidFill>
                                <a:latin typeface="Cambria Math" panose="02040503050406030204" pitchFamily="18" charset="0"/>
                              </a:rPr>
                              <m:t>𝜔</m:t>
                            </m:r>
                          </m:e>
                          <m:sub>
                            <m:r>
                              <a:rPr lang="zh-CN" altLang="en-US" i="0" dirty="0" smtClean="0">
                                <a:solidFill>
                                  <a:schemeClr val="tx1"/>
                                </a:solidFill>
                                <a:latin typeface="Cambria Math" panose="02040503050406030204" pitchFamily="18" charset="0"/>
                              </a:rPr>
                              <m:t>0</m:t>
                            </m:r>
                          </m:sub>
                        </m:sSub>
                        <m:r>
                          <a:rPr lang="en-US" altLang="zh-CN" b="0" i="1" dirty="0" smtClean="0">
                            <a:solidFill>
                              <a:schemeClr val="tx1"/>
                            </a:solidFill>
                            <a:latin typeface="Cambria Math" panose="02040503050406030204" pitchFamily="18" charset="0"/>
                          </a:rPr>
                          <m:t>,  </m:t>
                        </m:r>
                        <m:sSub>
                          <m:sSubPr>
                            <m:ctrlPr>
                              <a:rPr lang="zh-CN" altLang="en-US" i="1" dirty="0" smtClean="0">
                                <a:solidFill>
                                  <a:schemeClr val="tx1"/>
                                </a:solidFill>
                                <a:latin typeface="Cambria Math" panose="02040503050406030204" pitchFamily="18" charset="0"/>
                              </a:rPr>
                            </m:ctrlPr>
                          </m:sSubPr>
                          <m:e>
                            <m:r>
                              <a:rPr lang="zh-CN" altLang="en-US" i="1" dirty="0" smtClean="0">
                                <a:solidFill>
                                  <a:schemeClr val="tx1"/>
                                </a:solidFill>
                                <a:latin typeface="Cambria Math" panose="02040503050406030204" pitchFamily="18" charset="0"/>
                              </a:rPr>
                              <m:t>𝜏</m:t>
                            </m:r>
                          </m:e>
                          <m:sub>
                            <m:r>
                              <a:rPr lang="zh-CN" altLang="en-US" i="0" dirty="0" smtClean="0">
                                <a:solidFill>
                                  <a:schemeClr val="tx1"/>
                                </a:solidFill>
                                <a:latin typeface="Cambria Math" panose="02040503050406030204" pitchFamily="18" charset="0"/>
                              </a:rPr>
                              <m:t>0</m:t>
                            </m:r>
                          </m:sub>
                        </m:sSub>
                      </m:e>
                    </m:d>
                  </m:oMath>
                </a14:m>
                <a:r>
                  <a:rPr lang="zh-CN" altLang="en-US" dirty="0">
                    <a:solidFill>
                      <a:schemeClr val="tx1"/>
                    </a:solidFill>
                  </a:rPr>
                  <a:t>附近取增量，得到</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𝐽</m:t>
                      </m:r>
                      <m:f>
                        <m:fPr>
                          <m:ctrlPr>
                            <a:rPr lang="en-US" altLang="zh-CN" i="1" dirty="0" smtClean="0">
                              <a:solidFill>
                                <a:schemeClr val="tx1"/>
                              </a:solidFill>
                              <a:latin typeface="Cambria Math" panose="02040503050406030204" pitchFamily="18" charset="0"/>
                            </a:rPr>
                          </m:ctrlPr>
                        </m:fPr>
                        <m:num>
                          <m:r>
                            <a:rPr lang="en-US" altLang="zh-CN" i="0" dirty="0" smtClean="0">
                              <a:solidFill>
                                <a:schemeClr val="tx1"/>
                              </a:solidFill>
                              <a:latin typeface="Cambria Math" panose="02040503050406030204" pitchFamily="18" charset="0"/>
                            </a:rPr>
                            <m:t>ⅆ</m:t>
                          </m:r>
                          <m:d>
                            <m:dPr>
                              <m:ctrlPr>
                                <a:rPr lang="en-US" altLang="zh-CN" i="1" dirty="0" smtClean="0">
                                  <a:solidFill>
                                    <a:schemeClr val="tx1"/>
                                  </a:solidFill>
                                  <a:latin typeface="Cambria Math" panose="02040503050406030204" pitchFamily="18" charset="0"/>
                                </a:rPr>
                              </m:ctrlPr>
                            </m:dPr>
                            <m:e>
                              <m:r>
                                <m:rPr>
                                  <m:sty m:val="p"/>
                                </m:rPr>
                                <a:rPr lang="en-US" altLang="zh-CN" i="0" dirty="0" smtClean="0">
                                  <a:solidFill>
                                    <a:schemeClr val="tx1"/>
                                  </a:solidFill>
                                  <a:latin typeface="Cambria Math" panose="02040503050406030204" pitchFamily="18" charset="0"/>
                                </a:rPr>
                                <m:t>Δ</m:t>
                              </m:r>
                              <m:r>
                                <a:rPr lang="en-US" altLang="zh-CN" i="0" dirty="0" smtClean="0">
                                  <a:solidFill>
                                    <a:schemeClr val="tx1"/>
                                  </a:solidFill>
                                  <a:latin typeface="Cambria Math" panose="02040503050406030204" pitchFamily="18" charset="0"/>
                                </a:rPr>
                                <m:t>𝜔</m:t>
                              </m:r>
                            </m:e>
                          </m:d>
                        </m:num>
                        <m:den>
                          <m:r>
                            <a:rPr lang="en-US" altLang="zh-CN" i="0" dirty="0" smtClean="0">
                              <a:solidFill>
                                <a:schemeClr val="tx1"/>
                              </a:solidFill>
                              <a:latin typeface="Cambria Math" panose="02040503050406030204" pitchFamily="18" charset="0"/>
                            </a:rPr>
                            <m:t>ⅆ</m:t>
                          </m:r>
                          <m:r>
                            <a:rPr lang="en-US" altLang="zh-CN" i="0" dirty="0" smtClean="0">
                              <a:solidFill>
                                <a:schemeClr val="tx1"/>
                              </a:solidFill>
                              <a:latin typeface="Cambria Math" panose="02040503050406030204" pitchFamily="18" charset="0"/>
                            </a:rPr>
                            <m:t>𝑡</m:t>
                          </m:r>
                        </m:den>
                      </m:f>
                      <m:r>
                        <a:rPr lang="en-US" altLang="zh-CN" i="0" dirty="0" smtClean="0">
                          <a:solidFill>
                            <a:schemeClr val="tx1"/>
                          </a:solidFill>
                          <a:latin typeface="Cambria Math" panose="02040503050406030204" pitchFamily="18" charset="0"/>
                        </a:rPr>
                        <m:t>+</m:t>
                      </m:r>
                      <m:r>
                        <a:rPr lang="en-US" altLang="zh-CN" i="1" dirty="0" smtClean="0">
                          <a:solidFill>
                            <a:schemeClr val="tx1"/>
                          </a:solidFill>
                          <a:latin typeface="Cambria Math" panose="02040503050406030204" pitchFamily="18" charset="0"/>
                        </a:rPr>
                        <m:t>𝑏</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r>
                        <a:rPr lang="en-US" altLang="zh-CN" b="0" i="0" dirty="0" smtClean="0">
                          <a:solidFill>
                            <a:schemeClr val="tx1"/>
                          </a:solidFill>
                          <a:latin typeface="Cambria Math" panose="02040503050406030204" pitchFamily="18" charset="0"/>
                        </a:rPr>
                        <m:t>=</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oMath>
                  </m:oMathPara>
                </a14:m>
                <a:endParaRPr lang="en-US" altLang="zh-CN" dirty="0">
                  <a:solidFill>
                    <a:schemeClr val="tx1"/>
                  </a:solidFill>
                </a:endParaRPr>
              </a:p>
              <a:p>
                <a:pPr marL="0" indent="0">
                  <a:buNone/>
                </a:pPr>
                <a:r>
                  <a:rPr lang="zh-CN" altLang="en-US" dirty="0"/>
                  <a:t>对时间的求导次数最高为一次。这是一个一阶微分方程。</a:t>
                </a:r>
                <a:endParaRPr lang="en-US" altLang="zh-CN" dirty="0"/>
              </a:p>
              <a:p>
                <a:pPr marL="0" indent="0">
                  <a:buNone/>
                </a:pPr>
                <a:r>
                  <a:rPr lang="zh-CN" altLang="en-US" dirty="0"/>
                  <a:t>恭喜你得到了系统的微分方程表示！</a:t>
                </a:r>
                <a:endParaRPr lang="en-US" altLang="zh-CN" dirty="0">
                  <a:solidFill>
                    <a:schemeClr val="tx1"/>
                  </a:solidFill>
                </a:endParaRPr>
              </a:p>
            </p:txBody>
          </p:sp>
        </mc:Choice>
        <mc:Fallback xmlns="">
          <p:sp>
            <p:nvSpPr>
              <p:cNvPr id="3" name="内容占位符 2">
                <a:extLst>
                  <a:ext uri="{FF2B5EF4-FFF2-40B4-BE49-F238E27FC236}">
                    <a16:creationId xmlns:a16="http://schemas.microsoft.com/office/drawing/2014/main" id="{8C6D2022-6B88-C192-1B16-20551B2DFD2A}"/>
                  </a:ext>
                </a:extLst>
              </p:cNvPr>
              <p:cNvSpPr>
                <a:spLocks noGrp="1" noRot="1" noChangeAspect="1" noMove="1" noResize="1" noEditPoints="1" noAdjustHandles="1" noChangeArrowheads="1" noChangeShapeType="1" noTextEdit="1"/>
              </p:cNvSpPr>
              <p:nvPr>
                <p:ph idx="1"/>
              </p:nvPr>
            </p:nvSpPr>
            <p:spPr>
              <a:xfrm>
                <a:off x="838200" y="1325563"/>
                <a:ext cx="10515600" cy="5532437"/>
              </a:xfrm>
              <a:blipFill>
                <a:blip r:embed="rId2"/>
                <a:stretch>
                  <a:fillRect l="-1217" t="-1982" r="-696" b="-110"/>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3758112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89CC8-DB9A-7441-E5A6-CA4E74B873AB}"/>
              </a:ext>
            </a:extLst>
          </p:cNvPr>
          <p:cNvSpPr>
            <a:spLocks noGrp="1"/>
          </p:cNvSpPr>
          <p:nvPr>
            <p:ph type="title"/>
          </p:nvPr>
        </p:nvSpPr>
        <p:spPr>
          <a:xfrm>
            <a:off x="838200" y="0"/>
            <a:ext cx="10515600" cy="1325563"/>
          </a:xfrm>
        </p:spPr>
        <p:txBody>
          <a:bodyPr/>
          <a:lstStyle/>
          <a:p>
            <a:r>
              <a:rPr lang="zh-CN" altLang="en-US" dirty="0"/>
              <a:t>如何对系统进行建模</a:t>
            </a:r>
            <a:endParaRPr lang="zh-SG"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0DEE1D-2204-4E66-7E9A-460C42DB7648}"/>
                  </a:ext>
                </a:extLst>
              </p:cNvPr>
              <p:cNvSpPr>
                <a:spLocks noGrp="1"/>
              </p:cNvSpPr>
              <p:nvPr>
                <p:ph idx="1"/>
              </p:nvPr>
            </p:nvSpPr>
            <p:spPr>
              <a:xfrm>
                <a:off x="838200" y="1325563"/>
                <a:ext cx="10515600" cy="5532437"/>
              </a:xfrm>
            </p:spPr>
            <p:txBody>
              <a:bodyPr>
                <a:normAutofit/>
              </a:bodyPr>
              <a:lstStyle/>
              <a:p>
                <a:r>
                  <a:rPr lang="zh-CN" altLang="en-US" dirty="0"/>
                  <a:t>我们研究刚刚得到的系统的性质。</a:t>
                </a:r>
                <a:endParaRPr lang="en-US" altLang="zh-CN" dirty="0"/>
              </a:p>
              <a:p>
                <a:pPr marL="0" indent="0">
                  <a:buNone/>
                </a:pPr>
                <a:r>
                  <a:rPr lang="zh-CN" altLang="en-US" dirty="0"/>
                  <a:t>为书写方便，对时间的导数采用牛顿表示法，变量上面有几个点就表示对时间求几阶导</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𝐽</m:t>
                      </m:r>
                      <m:acc>
                        <m:accPr>
                          <m:chr m:val="̇"/>
                          <m:ctrlPr>
                            <a:rPr lang="en-US" altLang="zh-CN" i="1" dirty="0" smtClean="0">
                              <a:solidFill>
                                <a:schemeClr val="tx1"/>
                              </a:solidFill>
                              <a:latin typeface="Cambria Math" panose="02040503050406030204" pitchFamily="18" charset="0"/>
                            </a:rPr>
                          </m:ctrlPr>
                        </m:accPr>
                        <m:e>
                          <m:r>
                            <m:rPr>
                              <m:sty m:val="p"/>
                            </m:rPr>
                            <a:rPr lang="en-US" altLang="zh-CN" i="1"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e>
                      </m:acc>
                      <m:r>
                        <a:rPr lang="en-US" altLang="zh-CN" i="0" dirty="0" smtClean="0">
                          <a:solidFill>
                            <a:schemeClr val="tx1"/>
                          </a:solidFill>
                          <a:latin typeface="Cambria Math" panose="02040503050406030204" pitchFamily="18" charset="0"/>
                        </a:rPr>
                        <m:t>+</m:t>
                      </m:r>
                      <m:r>
                        <a:rPr lang="en-US" altLang="zh-CN" i="1" dirty="0" smtClean="0">
                          <a:solidFill>
                            <a:schemeClr val="tx1"/>
                          </a:solidFill>
                          <a:latin typeface="Cambria Math" panose="02040503050406030204" pitchFamily="18" charset="0"/>
                        </a:rPr>
                        <m:t>𝑏</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r>
                        <a:rPr lang="en-US" altLang="zh-CN" b="0" i="0" dirty="0" smtClean="0">
                          <a:solidFill>
                            <a:schemeClr val="tx1"/>
                          </a:solidFill>
                          <a:latin typeface="Cambria Math" panose="02040503050406030204" pitchFamily="18" charset="0"/>
                        </a:rPr>
                        <m:t>=</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oMath>
                  </m:oMathPara>
                </a14:m>
                <a:endParaRPr lang="en-US" altLang="zh-CN" dirty="0">
                  <a:solidFill>
                    <a:schemeClr val="tx1"/>
                  </a:solidFill>
                </a:endParaRPr>
              </a:p>
              <a:p>
                <a:pPr marL="0" indent="0">
                  <a:buNone/>
                </a:pPr>
                <a:r>
                  <a:rPr lang="zh-CN" altLang="en-US" dirty="0"/>
                  <a:t>当</a:t>
                </a:r>
                <a14:m>
                  <m:oMath xmlns:m="http://schemas.openxmlformats.org/officeDocument/2006/math">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oMath>
                </a14:m>
                <a:r>
                  <a:rPr lang="zh-CN" altLang="en-US" dirty="0"/>
                  <a:t>变为之前的</a:t>
                </a:r>
                <a:r>
                  <a:rPr lang="en-US" altLang="zh-CN" dirty="0"/>
                  <a:t>k</a:t>
                </a:r>
                <a:r>
                  <a:rPr lang="zh-CN" altLang="en-US" dirty="0"/>
                  <a:t>倍时，</a:t>
                </a:r>
                <a14:m>
                  <m:oMath xmlns:m="http://schemas.openxmlformats.org/officeDocument/2006/math">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oMath>
                </a14:m>
                <a:r>
                  <a:rPr lang="zh-CN" altLang="en-US" dirty="0"/>
                  <a:t>变为原先的</a:t>
                </a:r>
                <a:r>
                  <a:rPr lang="en-US" altLang="zh-CN" dirty="0"/>
                  <a:t>k</a:t>
                </a:r>
                <a:r>
                  <a:rPr lang="zh-CN" altLang="en-US" dirty="0"/>
                  <a:t>倍，方程仍成立：</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𝐽</m:t>
                      </m:r>
                      <m:d>
                        <m:dPr>
                          <m:ctrlPr>
                            <a:rPr lang="en-US" altLang="zh-CN" b="0"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𝑘</m:t>
                          </m:r>
                          <m:acc>
                            <m:accPr>
                              <m:chr m:val="̇"/>
                              <m:ctrlPr>
                                <a:rPr lang="en-US" altLang="zh-CN" i="1" dirty="0" smtClean="0">
                                  <a:solidFill>
                                    <a:schemeClr val="tx1"/>
                                  </a:solidFill>
                                  <a:latin typeface="Cambria Math" panose="02040503050406030204" pitchFamily="18" charset="0"/>
                                </a:rPr>
                              </m:ctrlPr>
                            </m:accPr>
                            <m:e>
                              <m:r>
                                <m:rPr>
                                  <m:sty m:val="p"/>
                                </m:rPr>
                                <a:rPr lang="en-US" altLang="zh-CN" i="1"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e>
                          </m:acc>
                        </m:e>
                      </m:d>
                      <m:r>
                        <a:rPr lang="en-US" altLang="zh-CN" i="0" dirty="0" smtClean="0">
                          <a:solidFill>
                            <a:schemeClr val="tx1"/>
                          </a:solidFill>
                          <a:latin typeface="Cambria Math" panose="02040503050406030204" pitchFamily="18" charset="0"/>
                        </a:rPr>
                        <m:t>+</m:t>
                      </m:r>
                      <m:r>
                        <a:rPr lang="en-US" altLang="zh-CN" i="1" dirty="0" smtClean="0">
                          <a:solidFill>
                            <a:schemeClr val="tx1"/>
                          </a:solidFill>
                          <a:latin typeface="Cambria Math" panose="02040503050406030204" pitchFamily="18" charset="0"/>
                        </a:rPr>
                        <m:t>𝑏</m:t>
                      </m:r>
                      <m:d>
                        <m:dPr>
                          <m:ctrlPr>
                            <a:rPr lang="en-US" altLang="zh-CN" b="0"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𝑘</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e>
                      </m:d>
                      <m:r>
                        <a:rPr lang="en-US" altLang="zh-CN" b="0" i="0" dirty="0" smtClean="0">
                          <a:solidFill>
                            <a:schemeClr val="tx1"/>
                          </a:solidFill>
                          <a:latin typeface="Cambria Math" panose="02040503050406030204" pitchFamily="18" charset="0"/>
                        </a:rPr>
                        <m:t>=</m:t>
                      </m:r>
                      <m:r>
                        <m:rPr>
                          <m:sty m:val="p"/>
                        </m:rPr>
                        <a:rPr lang="en-US" altLang="zh-CN" b="0" i="0" dirty="0" smtClean="0">
                          <a:solidFill>
                            <a:schemeClr val="tx1"/>
                          </a:solidFill>
                          <a:latin typeface="Cambria Math" panose="02040503050406030204" pitchFamily="18" charset="0"/>
                        </a:rPr>
                        <m:t>kΔ</m:t>
                      </m:r>
                      <m:r>
                        <a:rPr lang="en-US" altLang="zh-CN" i="1" dirty="0" smtClean="0">
                          <a:solidFill>
                            <a:schemeClr val="tx1"/>
                          </a:solidFill>
                          <a:latin typeface="Cambria Math" panose="02040503050406030204" pitchFamily="18" charset="0"/>
                        </a:rPr>
                        <m:t>𝜏</m:t>
                      </m:r>
                    </m:oMath>
                  </m:oMathPara>
                </a14:m>
                <a:endParaRPr lang="en-US" altLang="zh-CN" dirty="0">
                  <a:solidFill>
                    <a:schemeClr val="tx1"/>
                  </a:solidFill>
                </a:endParaRPr>
              </a:p>
              <a:p>
                <a:pPr marL="0" indent="0">
                  <a:buNone/>
                </a:pPr>
                <a:r>
                  <a:rPr lang="zh-CN" altLang="en-US" dirty="0">
                    <a:solidFill>
                      <a:schemeClr val="tx1"/>
                    </a:solidFill>
                  </a:rPr>
                  <a:t>当</a:t>
                </a:r>
                <a14:m>
                  <m:oMath xmlns:m="http://schemas.openxmlformats.org/officeDocument/2006/math">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oMath>
                </a14:m>
                <a:r>
                  <a:rPr lang="zh-CN" altLang="en-US" dirty="0">
                    <a:solidFill>
                      <a:schemeClr val="tx1"/>
                    </a:solidFill>
                  </a:rPr>
                  <a:t>是两个量的线性叠加时，</a:t>
                </a:r>
                <a:r>
                  <a:rPr lang="en-US" altLang="zh-CN" dirty="0">
                    <a:solidFill>
                      <a:schemeClr val="tx1"/>
                    </a:solidFill>
                  </a:rPr>
                  <a:t> </a:t>
                </a:r>
                <a14:m>
                  <m:oMath xmlns:m="http://schemas.openxmlformats.org/officeDocument/2006/math">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oMath>
                </a14:m>
                <a:r>
                  <a:rPr lang="zh-CN" altLang="en-US" dirty="0">
                    <a:solidFill>
                      <a:schemeClr val="tx1"/>
                    </a:solidFill>
                  </a:rPr>
                  <a:t>也是各自对应量的线性叠加：</a:t>
                </a:r>
                <a:endParaRPr lang="en-US" altLang="zh-CN"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r>
                        <a:rPr lang="en-US" altLang="zh-CN" i="1" dirty="0" smtClean="0">
                          <a:solidFill>
                            <a:schemeClr val="tx1"/>
                          </a:solidFill>
                          <a:latin typeface="Cambria Math" panose="02040503050406030204" pitchFamily="18" charset="0"/>
                        </a:rPr>
                        <m:t>𝐽</m:t>
                      </m:r>
                      <m:d>
                        <m:dPr>
                          <m:ctrlPr>
                            <a:rPr lang="en-US" altLang="zh-CN" b="0" i="1" dirty="0" smtClean="0">
                              <a:solidFill>
                                <a:schemeClr val="tx1"/>
                              </a:solidFill>
                              <a:latin typeface="Cambria Math" panose="02040503050406030204" pitchFamily="18" charset="0"/>
                            </a:rPr>
                          </m:ctrlPr>
                        </m:dPr>
                        <m:e>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solidFill>
                                    <a:schemeClr val="tx1"/>
                                  </a:solidFill>
                                  <a:latin typeface="Cambria Math" panose="02040503050406030204" pitchFamily="18" charset="0"/>
                                </a:rPr>
                                <m:t>1</m:t>
                              </m:r>
                            </m:sub>
                          </m:sSub>
                          <m:r>
                            <m:rPr>
                              <m:sty m:val="p"/>
                            </m:rPr>
                            <a:rPr lang="en-US" altLang="zh-CN" i="1" dirty="0" smtClean="0">
                              <a:solidFill>
                                <a:schemeClr val="tx1"/>
                              </a:solidFill>
                              <a:latin typeface="Cambria Math" panose="02040503050406030204" pitchFamily="18" charset="0"/>
                            </a:rPr>
                            <m:t>Δ</m:t>
                          </m:r>
                          <m:acc>
                            <m:accPr>
                              <m:chr m:val="̇"/>
                              <m:ctrlPr>
                                <a:rPr lang="en-US" altLang="zh-CN" i="1" dirty="0" smtClean="0">
                                  <a:solidFill>
                                    <a:schemeClr val="tx1"/>
                                  </a:solidFill>
                                  <a:latin typeface="Cambria Math" panose="02040503050406030204" pitchFamily="18" charset="0"/>
                                </a:rPr>
                              </m:ctrlPr>
                            </m:accPr>
                            <m:e>
                              <m:sSub>
                                <m:sSubPr>
                                  <m:ctrlPr>
                                    <a:rPr lang="en-US" altLang="zh-CN" i="1" dirty="0" smtClean="0">
                                      <a:solidFill>
                                        <a:schemeClr val="tx1"/>
                                      </a:solidFill>
                                      <a:latin typeface="Cambria Math" panose="02040503050406030204" pitchFamily="18" charset="0"/>
                                    </a:rPr>
                                  </m:ctrlPr>
                                </m:sSubPr>
                                <m:e>
                                  <m:r>
                                    <a:rPr lang="en-US" altLang="zh-CN"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1</m:t>
                                  </m:r>
                                </m:sub>
                              </m:sSub>
                            </m:e>
                          </m:acc>
                          <m:r>
                            <a:rPr lang="en-US" altLang="zh-CN" b="0" i="1" dirty="0" smtClean="0">
                              <a:solidFill>
                                <a:schemeClr val="tx1"/>
                              </a:solidFill>
                              <a:latin typeface="Cambria Math" panose="02040503050406030204" pitchFamily="18" charset="0"/>
                            </a:rPr>
                            <m:t>+</m:t>
                          </m:r>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latin typeface="Cambria Math" panose="02040503050406030204" pitchFamily="18" charset="0"/>
                                </a:rPr>
                                <m:t>2</m:t>
                              </m:r>
                            </m:sub>
                          </m:sSub>
                          <m:r>
                            <m:rPr>
                              <m:sty m:val="p"/>
                            </m:rPr>
                            <a:rPr lang="en-US" altLang="zh-CN" i="1" dirty="0" smtClean="0">
                              <a:solidFill>
                                <a:schemeClr val="tx1"/>
                              </a:solidFill>
                              <a:latin typeface="Cambria Math" panose="02040503050406030204" pitchFamily="18" charset="0"/>
                            </a:rPr>
                            <m:t>Δ</m:t>
                          </m:r>
                          <m:acc>
                            <m:accPr>
                              <m:chr m:val="̇"/>
                              <m:ctrlPr>
                                <a:rPr lang="en-US" altLang="zh-CN" i="1" dirty="0" smtClean="0">
                                  <a:solidFill>
                                    <a:schemeClr val="tx1"/>
                                  </a:solidFill>
                                  <a:latin typeface="Cambria Math" panose="02040503050406030204" pitchFamily="18" charset="0"/>
                                </a:rPr>
                              </m:ctrlPr>
                            </m:accPr>
                            <m:e>
                              <m:sSub>
                                <m:sSubPr>
                                  <m:ctrlPr>
                                    <a:rPr lang="en-US" altLang="zh-CN" i="1" dirty="0" smtClean="0">
                                      <a:solidFill>
                                        <a:schemeClr val="tx1"/>
                                      </a:solidFill>
                                      <a:latin typeface="Cambria Math" panose="02040503050406030204" pitchFamily="18" charset="0"/>
                                    </a:rPr>
                                  </m:ctrlPr>
                                </m:sSubPr>
                                <m:e>
                                  <m:r>
                                    <a:rPr lang="en-US" altLang="zh-CN"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2</m:t>
                                  </m:r>
                                </m:sub>
                              </m:sSub>
                            </m:e>
                          </m:acc>
                        </m:e>
                      </m:d>
                      <m:r>
                        <a:rPr lang="en-US" altLang="zh-CN" i="0" dirty="0" smtClean="0">
                          <a:solidFill>
                            <a:schemeClr val="tx1"/>
                          </a:solidFill>
                          <a:latin typeface="Cambria Math" panose="02040503050406030204" pitchFamily="18" charset="0"/>
                        </a:rPr>
                        <m:t>+</m:t>
                      </m:r>
                      <m:r>
                        <a:rPr lang="en-US" altLang="zh-CN" i="1" dirty="0" smtClean="0">
                          <a:solidFill>
                            <a:schemeClr val="tx1"/>
                          </a:solidFill>
                          <a:latin typeface="Cambria Math" panose="02040503050406030204" pitchFamily="18" charset="0"/>
                        </a:rPr>
                        <m:t>𝑏</m:t>
                      </m:r>
                      <m:d>
                        <m:dPr>
                          <m:ctrlPr>
                            <a:rPr lang="en-US" altLang="zh-CN" b="0" i="1" dirty="0" smtClean="0">
                              <a:solidFill>
                                <a:schemeClr val="tx1"/>
                              </a:solidFill>
                              <a:latin typeface="Cambria Math" panose="02040503050406030204" pitchFamily="18" charset="0"/>
                            </a:rPr>
                          </m:ctrlPr>
                        </m:dPr>
                        <m:e>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solidFill>
                                    <a:schemeClr val="tx1"/>
                                  </a:solidFill>
                                  <a:latin typeface="Cambria Math" panose="02040503050406030204" pitchFamily="18" charset="0"/>
                                </a:rPr>
                                <m:t>1</m:t>
                              </m:r>
                            </m:sub>
                          </m:sSub>
                          <m:acc>
                            <m:accPr>
                              <m:chr m:val="̇"/>
                              <m:ctrlPr>
                                <a:rPr lang="en-US" altLang="zh-CN" i="1" dirty="0" smtClean="0">
                                  <a:solidFill>
                                    <a:schemeClr val="tx1"/>
                                  </a:solidFill>
                                  <a:latin typeface="Cambria Math" panose="02040503050406030204" pitchFamily="18" charset="0"/>
                                </a:rPr>
                              </m:ctrlPr>
                            </m:accPr>
                            <m:e>
                              <m:r>
                                <m:rPr>
                                  <m:sty m:val="p"/>
                                </m:rPr>
                                <a:rPr lang="en-US" altLang="zh-CN" i="1" dirty="0" smtClean="0">
                                  <a:solidFill>
                                    <a:schemeClr val="tx1"/>
                                  </a:solidFill>
                                  <a:latin typeface="Cambria Math" panose="02040503050406030204" pitchFamily="18" charset="0"/>
                                </a:rPr>
                                <m:t>Δ</m:t>
                              </m:r>
                              <m:sSub>
                                <m:sSubPr>
                                  <m:ctrlPr>
                                    <a:rPr lang="en-US" altLang="zh-CN" i="1" dirty="0" smtClean="0">
                                      <a:solidFill>
                                        <a:schemeClr val="tx1"/>
                                      </a:solidFill>
                                      <a:latin typeface="Cambria Math" panose="02040503050406030204" pitchFamily="18" charset="0"/>
                                    </a:rPr>
                                  </m:ctrlPr>
                                </m:sSubPr>
                                <m:e>
                                  <m:r>
                                    <a:rPr lang="en-US" altLang="zh-CN"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1</m:t>
                                  </m:r>
                                </m:sub>
                              </m:sSub>
                              <m:r>
                                <a:rPr lang="en-US" altLang="zh-CN" b="0" i="1" dirty="0" smtClean="0">
                                  <a:solidFill>
                                    <a:schemeClr val="tx1"/>
                                  </a:solidFill>
                                  <a:latin typeface="Cambria Math" panose="02040503050406030204" pitchFamily="18" charset="0"/>
                                </a:rPr>
                                <m:t>+</m:t>
                              </m:r>
                            </m:e>
                          </m:acc>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latin typeface="Cambria Math" panose="02040503050406030204" pitchFamily="18" charset="0"/>
                                </a:rPr>
                                <m:t>2</m:t>
                              </m:r>
                            </m:sub>
                          </m:sSub>
                          <m:acc>
                            <m:accPr>
                              <m:chr m:val="̇"/>
                              <m:ctrlPr>
                                <a:rPr lang="en-US" altLang="zh-CN" i="1" dirty="0" smtClean="0">
                                  <a:solidFill>
                                    <a:schemeClr val="tx1"/>
                                  </a:solidFill>
                                  <a:latin typeface="Cambria Math" panose="02040503050406030204" pitchFamily="18" charset="0"/>
                                </a:rPr>
                              </m:ctrlPr>
                            </m:accPr>
                            <m:e>
                              <m:r>
                                <m:rPr>
                                  <m:sty m:val="p"/>
                                </m:rPr>
                                <a:rPr lang="en-US" altLang="zh-CN" i="1" dirty="0" smtClean="0">
                                  <a:solidFill>
                                    <a:schemeClr val="tx1"/>
                                  </a:solidFill>
                                  <a:latin typeface="Cambria Math" panose="02040503050406030204" pitchFamily="18" charset="0"/>
                                </a:rPr>
                                <m:t>Δ</m:t>
                              </m:r>
                              <m:sSub>
                                <m:sSubPr>
                                  <m:ctrlPr>
                                    <a:rPr lang="en-US" altLang="zh-CN" i="1" dirty="0" smtClean="0">
                                      <a:solidFill>
                                        <a:schemeClr val="tx1"/>
                                      </a:solidFill>
                                      <a:latin typeface="Cambria Math" panose="02040503050406030204" pitchFamily="18" charset="0"/>
                                    </a:rPr>
                                  </m:ctrlPr>
                                </m:sSubPr>
                                <m:e>
                                  <m:r>
                                    <a:rPr lang="en-US" altLang="zh-CN"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2</m:t>
                                  </m:r>
                                </m:sub>
                              </m:sSub>
                            </m:e>
                          </m:acc>
                        </m:e>
                      </m:d>
                      <m:r>
                        <a:rPr lang="en-US" altLang="zh-CN" b="0" i="0" dirty="0" smtClean="0">
                          <a:solidFill>
                            <a:schemeClr val="tx1"/>
                          </a:solidFill>
                          <a:latin typeface="Cambria Math" panose="02040503050406030204" pitchFamily="18" charset="0"/>
                        </a:rPr>
                        <m:t>=</m:t>
                      </m:r>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solidFill>
                                <a:schemeClr val="tx1"/>
                              </a:solidFill>
                              <a:latin typeface="Cambria Math" panose="02040503050406030204" pitchFamily="18" charset="0"/>
                            </a:rPr>
                            <m:t>1</m:t>
                          </m:r>
                        </m:sub>
                      </m:sSub>
                      <m:sSub>
                        <m:sSubPr>
                          <m:ctrlPr>
                            <a:rPr lang="en-US" altLang="zh-CN" b="0"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e>
                        <m:sub>
                          <m:r>
                            <a:rPr lang="en-US" altLang="zh-CN" b="0" i="1" dirty="0" smtClean="0">
                              <a:solidFill>
                                <a:schemeClr val="tx1"/>
                              </a:solidFill>
                              <a:latin typeface="Cambria Math" panose="02040503050406030204" pitchFamily="18" charset="0"/>
                            </a:rPr>
                            <m:t>1</m:t>
                          </m:r>
                        </m:sub>
                      </m:sSub>
                      <m:r>
                        <a:rPr lang="en-US" altLang="zh-CN" b="0" i="1" dirty="0" smtClean="0">
                          <a:solidFill>
                            <a:schemeClr val="tx1"/>
                          </a:solidFill>
                          <a:latin typeface="Cambria Math" panose="02040503050406030204" pitchFamily="18" charset="0"/>
                        </a:rPr>
                        <m:t>+</m:t>
                      </m:r>
                      <m:sSub>
                        <m:sSubPr>
                          <m:ctrlPr>
                            <a:rPr lang="en-US" altLang="zh-CN" b="0" i="1" dirty="0" smtClean="0">
                              <a:solidFill>
                                <a:schemeClr val="tx1"/>
                              </a:solidFill>
                              <a:latin typeface="Cambria Math" panose="02040503050406030204" pitchFamily="18" charset="0"/>
                            </a:rPr>
                          </m:ctrlPr>
                        </m:sSubPr>
                        <m:e>
                          <m:r>
                            <m:rPr>
                              <m:sty m:val="p"/>
                            </m:rPr>
                            <a:rPr lang="en-US" altLang="zh-CN" i="1" dirty="0">
                              <a:latin typeface="Cambria Math" panose="02040503050406030204" pitchFamily="18" charset="0"/>
                            </a:rPr>
                            <m:t>k</m:t>
                          </m:r>
                        </m:e>
                        <m:sub>
                          <m:r>
                            <a:rPr lang="en-US" altLang="zh-CN" b="0" i="1" dirty="0" smtClean="0">
                              <a:latin typeface="Cambria Math" panose="02040503050406030204" pitchFamily="18" charset="0"/>
                            </a:rPr>
                            <m:t>2</m:t>
                          </m:r>
                        </m:sub>
                      </m:sSub>
                      <m:sSub>
                        <m:sSubPr>
                          <m:ctrlPr>
                            <a:rPr lang="en-US" altLang="zh-CN" b="0" i="1" dirty="0" smtClean="0">
                              <a:solidFill>
                                <a:schemeClr val="tx1"/>
                              </a:solidFill>
                              <a:latin typeface="Cambria Math" panose="02040503050406030204" pitchFamily="18" charset="0"/>
                            </a:rPr>
                          </m:ctrlPr>
                        </m:sSubPr>
                        <m:e>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e>
                        <m:sub>
                          <m:r>
                            <a:rPr lang="en-US" altLang="zh-CN" b="0" i="1" dirty="0" smtClean="0">
                              <a:solidFill>
                                <a:schemeClr val="tx1"/>
                              </a:solidFill>
                              <a:latin typeface="Cambria Math" panose="02040503050406030204" pitchFamily="18" charset="0"/>
                            </a:rPr>
                            <m:t>2</m:t>
                          </m:r>
                        </m:sub>
                      </m:sSub>
                    </m:oMath>
                  </m:oMathPara>
                </a14:m>
                <a:endParaRPr lang="en-US" altLang="zh-CN" dirty="0">
                  <a:solidFill>
                    <a:schemeClr val="tx1"/>
                  </a:solidFill>
                </a:endParaRPr>
              </a:p>
              <a:p>
                <a:pPr marL="0" indent="0">
                  <a:buNone/>
                </a:pPr>
                <a:r>
                  <a:rPr lang="zh-CN" altLang="en-US" dirty="0"/>
                  <a:t>这种在加倍和叠加后仍然能够相互对应的性质称为线性。</a:t>
                </a:r>
                <a:endParaRPr lang="en-US" altLang="zh-CN" dirty="0"/>
              </a:p>
              <a:p>
                <a:pPr marL="0" indent="0">
                  <a:buNone/>
                </a:pPr>
                <a:r>
                  <a:rPr lang="zh-CN" altLang="en-US" dirty="0"/>
                  <a:t>可以认为</a:t>
                </a:r>
                <a:r>
                  <a:rPr lang="en-US" altLang="zh-CN" dirty="0"/>
                  <a:t>J</a:t>
                </a:r>
                <a:r>
                  <a:rPr lang="zh-CN" altLang="en-US" dirty="0"/>
                  <a:t>和</a:t>
                </a:r>
                <a:r>
                  <a:rPr lang="en-US" altLang="zh-CN" dirty="0"/>
                  <a:t>b</a:t>
                </a:r>
                <a:r>
                  <a:rPr lang="zh-CN" altLang="en-US" dirty="0"/>
                  <a:t>不随时间改变，因此在不同时间该方程都成立，称为时不变性。</a:t>
                </a:r>
                <a:endParaRPr lang="en-US" altLang="zh-CN" dirty="0"/>
              </a:p>
            </p:txBody>
          </p:sp>
        </mc:Choice>
        <mc:Fallback xmlns="">
          <p:sp>
            <p:nvSpPr>
              <p:cNvPr id="3" name="内容占位符 2">
                <a:extLst>
                  <a:ext uri="{FF2B5EF4-FFF2-40B4-BE49-F238E27FC236}">
                    <a16:creationId xmlns:a16="http://schemas.microsoft.com/office/drawing/2014/main" id="{F90DEE1D-2204-4E66-7E9A-460C42DB7648}"/>
                  </a:ext>
                </a:extLst>
              </p:cNvPr>
              <p:cNvSpPr>
                <a:spLocks noGrp="1" noRot="1" noChangeAspect="1" noMove="1" noResize="1" noEditPoints="1" noAdjustHandles="1" noChangeArrowheads="1" noChangeShapeType="1" noTextEdit="1"/>
              </p:cNvSpPr>
              <p:nvPr>
                <p:ph idx="1"/>
              </p:nvPr>
            </p:nvSpPr>
            <p:spPr>
              <a:xfrm>
                <a:off x="838200" y="1325563"/>
                <a:ext cx="10515600" cy="5532437"/>
              </a:xfrm>
              <a:blipFill>
                <a:blip r:embed="rId2"/>
                <a:stretch>
                  <a:fillRect l="-1217" t="-1982" r="-696"/>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2154152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6F1534-09BB-3498-9C84-4F32F8CE51D6}"/>
              </a:ext>
            </a:extLst>
          </p:cNvPr>
          <p:cNvSpPr>
            <a:spLocks noGrp="1"/>
          </p:cNvSpPr>
          <p:nvPr>
            <p:ph type="title"/>
          </p:nvPr>
        </p:nvSpPr>
        <p:spPr/>
        <p:txBody>
          <a:bodyPr/>
          <a:lstStyle/>
          <a:p>
            <a:r>
              <a:rPr lang="zh-CN" altLang="en-US" dirty="0"/>
              <a:t>线性时不变系统的描述</a:t>
            </a:r>
            <a:endParaRPr lang="zh-SG"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C035C41-C2FB-60FE-A002-DD51B4D2759A}"/>
                  </a:ext>
                </a:extLst>
              </p:cNvPr>
              <p:cNvSpPr>
                <a:spLocks noGrp="1"/>
              </p:cNvSpPr>
              <p:nvPr>
                <p:ph idx="1"/>
              </p:nvPr>
            </p:nvSpPr>
            <p:spPr/>
            <p:txBody>
              <a:bodyPr>
                <a:normAutofit/>
              </a:bodyPr>
              <a:lstStyle/>
              <a:p>
                <a:r>
                  <a:rPr lang="zh-CN" altLang="en-US" dirty="0"/>
                  <a:t>我们得到了一个一阶，线性，时不变的系统。如何计算它对输入的响应？</a:t>
                </a:r>
                <a:endParaRPr lang="en-US" altLang="zh-CN" dirty="0"/>
              </a:p>
              <a:p>
                <a:pPr marL="0" indent="0">
                  <a:buNone/>
                </a:pPr>
                <a:r>
                  <a:rPr lang="zh-CN" altLang="en-US" dirty="0"/>
                  <a:t>由于系统的线性和时不变性，可以把一段时间内的转矩输入看成许多不同时刻的极短小转矩脉冲之和，每个冲激都对应一个响应，再将它们按时刻叠加起来，就能得到总的响应。</a:t>
                </a:r>
                <a:endParaRPr lang="en-US" altLang="zh-CN" dirty="0"/>
              </a:p>
              <a:p>
                <a:pPr marL="0" indent="0">
                  <a:buNone/>
                </a:pPr>
                <a14:m>
                  <m:oMathPara xmlns:m="http://schemas.openxmlformats.org/officeDocument/2006/math">
                    <m:oMathParaPr>
                      <m:jc m:val="centerGroup"/>
                    </m:oMathParaPr>
                    <m:oMath xmlns:m="http://schemas.openxmlformats.org/officeDocument/2006/math">
                      <m:r>
                        <m:rPr>
                          <m:sty m:val="p"/>
                        </m:rPr>
                        <a:rPr lang="zh-SG" altLang="en-US" i="1" smtClean="0">
                          <a:solidFill>
                            <a:schemeClr val="tx1"/>
                          </a:solidFill>
                          <a:latin typeface="Cambria Math" panose="02040503050406030204" pitchFamily="18" charset="0"/>
                        </a:rPr>
                        <m:t>Δ</m:t>
                      </m:r>
                      <m:r>
                        <a:rPr lang="zh-SG" altLang="en-US" i="1" smtClean="0">
                          <a:solidFill>
                            <a:schemeClr val="tx1"/>
                          </a:solidFill>
                          <a:latin typeface="Cambria Math" panose="02040503050406030204" pitchFamily="18" charset="0"/>
                        </a:rPr>
                        <m:t>𝑤</m:t>
                      </m:r>
                      <m:d>
                        <m:dPr>
                          <m:ctrlPr>
                            <a:rPr lang="zh-SG" altLang="en-US" i="1" smtClean="0">
                              <a:solidFill>
                                <a:schemeClr val="tx1"/>
                              </a:solidFill>
                              <a:latin typeface="Cambria Math" panose="02040503050406030204" pitchFamily="18" charset="0"/>
                            </a:rPr>
                          </m:ctrlPr>
                        </m:dPr>
                        <m:e>
                          <m:r>
                            <a:rPr lang="zh-SG" altLang="en-US" i="1" smtClean="0">
                              <a:solidFill>
                                <a:schemeClr val="tx1"/>
                              </a:solidFill>
                              <a:latin typeface="Cambria Math" panose="02040503050406030204" pitchFamily="18" charset="0"/>
                            </a:rPr>
                            <m:t>𝑡</m:t>
                          </m:r>
                        </m:e>
                      </m:d>
                      <m:r>
                        <a:rPr lang="zh-SG" altLang="en-US" i="1" smtClean="0">
                          <a:solidFill>
                            <a:schemeClr val="tx1"/>
                          </a:solidFill>
                          <a:latin typeface="Cambria Math" panose="02040503050406030204" pitchFamily="18" charset="0"/>
                        </a:rPr>
                        <m:t>=</m:t>
                      </m:r>
                      <m:nary>
                        <m:naryPr>
                          <m:ctrlPr>
                            <a:rPr lang="zh-SG" altLang="en-US" i="1" smtClean="0">
                              <a:solidFill>
                                <a:schemeClr val="tx1"/>
                              </a:solidFill>
                              <a:latin typeface="Cambria Math" panose="02040503050406030204" pitchFamily="18" charset="0"/>
                            </a:rPr>
                          </m:ctrlPr>
                        </m:naryPr>
                        <m:sub>
                          <m:r>
                            <m:rPr>
                              <m:brk m:alnAt="23"/>
                            </m:rPr>
                            <a:rPr lang="en-US" altLang="zh-SG" b="0" i="1" smtClean="0">
                              <a:solidFill>
                                <a:schemeClr val="tx1"/>
                              </a:solidFill>
                              <a:latin typeface="Cambria Math" panose="02040503050406030204" pitchFamily="18" charset="0"/>
                            </a:rPr>
                            <m:t>0</m:t>
                          </m:r>
                        </m:sub>
                        <m:sup>
                          <m:r>
                            <m:rPr>
                              <m:sty m:val="p"/>
                            </m:rPr>
                            <a:rPr lang="en-US" altLang="zh-CN" i="1">
                              <a:solidFill>
                                <a:schemeClr val="tx1"/>
                              </a:solidFill>
                              <a:latin typeface="Cambria Math" panose="02040503050406030204" pitchFamily="18" charset="0"/>
                            </a:rPr>
                            <m:t>t</m:t>
                          </m:r>
                        </m:sup>
                        <m:e>
                          <m:r>
                            <a:rPr lang="en-US" altLang="zh-SG" b="0" i="1" smtClean="0">
                              <a:solidFill>
                                <a:schemeClr val="tx1"/>
                              </a:solidFill>
                              <a:latin typeface="Cambria Math" panose="02040503050406030204" pitchFamily="18" charset="0"/>
                            </a:rPr>
                            <m:t>h</m:t>
                          </m:r>
                          <m:d>
                            <m:dPr>
                              <m:ctrlPr>
                                <a:rPr lang="en-US" altLang="zh-SG" b="0" i="1" smtClean="0">
                                  <a:solidFill>
                                    <a:schemeClr val="tx1"/>
                                  </a:solidFill>
                                  <a:latin typeface="Cambria Math" panose="02040503050406030204" pitchFamily="18" charset="0"/>
                                </a:rPr>
                              </m:ctrlPr>
                            </m:dPr>
                            <m:e>
                              <m:r>
                                <a:rPr lang="en-US" altLang="zh-SG" b="0" i="1" smtClean="0">
                                  <a:solidFill>
                                    <a:schemeClr val="tx1"/>
                                  </a:solidFill>
                                  <a:latin typeface="Cambria Math" panose="02040503050406030204" pitchFamily="18" charset="0"/>
                                </a:rPr>
                                <m:t>𝑡</m:t>
                              </m:r>
                              <m:r>
                                <a:rPr lang="en-US" altLang="zh-SG" b="0" i="1" smtClean="0">
                                  <a:solidFill>
                                    <a:schemeClr val="tx1"/>
                                  </a:solidFill>
                                  <a:latin typeface="Cambria Math" panose="02040503050406030204" pitchFamily="18" charset="0"/>
                                </a:rPr>
                                <m:t>−</m:t>
                              </m:r>
                              <m:r>
                                <a:rPr lang="en-US" altLang="zh-SG" b="0" i="1" smtClean="0">
                                  <a:solidFill>
                                    <a:schemeClr val="tx1"/>
                                  </a:solidFill>
                                  <a:latin typeface="Cambria Math" panose="02040503050406030204" pitchFamily="18" charset="0"/>
                                </a:rPr>
                                <m:t>𝜉</m:t>
                              </m:r>
                            </m:e>
                          </m:d>
                          <m:r>
                            <m:rPr>
                              <m:sty m:val="p"/>
                            </m:rPr>
                            <a:rPr lang="en-US" altLang="zh-SG" i="1" smtClean="0">
                              <a:solidFill>
                                <a:schemeClr val="tx1"/>
                              </a:solidFill>
                              <a:latin typeface="Cambria Math" panose="02040503050406030204" pitchFamily="18" charset="0"/>
                            </a:rPr>
                            <m:t>Δ</m:t>
                          </m:r>
                          <m:r>
                            <a:rPr lang="en-US" altLang="zh-SG" i="1" smtClean="0">
                              <a:solidFill>
                                <a:schemeClr val="tx1"/>
                              </a:solidFill>
                              <a:latin typeface="Cambria Math" panose="02040503050406030204" pitchFamily="18" charset="0"/>
                            </a:rPr>
                            <m:t>𝜏</m:t>
                          </m:r>
                          <m:d>
                            <m:dPr>
                              <m:ctrlPr>
                                <a:rPr lang="en-US" altLang="zh-SG" b="0" i="1" smtClean="0">
                                  <a:solidFill>
                                    <a:schemeClr val="tx1"/>
                                  </a:solidFill>
                                  <a:latin typeface="Cambria Math" panose="02040503050406030204" pitchFamily="18" charset="0"/>
                                </a:rPr>
                              </m:ctrlPr>
                            </m:dPr>
                            <m:e>
                              <m:r>
                                <a:rPr lang="en-US" altLang="zh-SG" b="0" i="1" smtClean="0">
                                  <a:solidFill>
                                    <a:schemeClr val="tx1"/>
                                  </a:solidFill>
                                  <a:latin typeface="Cambria Math" panose="02040503050406030204" pitchFamily="18" charset="0"/>
                                </a:rPr>
                                <m:t>𝜉</m:t>
                              </m:r>
                            </m:e>
                          </m:d>
                          <m:r>
                            <a:rPr lang="en-US" altLang="zh-SG" b="0" i="1" smtClean="0">
                              <a:solidFill>
                                <a:schemeClr val="tx1"/>
                              </a:solidFill>
                              <a:latin typeface="Cambria Math" panose="02040503050406030204" pitchFamily="18" charset="0"/>
                            </a:rPr>
                            <m:t>𝑑</m:t>
                          </m:r>
                          <m:r>
                            <a:rPr lang="en-US" altLang="zh-SG" b="0" i="1" smtClean="0">
                              <a:solidFill>
                                <a:schemeClr val="tx1"/>
                              </a:solidFill>
                              <a:latin typeface="Cambria Math" panose="02040503050406030204" pitchFamily="18" charset="0"/>
                            </a:rPr>
                            <m:t>𝜉</m:t>
                          </m:r>
                        </m:e>
                      </m:nary>
                    </m:oMath>
                  </m:oMathPara>
                </a14:m>
                <a:endParaRPr lang="en-US" altLang="zh-SG" dirty="0">
                  <a:solidFill>
                    <a:schemeClr val="tx1"/>
                  </a:solidFill>
                </a:endParaRPr>
              </a:p>
              <a:p>
                <a:pPr marL="0" indent="0">
                  <a:buNone/>
                </a:pPr>
                <a:r>
                  <a:rPr lang="zh-CN" altLang="en-US" dirty="0"/>
                  <a:t>这个形式叫</a:t>
                </a:r>
                <a:r>
                  <a:rPr lang="zh-CN" altLang="en-US" dirty="0">
                    <a:solidFill>
                      <a:schemeClr val="tx1"/>
                    </a:solidFill>
                  </a:rPr>
                  <a:t>卷积。它能帮我们把输入拆开，得到对应响应再叠加。</a:t>
                </a:r>
                <a:endParaRPr lang="zh-SG" altLang="en-US" dirty="0">
                  <a:solidFill>
                    <a:schemeClr val="tx1"/>
                  </a:solidFill>
                </a:endParaRPr>
              </a:p>
            </p:txBody>
          </p:sp>
        </mc:Choice>
        <mc:Fallback xmlns="">
          <p:sp>
            <p:nvSpPr>
              <p:cNvPr id="3" name="内容占位符 2">
                <a:extLst>
                  <a:ext uri="{FF2B5EF4-FFF2-40B4-BE49-F238E27FC236}">
                    <a16:creationId xmlns:a16="http://schemas.microsoft.com/office/drawing/2014/main" id="{2C035C41-C2FB-60FE-A002-DD51B4D2759A}"/>
                  </a:ext>
                </a:extLst>
              </p:cNvPr>
              <p:cNvSpPr>
                <a:spLocks noGrp="1" noRot="1" noChangeAspect="1" noMove="1" noResize="1" noEditPoints="1" noAdjustHandles="1" noChangeArrowheads="1" noChangeShapeType="1" noTextEdit="1"/>
              </p:cNvSpPr>
              <p:nvPr>
                <p:ph idx="1"/>
              </p:nvPr>
            </p:nvSpPr>
            <p:spPr>
              <a:blipFill>
                <a:blip r:embed="rId2"/>
                <a:stretch>
                  <a:fillRect l="-1217" t="-2521" r="-696"/>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441909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000339-1B04-FF3E-31B6-F059B0CF40B1}"/>
              </a:ext>
            </a:extLst>
          </p:cNvPr>
          <p:cNvSpPr>
            <a:spLocks noGrp="1"/>
          </p:cNvSpPr>
          <p:nvPr>
            <p:ph type="title"/>
          </p:nvPr>
        </p:nvSpPr>
        <p:spPr/>
        <p:txBody>
          <a:bodyPr/>
          <a:lstStyle/>
          <a:p>
            <a:r>
              <a:rPr lang="zh-CN" altLang="en-US" dirty="0"/>
              <a:t>微积分算起来太复杂，能不能少一些？</a:t>
            </a:r>
            <a:endParaRPr lang="zh-SG"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83F8F1EB-0D8B-9C09-1EB9-6039E5EB1715}"/>
                  </a:ext>
                </a:extLst>
              </p:cNvPr>
              <p:cNvSpPr>
                <a:spLocks noGrp="1"/>
              </p:cNvSpPr>
              <p:nvPr>
                <p:ph idx="1"/>
              </p:nvPr>
            </p:nvSpPr>
            <p:spPr>
              <a:xfrm>
                <a:off x="838200" y="1825624"/>
                <a:ext cx="10515600" cy="5032375"/>
              </a:xfrm>
            </p:spPr>
            <p:txBody>
              <a:bodyPr/>
              <a:lstStyle/>
              <a:p>
                <a:pPr marL="0" indent="0">
                  <a:buNone/>
                </a:pPr>
                <a:r>
                  <a:rPr lang="zh-CN" altLang="en-US" dirty="0"/>
                  <a:t>能不能避免对时间进行复杂的微积分运算，先转化为一种能够通过简单的代数运算处理的形式，处理完之后再转换回去？</a:t>
                </a:r>
                <a:endParaRPr lang="en-US" altLang="zh-CN" dirty="0"/>
              </a:p>
              <a:p>
                <a:pPr marL="0" indent="0">
                  <a:buNone/>
                </a:pPr>
                <a:r>
                  <a:rPr lang="zh-CN" altLang="en-US" dirty="0"/>
                  <a:t>数学家们告诉我们可以。有一种工具叫“拉普拉斯变换”，可以将求导和卷积转化为加减乘除的运算，再原模原样地转换回去。</a:t>
                </a:r>
                <a:endParaRPr lang="en-US" altLang="zh-CN" dirty="0"/>
              </a:p>
              <a:p>
                <a:pPr marL="0" indent="0">
                  <a:buNone/>
                </a:pPr>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rPr>
                        <m:t>ℒ</m:t>
                      </m:r>
                      <m:r>
                        <a:rPr lang="en-US" altLang="zh-CN" i="1" dirty="0">
                          <a:latin typeface="Cambria Math" panose="02040503050406030204" pitchFamily="18" charset="0"/>
                        </a:rPr>
                        <m:t> </m:t>
                      </m:r>
                      <m:d>
                        <m:dPr>
                          <m:begChr m:val="{"/>
                          <m:endChr m:val="}"/>
                          <m:ctrlPr>
                            <a:rPr lang="en-US" altLang="zh-CN" b="0" i="1" dirty="0" smtClean="0">
                              <a:solidFill>
                                <a:schemeClr val="tx1"/>
                              </a:solidFill>
                              <a:latin typeface="Cambria Math" panose="02040503050406030204" pitchFamily="18" charset="0"/>
                            </a:rPr>
                          </m:ctrlPr>
                        </m:dPr>
                        <m:e>
                          <m:acc>
                            <m:accPr>
                              <m:chr m:val="̇"/>
                              <m:ctrlPr>
                                <a:rPr lang="en-US" altLang="zh-CN" i="1" dirty="0" smtClean="0">
                                  <a:solidFill>
                                    <a:schemeClr val="tx1"/>
                                  </a:solidFill>
                                  <a:latin typeface="Cambria Math" panose="02040503050406030204" pitchFamily="18" charset="0"/>
                                </a:rPr>
                              </m:ctrlPr>
                            </m:accPr>
                            <m:e>
                              <m:r>
                                <a:rPr lang="en-US" altLang="zh-CN" b="0" i="1" dirty="0" smtClean="0">
                                  <a:solidFill>
                                    <a:schemeClr val="tx1"/>
                                  </a:solidFill>
                                  <a:latin typeface="Cambria Math" panose="02040503050406030204" pitchFamily="18" charset="0"/>
                                </a:rPr>
                                <m:t>𝑓</m:t>
                              </m:r>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𝑡</m:t>
                              </m:r>
                              <m:r>
                                <a:rPr lang="en-US" altLang="zh-CN" b="0" i="1" dirty="0" smtClean="0">
                                  <a:solidFill>
                                    <a:schemeClr val="tx1"/>
                                  </a:solidFill>
                                  <a:latin typeface="Cambria Math" panose="02040503050406030204" pitchFamily="18" charset="0"/>
                                </a:rPr>
                                <m:t>)</m:t>
                              </m:r>
                            </m:e>
                          </m:acc>
                        </m:e>
                      </m:d>
                      <m:r>
                        <a:rPr lang="en-US" altLang="zh-CN" b="0" i="0" dirty="0" smtClean="0">
                          <a:solidFill>
                            <a:schemeClr val="tx1"/>
                          </a:solidFill>
                          <a:latin typeface="Cambria Math" panose="02040503050406030204" pitchFamily="18" charset="0"/>
                        </a:rPr>
                        <m:t>=</m:t>
                      </m:r>
                      <m:r>
                        <m:rPr>
                          <m:sty m:val="p"/>
                        </m:rPr>
                        <a:rPr lang="en-US" altLang="zh-CN" b="0" i="0" dirty="0" smtClean="0">
                          <a:solidFill>
                            <a:schemeClr val="tx1"/>
                          </a:solidFill>
                          <a:latin typeface="Cambria Math" panose="02040503050406030204" pitchFamily="18" charset="0"/>
                        </a:rPr>
                        <m:t>s</m:t>
                      </m:r>
                      <m:r>
                        <a:rPr lang="en-US" altLang="zh-CN" i="1" dirty="0">
                          <a:latin typeface="Cambria Math" panose="02040503050406030204" pitchFamily="18" charset="0"/>
                        </a:rPr>
                        <m:t>ℒ</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𝑓</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oMath>
                  </m:oMathPara>
                </a14:m>
                <a:endParaRPr lang="en-US" altLang="zh-CN" b="0" dirty="0"/>
              </a:p>
              <a:p>
                <a:pPr marL="0" indent="0">
                  <a:buNone/>
                </a:pPr>
                <a:endParaRPr lang="en-US" altLang="zh-CN" sz="800" b="0"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ℒ</m:t>
                      </m:r>
                      <m:r>
                        <a:rPr lang="en-US" altLang="zh-CN" i="1" dirty="0" smtClean="0">
                          <a:latin typeface="Cambria Math" panose="02040503050406030204" pitchFamily="18" charset="0"/>
                        </a:rPr>
                        <m:t> </m:t>
                      </m:r>
                      <m:d>
                        <m:dPr>
                          <m:begChr m:val="{"/>
                          <m:endChr m:val="}"/>
                          <m:ctrlPr>
                            <a:rPr lang="en-US" altLang="zh-CN" b="0" i="1" dirty="0" smtClean="0">
                              <a:solidFill>
                                <a:schemeClr val="tx1"/>
                              </a:solidFill>
                              <a:latin typeface="Cambria Math" panose="02040503050406030204" pitchFamily="18" charset="0"/>
                            </a:rPr>
                          </m:ctrlPr>
                        </m:dPr>
                        <m:e>
                          <m:nary>
                            <m:naryPr>
                              <m:ctrlPr>
                                <a:rPr lang="en-US" altLang="zh-CN" b="0" i="1" dirty="0" smtClean="0">
                                  <a:solidFill>
                                    <a:schemeClr val="tx1"/>
                                  </a:solidFill>
                                  <a:latin typeface="Cambria Math" panose="02040503050406030204" pitchFamily="18" charset="0"/>
                                </a:rPr>
                              </m:ctrlPr>
                            </m:naryPr>
                            <m:sub>
                              <m:r>
                                <m:rPr>
                                  <m:brk m:alnAt="23"/>
                                </m:rPr>
                                <a:rPr lang="en-US" altLang="zh-CN" b="0" i="1" dirty="0" smtClean="0">
                                  <a:solidFill>
                                    <a:schemeClr val="tx1"/>
                                  </a:solidFill>
                                  <a:latin typeface="Cambria Math" panose="02040503050406030204" pitchFamily="18" charset="0"/>
                                </a:rPr>
                                <m:t>0</m:t>
                              </m:r>
                            </m:sub>
                            <m:sup>
                              <m:r>
                                <a:rPr lang="en-US" altLang="zh-CN" b="0" i="1" dirty="0" smtClean="0">
                                  <a:solidFill>
                                    <a:schemeClr val="tx1"/>
                                  </a:solidFill>
                                  <a:latin typeface="Cambria Math" panose="02040503050406030204" pitchFamily="18" charset="0"/>
                                </a:rPr>
                                <m:t>𝑡</m:t>
                              </m:r>
                            </m:sup>
                            <m:e>
                              <m:r>
                                <a:rPr lang="en-US" altLang="zh-CN" b="0" i="1" dirty="0" smtClean="0">
                                  <a:solidFill>
                                    <a:schemeClr val="tx1"/>
                                  </a:solidFill>
                                  <a:latin typeface="Cambria Math" panose="02040503050406030204" pitchFamily="18" charset="0"/>
                                </a:rPr>
                                <m:t>𝑓</m:t>
                              </m:r>
                              <m:d>
                                <m:dPr>
                                  <m:ctrlPr>
                                    <a:rPr lang="en-US" altLang="zh-CN" b="0"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𝑥</m:t>
                                  </m:r>
                                </m:e>
                              </m:d>
                              <m:r>
                                <a:rPr lang="en-US" altLang="zh-CN" b="0" i="1" dirty="0" smtClean="0">
                                  <a:solidFill>
                                    <a:schemeClr val="tx1"/>
                                  </a:solidFill>
                                  <a:latin typeface="Cambria Math" panose="02040503050406030204" pitchFamily="18" charset="0"/>
                                </a:rPr>
                                <m:t>𝑑𝑥</m:t>
                              </m:r>
                            </m:e>
                          </m:nary>
                        </m:e>
                      </m:d>
                      <m:r>
                        <a:rPr lang="en-US" altLang="zh-CN" b="0" i="0" dirty="0" smtClean="0">
                          <a:solidFill>
                            <a:schemeClr val="tx1"/>
                          </a:solidFill>
                          <a:latin typeface="Cambria Math" panose="02040503050406030204" pitchFamily="18" charset="0"/>
                        </a:rPr>
                        <m:t>=</m:t>
                      </m:r>
                      <m:f>
                        <m:fPr>
                          <m:ctrlPr>
                            <a:rPr lang="en-US" altLang="zh-CN" b="0" i="1" dirty="0" smtClean="0">
                              <a:solidFill>
                                <a:schemeClr val="tx1"/>
                              </a:solidFill>
                              <a:latin typeface="Cambria Math" panose="02040503050406030204" pitchFamily="18" charset="0"/>
                            </a:rPr>
                          </m:ctrlPr>
                        </m:fPr>
                        <m:num>
                          <m:r>
                            <a:rPr lang="en-US" altLang="zh-CN" i="1" dirty="0">
                              <a:latin typeface="Cambria Math" panose="02040503050406030204" pitchFamily="18" charset="0"/>
                            </a:rPr>
                            <m:t>ℒ</m:t>
                          </m:r>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𝑓</m:t>
                              </m:r>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e>
                          </m:d>
                        </m:num>
                        <m:den>
                          <m:r>
                            <a:rPr lang="en-US" altLang="zh-CN" b="0" i="1" dirty="0" smtClean="0">
                              <a:solidFill>
                                <a:schemeClr val="tx1"/>
                              </a:solidFill>
                              <a:latin typeface="Cambria Math" panose="02040503050406030204" pitchFamily="18" charset="0"/>
                            </a:rPr>
                            <m:t>𝑠</m:t>
                          </m:r>
                        </m:den>
                      </m:f>
                    </m:oMath>
                  </m:oMathPara>
                </a14:m>
                <a:endParaRPr lang="en-US" altLang="zh-CN" b="0" dirty="0"/>
              </a:p>
              <a:p>
                <a:pPr marL="0" indent="0">
                  <a:buNone/>
                </a:pPr>
                <a:endParaRPr lang="en-US" altLang="zh-CN" sz="800" b="0" dirty="0"/>
              </a:p>
              <a:p>
                <a:pPr marL="0" indent="0">
                  <a:buNone/>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ℒ</m:t>
                      </m:r>
                      <m:d>
                        <m:dPr>
                          <m:begChr m:val="{"/>
                          <m:endChr m:val="}"/>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𝑡</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𝑔</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m:t>
                          </m:r>
                        </m:e>
                      </m:d>
                      <m:r>
                        <a:rPr lang="en-US" altLang="zh-CN" b="0" i="1" dirty="0" smtClean="0">
                          <a:latin typeface="Cambria Math" panose="02040503050406030204" pitchFamily="18" charset="0"/>
                        </a:rPr>
                        <m:t>=</m:t>
                      </m:r>
                      <m:r>
                        <a:rPr lang="en-US" altLang="zh-CN" i="1" dirty="0">
                          <a:latin typeface="Cambria Math" panose="02040503050406030204" pitchFamily="18" charset="0"/>
                        </a:rPr>
                        <m:t>ℒ</m:t>
                      </m:r>
                      <m:d>
                        <m:dPr>
                          <m:begChr m:val="{"/>
                          <m:endChr m:val="}"/>
                          <m:ctrlPr>
                            <a:rPr lang="en-US" altLang="zh-CN" i="1" dirty="0">
                              <a:latin typeface="Cambria Math" panose="02040503050406030204" pitchFamily="18" charset="0"/>
                            </a:rPr>
                          </m:ctrlPr>
                        </m:dPr>
                        <m:e>
                          <m:r>
                            <a:rPr lang="en-US" altLang="zh-CN" i="1" dirty="0">
                              <a:latin typeface="Cambria Math" panose="02040503050406030204" pitchFamily="18" charset="0"/>
                            </a:rPr>
                            <m:t>𝑓</m:t>
                          </m:r>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e>
                      </m:d>
                      <m:r>
                        <a:rPr lang="en-US" altLang="zh-CN" i="1" dirty="0">
                          <a:latin typeface="Cambria Math" panose="02040503050406030204" pitchFamily="18" charset="0"/>
                        </a:rPr>
                        <m:t>ℒ</m:t>
                      </m:r>
                      <m:d>
                        <m:dPr>
                          <m:begChr m:val="{"/>
                          <m:endChr m:val="}"/>
                          <m:ctrlPr>
                            <a:rPr lang="en-US" altLang="zh-CN" i="1" dirty="0">
                              <a:latin typeface="Cambria Math" panose="02040503050406030204" pitchFamily="18" charset="0"/>
                            </a:rPr>
                          </m:ctrlPr>
                        </m:dPr>
                        <m:e>
                          <m:r>
                            <a:rPr lang="en-US" altLang="zh-CN" b="0" i="1" dirty="0" smtClean="0">
                              <a:latin typeface="Cambria Math" panose="02040503050406030204" pitchFamily="18" charset="0"/>
                            </a:rPr>
                            <m:t>𝑔</m:t>
                          </m:r>
                          <m:r>
                            <a:rPr lang="en-US" altLang="zh-CN" i="1" dirty="0">
                              <a:latin typeface="Cambria Math" panose="02040503050406030204" pitchFamily="18" charset="0"/>
                            </a:rPr>
                            <m:t>(</m:t>
                          </m:r>
                          <m:r>
                            <a:rPr lang="en-US" altLang="zh-CN" i="1" dirty="0">
                              <a:latin typeface="Cambria Math" panose="02040503050406030204" pitchFamily="18" charset="0"/>
                            </a:rPr>
                            <m:t>𝑡</m:t>
                          </m:r>
                          <m:r>
                            <a:rPr lang="en-US" altLang="zh-CN" i="1" dirty="0">
                              <a:latin typeface="Cambria Math" panose="02040503050406030204" pitchFamily="18" charset="0"/>
                            </a:rPr>
                            <m:t>)</m:t>
                          </m:r>
                        </m:e>
                      </m:d>
                    </m:oMath>
                  </m:oMathPara>
                </a14:m>
                <a:endParaRPr lang="en-US" altLang="zh-CN" b="0" dirty="0"/>
              </a:p>
            </p:txBody>
          </p:sp>
        </mc:Choice>
        <mc:Fallback>
          <p:sp>
            <p:nvSpPr>
              <p:cNvPr id="3" name="内容占位符 2">
                <a:extLst>
                  <a:ext uri="{FF2B5EF4-FFF2-40B4-BE49-F238E27FC236}">
                    <a16:creationId xmlns:a16="http://schemas.microsoft.com/office/drawing/2014/main" id="{83F8F1EB-0D8B-9C09-1EB9-6039E5EB1715}"/>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2179" r="-696"/>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3514853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CBA37F-BC5A-E814-8652-AC322E5F67D1}"/>
              </a:ext>
            </a:extLst>
          </p:cNvPr>
          <p:cNvSpPr>
            <a:spLocks noGrp="1"/>
          </p:cNvSpPr>
          <p:nvPr>
            <p:ph type="title"/>
          </p:nvPr>
        </p:nvSpPr>
        <p:spPr/>
        <p:txBody>
          <a:bodyPr/>
          <a:lstStyle/>
          <a:p>
            <a:r>
              <a:rPr lang="zh-CN" altLang="en-US" dirty="0"/>
              <a:t>借助拉普拉斯变换简化对系统的描述</a:t>
            </a:r>
            <a:endParaRPr lang="zh-SG" altLang="en-US" dirty="0"/>
          </a:p>
        </p:txBody>
      </p:sp>
      <p:sp>
        <p:nvSpPr>
          <p:cNvPr id="3" name="内容占位符 2">
            <a:extLst>
              <a:ext uri="{FF2B5EF4-FFF2-40B4-BE49-F238E27FC236}">
                <a16:creationId xmlns:a16="http://schemas.microsoft.com/office/drawing/2014/main" id="{957E90AC-037B-8DC6-8965-478DAB0E1DBA}"/>
              </a:ext>
            </a:extLst>
          </p:cNvPr>
          <p:cNvSpPr>
            <a:spLocks noGrp="1"/>
          </p:cNvSpPr>
          <p:nvPr>
            <p:ph idx="1"/>
          </p:nvPr>
        </p:nvSpPr>
        <p:spPr/>
        <p:txBody>
          <a:bodyPr/>
          <a:lstStyle/>
          <a:p>
            <a:r>
              <a:rPr lang="zh-CN" altLang="en-US" dirty="0"/>
              <a:t>对微分方程两边作拉氏变换，得到变化后的输入和输出</a:t>
            </a:r>
            <a:r>
              <a:rPr lang="en-US" altLang="zh-CN" dirty="0"/>
              <a:t>U(s)</a:t>
            </a:r>
            <a:r>
              <a:rPr lang="zh-CN" altLang="en-US" dirty="0"/>
              <a:t>和</a:t>
            </a:r>
            <a:r>
              <a:rPr lang="en-US" altLang="zh-CN" dirty="0"/>
              <a:t>Y(s)</a:t>
            </a:r>
          </a:p>
          <a:p>
            <a:r>
              <a:rPr lang="zh-CN" altLang="en-US" dirty="0"/>
              <a:t>将输出的拉氏变换除以输入的拉氏变换，得到的结果</a:t>
            </a:r>
            <a:r>
              <a:rPr lang="en-US" altLang="zh-CN" dirty="0"/>
              <a:t>G(s)</a:t>
            </a:r>
            <a:r>
              <a:rPr lang="zh-CN" altLang="en-US" dirty="0"/>
              <a:t>叫系统的传递函数。</a:t>
            </a:r>
            <a:endParaRPr lang="en-US" altLang="zh-CN" dirty="0"/>
          </a:p>
          <a:p>
            <a:r>
              <a:rPr lang="zh-CN" altLang="en-US" dirty="0"/>
              <a:t>对任意输入作拉氏变换，乘以系统函数，得到输出的拉氏变换</a:t>
            </a:r>
            <a:endParaRPr lang="en-US" altLang="zh-CN" dirty="0"/>
          </a:p>
          <a:p>
            <a:r>
              <a:rPr lang="zh-CN" altLang="en-US" dirty="0"/>
              <a:t>再逆变换回去，就能得到系统的响应。</a:t>
            </a:r>
            <a:endParaRPr lang="en-US" altLang="zh-CN" dirty="0"/>
          </a:p>
          <a:p>
            <a:r>
              <a:rPr lang="zh-CN" altLang="en-US" dirty="0"/>
              <a:t>这个数学工具能够极大地简化运算。在之后的课程中，我们还会见到它的许多美妙性质。</a:t>
            </a:r>
            <a:endParaRPr lang="zh-SG" altLang="en-US" dirty="0"/>
          </a:p>
        </p:txBody>
      </p:sp>
    </p:spTree>
    <p:extLst>
      <p:ext uri="{BB962C8B-B14F-4D97-AF65-F5344CB8AC3E}">
        <p14:creationId xmlns:p14="http://schemas.microsoft.com/office/powerpoint/2010/main" val="2281802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ADF88-CDDD-C9CB-99D3-F244B8F4EE1B}"/>
              </a:ext>
            </a:extLst>
          </p:cNvPr>
          <p:cNvSpPr>
            <a:spLocks noGrp="1"/>
          </p:cNvSpPr>
          <p:nvPr>
            <p:ph type="title"/>
          </p:nvPr>
        </p:nvSpPr>
        <p:spPr>
          <a:xfrm>
            <a:off x="838200" y="0"/>
            <a:ext cx="10515600" cy="1325563"/>
          </a:xfrm>
        </p:spPr>
        <p:txBody>
          <a:bodyPr/>
          <a:lstStyle/>
          <a:p>
            <a:r>
              <a:rPr lang="zh-CN" altLang="en-US" dirty="0"/>
              <a:t>从微分方程到传递函数</a:t>
            </a:r>
            <a:endParaRPr lang="zh-SG"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CEA0F66-5455-C9CC-A254-295C56799759}"/>
                  </a:ext>
                </a:extLst>
              </p:cNvPr>
              <p:cNvSpPr>
                <a:spLocks noGrp="1"/>
              </p:cNvSpPr>
              <p:nvPr>
                <p:ph idx="1"/>
              </p:nvPr>
            </p:nvSpPr>
            <p:spPr>
              <a:xfrm>
                <a:off x="838200" y="1325562"/>
                <a:ext cx="10515600" cy="5532437"/>
              </a:xfrm>
            </p:spPr>
            <p:txBody>
              <a:bodyPr/>
              <a:lstStyle/>
              <a:p>
                <a:r>
                  <a:rPr lang="zh-CN" altLang="en-US" dirty="0">
                    <a:solidFill>
                      <a:schemeClr val="tx1"/>
                    </a:solidFill>
                  </a:rPr>
                  <a:t>已知微分方程</a:t>
                </a:r>
                <a14:m>
                  <m:oMath xmlns:m="http://schemas.openxmlformats.org/officeDocument/2006/math">
                    <m:r>
                      <a:rPr lang="en-US" altLang="zh-CN" i="1" dirty="0" smtClean="0">
                        <a:solidFill>
                          <a:schemeClr val="tx1"/>
                        </a:solidFill>
                        <a:latin typeface="Cambria Math" panose="02040503050406030204" pitchFamily="18" charset="0"/>
                      </a:rPr>
                      <m:t>𝐽</m:t>
                    </m:r>
                    <m:acc>
                      <m:accPr>
                        <m:chr m:val="̇"/>
                        <m:ctrlPr>
                          <a:rPr lang="en-US" altLang="zh-CN" i="1" dirty="0" smtClean="0">
                            <a:solidFill>
                              <a:schemeClr val="tx1"/>
                            </a:solidFill>
                            <a:latin typeface="Cambria Math" panose="02040503050406030204" pitchFamily="18" charset="0"/>
                          </a:rPr>
                        </m:ctrlPr>
                      </m:accPr>
                      <m:e>
                        <m:r>
                          <m:rPr>
                            <m:sty m:val="p"/>
                          </m:rPr>
                          <a:rPr lang="en-US" altLang="zh-CN" i="1"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e>
                    </m:acc>
                    <m:r>
                      <a:rPr lang="en-US" altLang="zh-CN" i="0" dirty="0" smtClean="0">
                        <a:solidFill>
                          <a:schemeClr val="tx1"/>
                        </a:solidFill>
                        <a:latin typeface="Cambria Math" panose="02040503050406030204" pitchFamily="18" charset="0"/>
                      </a:rPr>
                      <m:t>+</m:t>
                    </m:r>
                    <m:r>
                      <a:rPr lang="en-US" altLang="zh-CN" i="1" dirty="0" smtClean="0">
                        <a:solidFill>
                          <a:schemeClr val="tx1"/>
                        </a:solidFill>
                        <a:latin typeface="Cambria Math" panose="02040503050406030204" pitchFamily="18" charset="0"/>
                      </a:rPr>
                      <m:t>𝑏</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𝜔</m:t>
                    </m:r>
                    <m:r>
                      <a:rPr lang="en-US" altLang="zh-CN" b="0" i="0" dirty="0" smtClean="0">
                        <a:solidFill>
                          <a:schemeClr val="tx1"/>
                        </a:solidFill>
                        <a:latin typeface="Cambria Math" panose="02040503050406030204" pitchFamily="18" charset="0"/>
                      </a:rPr>
                      <m:t>=</m:t>
                    </m:r>
                    <m:r>
                      <m:rPr>
                        <m:sty m:val="p"/>
                      </m:rPr>
                      <a:rPr lang="en-US" altLang="zh-CN" i="0" dirty="0" smtClean="0">
                        <a:solidFill>
                          <a:schemeClr val="tx1"/>
                        </a:solidFill>
                        <a:latin typeface="Cambria Math" panose="02040503050406030204" pitchFamily="18" charset="0"/>
                      </a:rPr>
                      <m:t>Δ</m:t>
                    </m:r>
                    <m:r>
                      <a:rPr lang="en-US" altLang="zh-CN" i="1" dirty="0" smtClean="0">
                        <a:solidFill>
                          <a:schemeClr val="tx1"/>
                        </a:solidFill>
                        <a:latin typeface="Cambria Math" panose="02040503050406030204" pitchFamily="18" charset="0"/>
                      </a:rPr>
                      <m:t>𝜏</m:t>
                    </m:r>
                  </m:oMath>
                </a14:m>
                <a:endParaRPr lang="en-US" altLang="zh-CN" dirty="0">
                  <a:solidFill>
                    <a:schemeClr val="tx1"/>
                  </a:solidFill>
                </a:endParaRPr>
              </a:p>
              <a:p>
                <a:pPr marL="0" indent="0">
                  <a:buNone/>
                </a:pPr>
                <a:r>
                  <a:rPr lang="zh-CN" altLang="en-US" dirty="0">
                    <a:solidFill>
                      <a:schemeClr val="tx1"/>
                    </a:solidFill>
                  </a:rPr>
                  <a:t>根据拉氏变换规则得到</a:t>
                </a:r>
                <a14:m>
                  <m:oMath xmlns:m="http://schemas.openxmlformats.org/officeDocument/2006/math">
                    <m:r>
                      <m:rPr>
                        <m:sty m:val="p"/>
                      </m:rPr>
                      <a:rPr lang="en-US" altLang="zh-CN" b="0" i="0" dirty="0" smtClean="0">
                        <a:solidFill>
                          <a:schemeClr val="tx1"/>
                        </a:solidFill>
                        <a:latin typeface="Cambria Math" panose="02040503050406030204" pitchFamily="18" charset="0"/>
                      </a:rPr>
                      <m:t>J</m:t>
                    </m:r>
                    <m:d>
                      <m:dPr>
                        <m:ctrlPr>
                          <a:rPr lang="en-US" altLang="zh-CN" b="0" i="1" dirty="0" smtClean="0">
                            <a:solidFill>
                              <a:schemeClr val="tx1"/>
                            </a:solidFill>
                            <a:latin typeface="Cambria Math" panose="02040503050406030204" pitchFamily="18" charset="0"/>
                          </a:rPr>
                        </m:ctrlPr>
                      </m:dPr>
                      <m:e>
                        <m:r>
                          <m:rPr>
                            <m:sty m:val="p"/>
                          </m:rPr>
                          <a:rPr lang="en-US" altLang="zh-CN" b="0" i="0" dirty="0" smtClean="0">
                            <a:solidFill>
                              <a:schemeClr val="tx1"/>
                            </a:solidFill>
                            <a:latin typeface="Cambria Math" panose="02040503050406030204" pitchFamily="18" charset="0"/>
                          </a:rPr>
                          <m:t>s</m:t>
                        </m:r>
                        <m:r>
                          <m:rPr>
                            <m:sty m:val="p"/>
                          </m:rPr>
                          <a:rPr lang="en-US" altLang="zh-CN" dirty="0" smtClean="0">
                            <a:solidFill>
                              <a:schemeClr val="tx1"/>
                            </a:solidFill>
                            <a:latin typeface="Cambria Math" panose="02040503050406030204" pitchFamily="18" charset="0"/>
                          </a:rPr>
                          <m:t>Δ</m:t>
                        </m:r>
                        <m:r>
                          <a:rPr lang="en-US" altLang="zh-CN" i="1" dirty="0">
                            <a:solidFill>
                              <a:schemeClr val="tx1"/>
                            </a:solidFill>
                            <a:latin typeface="Cambria Math" panose="02040503050406030204" pitchFamily="18" charset="0"/>
                          </a:rPr>
                          <m:t>𝛺</m:t>
                        </m:r>
                        <m:d>
                          <m:dPr>
                            <m:ctrlPr>
                              <a:rPr lang="en-US" altLang="zh-CN" b="0"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𝑠</m:t>
                            </m:r>
                          </m:e>
                        </m:d>
                        <m:r>
                          <a:rPr lang="en-US" altLang="zh-CN" b="0" i="1" dirty="0" smtClean="0">
                            <a:solidFill>
                              <a:schemeClr val="tx1"/>
                            </a:solidFill>
                            <a:latin typeface="Cambria Math" panose="02040503050406030204" pitchFamily="18" charset="0"/>
                          </a:rPr>
                          <m:t>−</m:t>
                        </m:r>
                        <m:r>
                          <m:rPr>
                            <m:sty m:val="p"/>
                          </m:rPr>
                          <a:rPr lang="en-US" altLang="zh-CN" dirty="0">
                            <a:latin typeface="Cambria Math" panose="02040503050406030204" pitchFamily="18" charset="0"/>
                          </a:rPr>
                          <m:t>Δ</m:t>
                        </m:r>
                        <m:r>
                          <a:rPr lang="en-US" altLang="zh-CN" i="1" dirty="0">
                            <a:latin typeface="Cambria Math" panose="02040503050406030204" pitchFamily="18" charset="0"/>
                          </a:rPr>
                          <m:t>𝜔</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d>
                      <m:dPr>
                        <m:ctrlPr>
                          <a:rPr lang="en-US" altLang="zh-CN" b="0" i="1" dirty="0" smtClean="0">
                            <a:latin typeface="Cambria Math" panose="02040503050406030204" pitchFamily="18" charset="0"/>
                          </a:rPr>
                        </m:ctrlPr>
                      </m:dPr>
                      <m:e>
                        <m:r>
                          <m:rPr>
                            <m:sty m:val="p"/>
                          </m:rPr>
                          <a:rPr lang="en-US" altLang="zh-CN" dirty="0">
                            <a:latin typeface="Cambria Math" panose="02040503050406030204" pitchFamily="18" charset="0"/>
                          </a:rPr>
                          <m:t>Δ</m:t>
                        </m:r>
                        <m:r>
                          <a:rPr lang="en-US" altLang="zh-CN" i="1" dirty="0">
                            <a:latin typeface="Cambria Math" panose="02040503050406030204" pitchFamily="18" charset="0"/>
                          </a:rPr>
                          <m:t>𝛺</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𝑠</m:t>
                            </m:r>
                          </m:e>
                        </m:d>
                      </m:e>
                    </m:d>
                    <m:r>
                      <a:rPr lang="en-US" altLang="zh-CN" b="0" i="1" dirty="0" smtClean="0">
                        <a:latin typeface="Cambria Math" panose="02040503050406030204" pitchFamily="18" charset="0"/>
                      </a:rPr>
                      <m:t>=</m:t>
                    </m:r>
                    <m:r>
                      <m:rPr>
                        <m:sty m:val="p"/>
                      </m:rPr>
                      <a:rPr lang="en-US" altLang="zh-CN" dirty="0">
                        <a:latin typeface="Cambria Math" panose="02040503050406030204" pitchFamily="18" charset="0"/>
                      </a:rPr>
                      <m:t>Δ</m:t>
                    </m:r>
                    <m:r>
                      <m:rPr>
                        <m:sty m:val="p"/>
                      </m:rPr>
                      <a:rPr lang="en-US" altLang="zh-CN" b="0" i="0" dirty="0" smtClean="0">
                        <a:latin typeface="Cambria Math" panose="02040503050406030204" pitchFamily="18" charset="0"/>
                      </a:rPr>
                      <m:t>T</m:t>
                    </m:r>
                    <m:r>
                      <a:rPr lang="en-US" altLang="zh-CN" b="0" i="0" dirty="0" smtClean="0">
                        <a:latin typeface="Cambria Math" panose="02040503050406030204" pitchFamily="18" charset="0"/>
                      </a:rPr>
                      <m:t>(</m:t>
                    </m:r>
                    <m:r>
                      <m:rPr>
                        <m:sty m:val="p"/>
                      </m:rPr>
                      <a:rPr lang="en-US" altLang="zh-CN" b="0" i="0" dirty="0" smtClean="0">
                        <a:latin typeface="Cambria Math" panose="02040503050406030204" pitchFamily="18" charset="0"/>
                      </a:rPr>
                      <m:t>s</m:t>
                    </m:r>
                    <m:r>
                      <a:rPr lang="en-US" altLang="zh-CN" b="0" i="0" dirty="0" smtClean="0">
                        <a:latin typeface="Cambria Math" panose="02040503050406030204" pitchFamily="18" charset="0"/>
                      </a:rPr>
                      <m:t>)</m:t>
                    </m:r>
                  </m:oMath>
                </a14:m>
                <a:endParaRPr lang="en-US" altLang="zh-CN" dirty="0">
                  <a:solidFill>
                    <a:schemeClr val="tx1"/>
                  </a:solidFill>
                </a:endParaRPr>
              </a:p>
              <a:p>
                <a:pPr marL="0" indent="0">
                  <a:buNone/>
                </a:pPr>
                <a:r>
                  <a:rPr lang="zh-CN" altLang="en-US" dirty="0"/>
                  <a:t>假设初始角速度为</a:t>
                </a:r>
                <a:r>
                  <a:rPr lang="en-US" altLang="zh-CN" dirty="0"/>
                  <a:t>0</a:t>
                </a:r>
                <a:r>
                  <a:rPr lang="zh-CN" altLang="en-US" dirty="0"/>
                  <a:t>，</a:t>
                </a:r>
                <a:r>
                  <a:rPr lang="en-US" altLang="zh-CN" dirty="0"/>
                  <a:t> </a:t>
                </a:r>
                <a14:m>
                  <m:oMath xmlns:m="http://schemas.openxmlformats.org/officeDocument/2006/math">
                    <m:r>
                      <m:rPr>
                        <m:sty m:val="p"/>
                      </m:rPr>
                      <a:rPr lang="en-US" altLang="zh-CN" dirty="0">
                        <a:latin typeface="Cambria Math" panose="02040503050406030204" pitchFamily="18" charset="0"/>
                      </a:rPr>
                      <m:t>Δ</m:t>
                    </m:r>
                    <m:r>
                      <a:rPr lang="en-US" altLang="zh-CN" i="1" dirty="0">
                        <a:latin typeface="Cambria Math" panose="02040503050406030204" pitchFamily="18" charset="0"/>
                      </a:rPr>
                      <m:t>𝜔</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0</m:t>
                        </m:r>
                      </m:e>
                    </m:d>
                    <m:r>
                      <a:rPr lang="en-US" altLang="zh-CN" b="0" i="1" dirty="0" smtClean="0">
                        <a:latin typeface="Cambria Math" panose="02040503050406030204" pitchFamily="18" charset="0"/>
                      </a:rPr>
                      <m:t>=0</m:t>
                    </m:r>
                    <m:r>
                      <a:rPr lang="zh-CN" altLang="en-US" i="1" dirty="0">
                        <a:latin typeface="Cambria Math" panose="02040503050406030204" pitchFamily="18" charset="0"/>
                      </a:rPr>
                      <m:t>，</m:t>
                    </m:r>
                  </m:oMath>
                </a14:m>
                <a:r>
                  <a:rPr lang="zh-CN" altLang="en-US" dirty="0"/>
                  <a:t>则</a:t>
                </a:r>
                <a14:m>
                  <m:oMath xmlns:m="http://schemas.openxmlformats.org/officeDocument/2006/math">
                    <m:d>
                      <m:dPr>
                        <m:ctrlPr>
                          <a:rPr lang="en-US" altLang="zh-SG" b="0" i="1" dirty="0" smtClean="0">
                            <a:latin typeface="Cambria Math" panose="02040503050406030204" pitchFamily="18" charset="0"/>
                          </a:rPr>
                        </m:ctrlPr>
                      </m:dPr>
                      <m:e>
                        <m:r>
                          <a:rPr lang="zh-SG" altLang="en-US" i="1" dirty="0" smtClean="0">
                            <a:latin typeface="Cambria Math" panose="02040503050406030204" pitchFamily="18" charset="0"/>
                          </a:rPr>
                          <m:t>𝐽</m:t>
                        </m:r>
                        <m:r>
                          <m:rPr>
                            <m:sty m:val="p"/>
                          </m:rPr>
                          <a:rPr lang="en-US" altLang="zh-CN" i="1" dirty="0">
                            <a:latin typeface="Cambria Math" panose="02040503050406030204" pitchFamily="18" charset="0"/>
                          </a:rPr>
                          <m:t>s</m:t>
                        </m:r>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𝑏</m:t>
                        </m:r>
                      </m:e>
                    </m:d>
                    <m:r>
                      <m:rPr>
                        <m:sty m:val="p"/>
                      </m:rPr>
                      <a:rPr lang="en-US" altLang="zh-CN" dirty="0">
                        <a:latin typeface="Cambria Math" panose="02040503050406030204" pitchFamily="18" charset="0"/>
                      </a:rPr>
                      <m:t>Δ</m:t>
                    </m:r>
                    <m:r>
                      <a:rPr lang="en-US" altLang="zh-CN" i="1" dirty="0">
                        <a:latin typeface="Cambria Math" panose="02040503050406030204" pitchFamily="18" charset="0"/>
                      </a:rPr>
                      <m:t>𝛺</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𝑠</m:t>
                        </m:r>
                      </m:e>
                    </m:d>
                    <m:r>
                      <a:rPr lang="en-US" altLang="zh-CN" b="0" i="1" dirty="0" smtClean="0">
                        <a:latin typeface="Cambria Math" panose="02040503050406030204" pitchFamily="18" charset="0"/>
                      </a:rPr>
                      <m:t>=</m:t>
                    </m:r>
                    <m:r>
                      <m:rPr>
                        <m:sty m:val="p"/>
                      </m:rPr>
                      <a:rPr lang="en-US" altLang="zh-CN" dirty="0">
                        <a:latin typeface="Cambria Math" panose="02040503050406030204" pitchFamily="18" charset="0"/>
                      </a:rPr>
                      <m:t>ΔT</m:t>
                    </m:r>
                    <m:r>
                      <a:rPr lang="en-US" altLang="zh-CN" dirty="0">
                        <a:latin typeface="Cambria Math" panose="02040503050406030204" pitchFamily="18" charset="0"/>
                      </a:rPr>
                      <m:t>(</m:t>
                    </m:r>
                    <m:r>
                      <m:rPr>
                        <m:sty m:val="p"/>
                      </m:rPr>
                      <a:rPr lang="en-US" altLang="zh-CN" dirty="0">
                        <a:latin typeface="Cambria Math" panose="02040503050406030204" pitchFamily="18" charset="0"/>
                      </a:rPr>
                      <m:t>s</m:t>
                    </m:r>
                    <m:r>
                      <a:rPr lang="en-US" altLang="zh-CN" dirty="0">
                        <a:latin typeface="Cambria Math" panose="02040503050406030204" pitchFamily="18" charset="0"/>
                      </a:rPr>
                      <m:t>)</m:t>
                    </m:r>
                  </m:oMath>
                </a14:m>
                <a:endParaRPr lang="en-US" altLang="zh-SG" dirty="0"/>
              </a:p>
              <a:p>
                <a:pPr marL="0" indent="0">
                  <a:buNone/>
                </a:pPr>
                <a:r>
                  <a:rPr lang="zh-CN" altLang="en-US" dirty="0"/>
                  <a:t>得到传递函数</a:t>
                </a:r>
                <a14:m>
                  <m:oMath xmlns:m="http://schemas.openxmlformats.org/officeDocument/2006/math">
                    <m:r>
                      <a:rPr lang="zh-SG" altLang="en-US" i="1" dirty="0" smtClean="0">
                        <a:latin typeface="Cambria Math" panose="02040503050406030204" pitchFamily="18" charset="0"/>
                      </a:rPr>
                      <m:t>𝐺</m:t>
                    </m:r>
                    <m:d>
                      <m:dPr>
                        <m:ctrlPr>
                          <a:rPr lang="en-US" altLang="zh-SG" b="0" i="1" dirty="0" smtClean="0">
                            <a:latin typeface="Cambria Math" panose="02040503050406030204" pitchFamily="18" charset="0"/>
                          </a:rPr>
                        </m:ctrlPr>
                      </m:dPr>
                      <m:e>
                        <m:r>
                          <a:rPr lang="en-US" altLang="zh-SG" b="0" i="1" dirty="0" smtClean="0">
                            <a:latin typeface="Cambria Math" panose="02040503050406030204" pitchFamily="18" charset="0"/>
                          </a:rPr>
                          <m:t>𝑠</m:t>
                        </m:r>
                      </m:e>
                    </m:d>
                    <m:r>
                      <a:rPr lang="en-US" altLang="zh-SG" b="0" i="1" dirty="0" smtClean="0">
                        <a:latin typeface="Cambria Math" panose="02040503050406030204" pitchFamily="18" charset="0"/>
                      </a:rPr>
                      <m:t>=</m:t>
                    </m:r>
                    <m:f>
                      <m:fPr>
                        <m:ctrlPr>
                          <a:rPr lang="en-US" altLang="zh-SG" b="0" i="1" dirty="0" smtClean="0">
                            <a:latin typeface="Cambria Math" panose="02040503050406030204" pitchFamily="18" charset="0"/>
                          </a:rPr>
                        </m:ctrlPr>
                      </m:fPr>
                      <m:num>
                        <m:r>
                          <m:rPr>
                            <m:sty m:val="p"/>
                          </m:rPr>
                          <a:rPr lang="en-US" altLang="zh-CN" dirty="0">
                            <a:latin typeface="Cambria Math" panose="02040503050406030204" pitchFamily="18" charset="0"/>
                          </a:rPr>
                          <m:t>Δ</m:t>
                        </m:r>
                        <m:r>
                          <a:rPr lang="en-US" altLang="zh-CN" i="1" dirty="0">
                            <a:latin typeface="Cambria Math" panose="02040503050406030204" pitchFamily="18" charset="0"/>
                          </a:rPr>
                          <m:t>𝛺</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𝑠</m:t>
                            </m:r>
                          </m:e>
                        </m:d>
                      </m:num>
                      <m:den>
                        <m:r>
                          <m:rPr>
                            <m:sty m:val="p"/>
                          </m:rPr>
                          <a:rPr lang="en-US" altLang="zh-CN" dirty="0">
                            <a:latin typeface="Cambria Math" panose="02040503050406030204" pitchFamily="18" charset="0"/>
                          </a:rPr>
                          <m:t>ΔT</m:t>
                        </m:r>
                        <m:r>
                          <a:rPr lang="en-US" altLang="zh-CN" dirty="0">
                            <a:latin typeface="Cambria Math" panose="02040503050406030204" pitchFamily="18" charset="0"/>
                          </a:rPr>
                          <m:t>(</m:t>
                        </m:r>
                        <m:r>
                          <m:rPr>
                            <m:sty m:val="p"/>
                          </m:rPr>
                          <a:rPr lang="en-US" altLang="zh-CN" dirty="0">
                            <a:latin typeface="Cambria Math" panose="02040503050406030204" pitchFamily="18" charset="0"/>
                          </a:rPr>
                          <m:t>s</m:t>
                        </m:r>
                        <m:r>
                          <a:rPr lang="en-US" altLang="zh-CN" dirty="0">
                            <a:latin typeface="Cambria Math" panose="02040503050406030204" pitchFamily="18" charset="0"/>
                          </a:rPr>
                          <m:t>)</m:t>
                        </m:r>
                      </m:den>
                    </m:f>
                    <m:r>
                      <a:rPr lang="en-US" altLang="zh-SG" b="0" i="0" dirty="0" smtClean="0">
                        <a:latin typeface="Cambria Math" panose="02040503050406030204" pitchFamily="18" charset="0"/>
                      </a:rPr>
                      <m:t>=</m:t>
                    </m:r>
                    <m:f>
                      <m:fPr>
                        <m:ctrlPr>
                          <a:rPr lang="en-US" altLang="zh-SG" b="0" i="1" dirty="0" smtClean="0">
                            <a:latin typeface="Cambria Math" panose="02040503050406030204" pitchFamily="18" charset="0"/>
                          </a:rPr>
                        </m:ctrlPr>
                      </m:fPr>
                      <m:num>
                        <m:r>
                          <a:rPr lang="en-US" altLang="zh-SG" b="0" i="1" dirty="0" smtClean="0">
                            <a:latin typeface="Cambria Math" panose="02040503050406030204" pitchFamily="18" charset="0"/>
                          </a:rPr>
                          <m:t>1</m:t>
                        </m:r>
                      </m:num>
                      <m:den>
                        <m:r>
                          <a:rPr lang="en-US" altLang="zh-SG" b="0" i="1" dirty="0" smtClean="0">
                            <a:latin typeface="Cambria Math" panose="02040503050406030204" pitchFamily="18" charset="0"/>
                          </a:rPr>
                          <m:t>𝐽𝑠</m:t>
                        </m:r>
                        <m:r>
                          <a:rPr lang="en-US" altLang="zh-SG" b="0" i="1" dirty="0" smtClean="0">
                            <a:latin typeface="Cambria Math" panose="02040503050406030204" pitchFamily="18" charset="0"/>
                          </a:rPr>
                          <m:t>+</m:t>
                        </m:r>
                        <m:r>
                          <a:rPr lang="en-US" altLang="zh-SG" b="0" i="1" dirty="0" smtClean="0">
                            <a:latin typeface="Cambria Math" panose="02040503050406030204" pitchFamily="18" charset="0"/>
                          </a:rPr>
                          <m:t>𝑏</m:t>
                        </m:r>
                      </m:den>
                    </m:f>
                  </m:oMath>
                </a14:m>
                <a:endParaRPr lang="en-US" altLang="zh-SG" b="0" i="1" dirty="0">
                  <a:latin typeface="Cambria Math" panose="02040503050406030204" pitchFamily="18" charset="0"/>
                </a:endParaRPr>
              </a:p>
              <a:p>
                <a:pPr marL="0" indent="0">
                  <a:buNone/>
                </a:pPr>
                <a:r>
                  <a:rPr lang="zh-CN" altLang="en-US" dirty="0"/>
                  <a:t>代入一阶系统标准方程</a:t>
                </a:r>
                <a14:m>
                  <m:oMath xmlns:m="http://schemas.openxmlformats.org/officeDocument/2006/math">
                    <m:f>
                      <m:fPr>
                        <m:ctrlPr>
                          <a:rPr lang="en-US" altLang="zh-SG" b="0" i="1" dirty="0" smtClean="0">
                            <a:latin typeface="Cambria Math" panose="02040503050406030204" pitchFamily="18" charset="0"/>
                          </a:rPr>
                        </m:ctrlPr>
                      </m:fPr>
                      <m:num>
                        <m:r>
                          <a:rPr lang="en-US" altLang="zh-SG" b="0" i="1" dirty="0" smtClean="0">
                            <a:latin typeface="Cambria Math" panose="02040503050406030204" pitchFamily="18" charset="0"/>
                          </a:rPr>
                          <m:t>𝐾</m:t>
                        </m:r>
                      </m:num>
                      <m:den>
                        <m:r>
                          <a:rPr lang="en-US" altLang="zh-SG" b="0" i="1" dirty="0" smtClean="0">
                            <a:latin typeface="Cambria Math" panose="02040503050406030204" pitchFamily="18" charset="0"/>
                          </a:rPr>
                          <m:t>𝑇𝑠</m:t>
                        </m:r>
                        <m:r>
                          <a:rPr lang="en-US" altLang="zh-SG" b="0" i="1" dirty="0" smtClean="0">
                            <a:latin typeface="Cambria Math" panose="02040503050406030204" pitchFamily="18" charset="0"/>
                          </a:rPr>
                          <m:t>+1</m:t>
                        </m:r>
                      </m:den>
                    </m:f>
                  </m:oMath>
                </a14:m>
                <a:r>
                  <a:rPr lang="zh-CN" altLang="en-US" dirty="0"/>
                  <a:t>，此时</a:t>
                </a:r>
                <a14:m>
                  <m:oMath xmlns:m="http://schemas.openxmlformats.org/officeDocument/2006/math">
                    <m:r>
                      <m:rPr>
                        <m:sty m:val="p"/>
                      </m:rPr>
                      <a:rPr lang="en-US" altLang="zh-CN" b="0" i="1" dirty="0">
                        <a:latin typeface="Cambria Math" panose="02040503050406030204" pitchFamily="18" charset="0"/>
                      </a:rPr>
                      <m:t>K</m:t>
                    </m:r>
                    <m:r>
                      <a:rPr lang="en-US" altLang="zh-SG" b="0" i="0" dirty="0" smtClean="0">
                        <a:latin typeface="Cambria Math" panose="02040503050406030204" pitchFamily="18" charset="0"/>
                      </a:rPr>
                      <m:t>=</m:t>
                    </m:r>
                    <m:f>
                      <m:fPr>
                        <m:ctrlPr>
                          <a:rPr lang="en-US" altLang="zh-SG" i="1" dirty="0">
                            <a:latin typeface="Cambria Math" panose="02040503050406030204" pitchFamily="18" charset="0"/>
                          </a:rPr>
                        </m:ctrlPr>
                      </m:fPr>
                      <m:num>
                        <m:r>
                          <a:rPr lang="en-US" altLang="zh-SG" i="1" dirty="0">
                            <a:latin typeface="Cambria Math" panose="02040503050406030204" pitchFamily="18" charset="0"/>
                          </a:rPr>
                          <m:t>1</m:t>
                        </m:r>
                      </m:num>
                      <m:den>
                        <m:r>
                          <a:rPr lang="en-US" altLang="zh-SG" i="1" dirty="0">
                            <a:latin typeface="Cambria Math" panose="02040503050406030204" pitchFamily="18" charset="0"/>
                          </a:rPr>
                          <m:t>𝑏</m:t>
                        </m:r>
                      </m:den>
                    </m:f>
                  </m:oMath>
                </a14:m>
                <a:r>
                  <a:rPr lang="zh-CN" altLang="en-US" dirty="0"/>
                  <a:t>，</a:t>
                </a:r>
                <a:r>
                  <a:rPr lang="en-US" altLang="zh-SG" dirty="0"/>
                  <a:t> </a:t>
                </a:r>
                <a14:m>
                  <m:oMath xmlns:m="http://schemas.openxmlformats.org/officeDocument/2006/math">
                    <m:r>
                      <m:rPr>
                        <m:sty m:val="p"/>
                      </m:rPr>
                      <a:rPr lang="en-US" altLang="zh-CN" i="1" dirty="0" smtClean="0">
                        <a:latin typeface="Cambria Math" panose="02040503050406030204" pitchFamily="18" charset="0"/>
                      </a:rPr>
                      <m:t>T</m:t>
                    </m:r>
                    <m:r>
                      <a:rPr lang="en-US" altLang="zh-CN" b="0" i="1" dirty="0" smtClean="0">
                        <a:latin typeface="Cambria Math" panose="02040503050406030204" pitchFamily="18" charset="0"/>
                      </a:rPr>
                      <m:t>=</m:t>
                    </m:r>
                    <m:f>
                      <m:fPr>
                        <m:ctrlPr>
                          <a:rPr lang="en-US" altLang="zh-SG" i="1" dirty="0">
                            <a:latin typeface="Cambria Math" panose="02040503050406030204" pitchFamily="18" charset="0"/>
                          </a:rPr>
                        </m:ctrlPr>
                      </m:fPr>
                      <m:num>
                        <m:r>
                          <a:rPr lang="en-US" altLang="zh-SG" b="0" i="1" dirty="0" smtClean="0">
                            <a:latin typeface="Cambria Math" panose="02040503050406030204" pitchFamily="18" charset="0"/>
                          </a:rPr>
                          <m:t>𝐽</m:t>
                        </m:r>
                      </m:num>
                      <m:den>
                        <m:r>
                          <a:rPr lang="en-US" altLang="zh-SG" b="0" i="1" dirty="0" smtClean="0">
                            <a:latin typeface="Cambria Math" panose="02040503050406030204" pitchFamily="18" charset="0"/>
                          </a:rPr>
                          <m:t>𝑏</m:t>
                        </m:r>
                      </m:den>
                    </m:f>
                  </m:oMath>
                </a14:m>
                <a:endParaRPr lang="en-US" altLang="zh-SG" dirty="0"/>
              </a:p>
              <a:p>
                <a:pPr marL="0" indent="0">
                  <a:buNone/>
                </a:pPr>
                <a:r>
                  <a:rPr lang="en-US" altLang="zh-SG" dirty="0"/>
                  <a:t>K</a:t>
                </a:r>
                <a:r>
                  <a:rPr lang="zh-CN" altLang="en-US" dirty="0"/>
                  <a:t>的单位是</a:t>
                </a:r>
                <a:r>
                  <a:rPr lang="en-US" altLang="zh-CN" dirty="0"/>
                  <a:t>(rad/s)/(Nm)</a:t>
                </a:r>
                <a:r>
                  <a:rPr lang="zh-CN" altLang="en-US" dirty="0"/>
                  <a:t>，是增益</a:t>
                </a:r>
                <a:endParaRPr lang="en-US" altLang="zh-CN" dirty="0"/>
              </a:p>
              <a:p>
                <a:pPr marL="0" indent="0">
                  <a:buNone/>
                </a:pPr>
                <a:r>
                  <a:rPr lang="en-US" altLang="zh-CN" dirty="0"/>
                  <a:t>T</a:t>
                </a:r>
                <a:r>
                  <a:rPr lang="zh-CN" altLang="en-US" dirty="0"/>
                  <a:t>的单位是</a:t>
                </a:r>
                <a14:m>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𝑁𝑚</m:t>
                        </m:r>
                        <m:r>
                          <a:rPr lang="en-US" altLang="zh-CN" b="0" i="1" smtClean="0">
                            <a:latin typeface="Cambria Math" panose="02040503050406030204" pitchFamily="18" charset="0"/>
                          </a:rPr>
                          <m:t>)/(</m:t>
                        </m:r>
                        <m:r>
                          <a:rPr lang="en-US" altLang="zh-CN" b="0" i="1" smtClean="0">
                            <a:latin typeface="Cambria Math" panose="02040503050406030204" pitchFamily="18" charset="0"/>
                          </a:rPr>
                          <m:t>𝑟𝑎𝑑</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𝑠</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num>
                      <m:den>
                        <m:r>
                          <a:rPr lang="en-US" altLang="zh-CN" b="0" i="1" smtClean="0">
                            <a:latin typeface="Cambria Math" panose="02040503050406030204" pitchFamily="18" charset="0"/>
                          </a:rPr>
                          <m:t>(</m:t>
                        </m:r>
                        <m:r>
                          <a:rPr lang="en-US" altLang="zh-CN" b="0" i="1" smtClean="0">
                            <a:latin typeface="Cambria Math" panose="02040503050406030204" pitchFamily="18" charset="0"/>
                          </a:rPr>
                          <m:t>𝑁𝑚</m:t>
                        </m:r>
                        <m:r>
                          <a:rPr lang="en-US" altLang="zh-CN" b="0" i="1" smtClean="0">
                            <a:latin typeface="Cambria Math" panose="02040503050406030204" pitchFamily="18" charset="0"/>
                          </a:rPr>
                          <m:t>)/(</m:t>
                        </m:r>
                        <m:r>
                          <a:rPr lang="en-US" altLang="zh-CN" b="0" i="1" smtClean="0">
                            <a:latin typeface="Cambria Math" panose="02040503050406030204" pitchFamily="18" charset="0"/>
                          </a:rPr>
                          <m:t>𝑟𝑎𝑑</m:t>
                        </m:r>
                        <m:r>
                          <a:rPr lang="en-US" altLang="zh-CN" b="0" i="1" smtClean="0">
                            <a:latin typeface="Cambria Math" panose="02040503050406030204" pitchFamily="18" charset="0"/>
                          </a:rPr>
                          <m:t>/</m:t>
                        </m:r>
                        <m:r>
                          <a:rPr lang="en-US" altLang="zh-CN" b="0" i="1" smtClean="0">
                            <a:latin typeface="Cambria Math" panose="02040503050406030204" pitchFamily="18" charset="0"/>
                          </a:rPr>
                          <m:t>𝑠</m:t>
                        </m:r>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oMath>
                </a14:m>
                <a:r>
                  <a:rPr lang="zh-CN" altLang="en-US" dirty="0"/>
                  <a:t>秒，称时间常数</a:t>
                </a:r>
                <a:endParaRPr lang="en-US" altLang="zh-CN" dirty="0"/>
              </a:p>
              <a:p>
                <a:r>
                  <a:rPr lang="zh-CN" altLang="en-US" dirty="0"/>
                  <a:t>阶跃输入</a:t>
                </a:r>
                <a14:m>
                  <m:oMath xmlns:m="http://schemas.openxmlformats.org/officeDocument/2006/math">
                    <m:r>
                      <m:rPr>
                        <m:sty m:val="p"/>
                      </m:rPr>
                      <a:rPr lang="en-US" altLang="zh-CN" i="0" dirty="0" smtClean="0">
                        <a:solidFill>
                          <a:schemeClr val="tx1"/>
                        </a:solidFill>
                        <a:latin typeface="Cambria Math" panose="02040503050406030204" pitchFamily="18" charset="0"/>
                      </a:rPr>
                      <m:t>Δ</m:t>
                    </m:r>
                    <m:sSub>
                      <m:sSubPr>
                        <m:ctrlPr>
                          <a:rPr lang="en-US" altLang="zh-CN" i="1" dirty="0" smtClean="0">
                            <a:solidFill>
                              <a:schemeClr val="tx1"/>
                            </a:solidFill>
                            <a:latin typeface="Cambria Math" panose="02040503050406030204" pitchFamily="18" charset="0"/>
                          </a:rPr>
                        </m:ctrlPr>
                      </m:sSubPr>
                      <m:e>
                        <m:r>
                          <a:rPr lang="en-US" altLang="zh-CN" i="1" dirty="0">
                            <a:latin typeface="Cambria Math" panose="02040503050406030204" pitchFamily="18" charset="0"/>
                          </a:rPr>
                          <m:t>𝜏</m:t>
                        </m:r>
                      </m:e>
                      <m:sub>
                        <m:r>
                          <a:rPr lang="en-US" altLang="zh-CN" b="0" i="1" dirty="0" smtClean="0">
                            <a:solidFill>
                              <a:schemeClr val="tx1"/>
                            </a:solidFill>
                            <a:latin typeface="Cambria Math" panose="02040503050406030204" pitchFamily="18" charset="0"/>
                          </a:rPr>
                          <m:t>0</m:t>
                        </m:r>
                      </m:sub>
                    </m:sSub>
                  </m:oMath>
                </a14:m>
                <a:r>
                  <a:rPr lang="zh-CN" altLang="en-US" dirty="0"/>
                  <a:t>，计算得响应</a:t>
                </a:r>
                <a14:m>
                  <m:oMath xmlns:m="http://schemas.openxmlformats.org/officeDocument/2006/math">
                    <m:f>
                      <m:fPr>
                        <m:ctrlPr>
                          <a:rPr lang="zh-CN" altLang="en-US" i="1" smtClean="0">
                            <a:solidFill>
                              <a:srgbClr val="836967"/>
                            </a:solidFill>
                            <a:latin typeface="Cambria Math" panose="02040503050406030204" pitchFamily="18" charset="0"/>
                          </a:rPr>
                        </m:ctrlPr>
                      </m:fPr>
                      <m:num>
                        <m:r>
                          <m:rPr>
                            <m:sty m:val="p"/>
                          </m:rPr>
                          <a:rPr lang="zh-CN" altLang="en-US" i="1" smtClean="0">
                            <a:latin typeface="Cambria Math" panose="02040503050406030204" pitchFamily="18" charset="0"/>
                          </a:rPr>
                          <m:t>Δ</m:t>
                        </m:r>
                        <m:sSub>
                          <m:sSubPr>
                            <m:ctrlPr>
                              <a:rPr lang="zh-CN" altLang="en-US" i="1" smtClean="0">
                                <a:solidFill>
                                  <a:srgbClr val="836967"/>
                                </a:solidFill>
                                <a:latin typeface="Cambria Math" panose="02040503050406030204" pitchFamily="18" charset="0"/>
                              </a:rPr>
                            </m:ctrlPr>
                          </m:sSubPr>
                          <m:e>
                            <m:r>
                              <a:rPr lang="zh-CN" altLang="en-US" i="1" smtClean="0">
                                <a:latin typeface="Cambria Math" panose="02040503050406030204" pitchFamily="18" charset="0"/>
                              </a:rPr>
                              <m:t>𝜏</m:t>
                            </m:r>
                          </m:e>
                          <m:sub>
                            <m:r>
                              <a:rPr lang="zh-CN" altLang="en-US" i="1" smtClean="0">
                                <a:latin typeface="Cambria Math" panose="02040503050406030204" pitchFamily="18" charset="0"/>
                              </a:rPr>
                              <m:t>0</m:t>
                            </m:r>
                          </m:sub>
                        </m:sSub>
                      </m:num>
                      <m:den>
                        <m:r>
                          <a:rPr lang="zh-CN" altLang="en-US" i="1" smtClean="0">
                            <a:latin typeface="Cambria Math" panose="02040503050406030204" pitchFamily="18" charset="0"/>
                          </a:rPr>
                          <m:t>𝑏</m:t>
                        </m:r>
                      </m:den>
                    </m:f>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𝑡</m:t>
                                </m:r>
                              </m:num>
                              <m:den>
                                <m:r>
                                  <a:rPr lang="en-US" altLang="zh-CN" b="0" i="1" smtClean="0">
                                    <a:latin typeface="Cambria Math" panose="02040503050406030204" pitchFamily="18" charset="0"/>
                                  </a:rPr>
                                  <m:t>𝑇</m:t>
                                </m:r>
                              </m:den>
                            </m:f>
                          </m:sup>
                        </m:sSup>
                      </m:e>
                    </m:d>
                  </m:oMath>
                </a14:m>
                <a:endParaRPr lang="en-US" altLang="zh-CN" b="0" dirty="0"/>
              </a:p>
              <a:p>
                <a:pPr marL="0" indent="0">
                  <a:buNone/>
                </a:pPr>
                <a:r>
                  <a:rPr lang="zh-CN" altLang="en-US" dirty="0"/>
                  <a:t>随时间指数衰减，</a:t>
                </a:r>
                <a:r>
                  <a:rPr lang="en-US" altLang="zh-CN" dirty="0"/>
                  <a:t>t=T</a:t>
                </a:r>
                <a:r>
                  <a:rPr lang="zh-CN" altLang="en-US" dirty="0"/>
                  <a:t>时衰减到约</a:t>
                </a:r>
                <a:r>
                  <a:rPr lang="en-US" altLang="zh-CN" dirty="0"/>
                  <a:t>63%</a:t>
                </a:r>
                <a:r>
                  <a:rPr lang="zh-CN" altLang="en-US" dirty="0"/>
                  <a:t>，</a:t>
                </a:r>
                <a:r>
                  <a:rPr lang="en-US" altLang="zh-CN" dirty="0"/>
                  <a:t>t=4T</a:t>
                </a:r>
                <a:r>
                  <a:rPr lang="zh-CN" altLang="en-US" dirty="0"/>
                  <a:t>时衰减到约</a:t>
                </a:r>
                <a:r>
                  <a:rPr lang="en-US" altLang="zh-CN" dirty="0"/>
                  <a:t>98%</a:t>
                </a:r>
                <a:endParaRPr lang="zh-SG" altLang="en-US" dirty="0"/>
              </a:p>
            </p:txBody>
          </p:sp>
        </mc:Choice>
        <mc:Fallback xmlns="">
          <p:sp>
            <p:nvSpPr>
              <p:cNvPr id="3" name="内容占位符 2">
                <a:extLst>
                  <a:ext uri="{FF2B5EF4-FFF2-40B4-BE49-F238E27FC236}">
                    <a16:creationId xmlns:a16="http://schemas.microsoft.com/office/drawing/2014/main" id="{6CEA0F66-5455-C9CC-A254-295C56799759}"/>
                  </a:ext>
                </a:extLst>
              </p:cNvPr>
              <p:cNvSpPr>
                <a:spLocks noGrp="1" noRot="1" noChangeAspect="1" noMove="1" noResize="1" noEditPoints="1" noAdjustHandles="1" noChangeArrowheads="1" noChangeShapeType="1" noTextEdit="1"/>
              </p:cNvSpPr>
              <p:nvPr>
                <p:ph idx="1"/>
              </p:nvPr>
            </p:nvSpPr>
            <p:spPr>
              <a:xfrm>
                <a:off x="838200" y="1325562"/>
                <a:ext cx="10515600" cy="5532437"/>
              </a:xfrm>
              <a:blipFill>
                <a:blip r:embed="rId2"/>
                <a:stretch>
                  <a:fillRect l="-1217" t="-1652" b="-2974"/>
                </a:stretch>
              </a:blipFill>
            </p:spPr>
            <p:txBody>
              <a:bodyPr/>
              <a:lstStyle/>
              <a:p>
                <a:r>
                  <a:rPr lang="zh-SG" altLang="en-US">
                    <a:noFill/>
                  </a:rPr>
                  <a:t> </a:t>
                </a:r>
              </a:p>
            </p:txBody>
          </p:sp>
        </mc:Fallback>
      </mc:AlternateContent>
    </p:spTree>
    <p:extLst>
      <p:ext uri="{BB962C8B-B14F-4D97-AF65-F5344CB8AC3E}">
        <p14:creationId xmlns:p14="http://schemas.microsoft.com/office/powerpoint/2010/main" val="24325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15E33-0222-98F7-6539-E8D86FCAD373}"/>
              </a:ext>
            </a:extLst>
          </p:cNvPr>
          <p:cNvSpPr>
            <a:spLocks noGrp="1"/>
          </p:cNvSpPr>
          <p:nvPr>
            <p:ph type="title"/>
          </p:nvPr>
        </p:nvSpPr>
        <p:spPr/>
        <p:txBody>
          <a:bodyPr/>
          <a:lstStyle/>
          <a:p>
            <a:r>
              <a:rPr lang="zh-CN" altLang="en-US" dirty="0"/>
              <a:t>二阶系统模型</a:t>
            </a:r>
            <a:endParaRPr lang="zh-SG" altLang="en-US" dirty="0"/>
          </a:p>
        </p:txBody>
      </p:sp>
      <p:sp>
        <p:nvSpPr>
          <p:cNvPr id="3" name="内容占位符 2">
            <a:extLst>
              <a:ext uri="{FF2B5EF4-FFF2-40B4-BE49-F238E27FC236}">
                <a16:creationId xmlns:a16="http://schemas.microsoft.com/office/drawing/2014/main" id="{70E3CCFE-EF43-CE9A-81D7-BFF9BAE429A1}"/>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831662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BEE168-9A18-45BD-F2FA-34133763734B}"/>
              </a:ext>
            </a:extLst>
          </p:cNvPr>
          <p:cNvSpPr>
            <a:spLocks noGrp="1"/>
          </p:cNvSpPr>
          <p:nvPr>
            <p:ph type="title"/>
          </p:nvPr>
        </p:nvSpPr>
        <p:spPr/>
        <p:txBody>
          <a:bodyPr/>
          <a:lstStyle/>
          <a:p>
            <a:r>
              <a:rPr lang="zh-CN" altLang="en-US" dirty="0"/>
              <a:t>传递函数的特征与系统特征的关系</a:t>
            </a:r>
            <a:endParaRPr lang="zh-SG" altLang="en-US" dirty="0"/>
          </a:p>
        </p:txBody>
      </p:sp>
      <p:sp>
        <p:nvSpPr>
          <p:cNvPr id="3" name="内容占位符 2">
            <a:extLst>
              <a:ext uri="{FF2B5EF4-FFF2-40B4-BE49-F238E27FC236}">
                <a16:creationId xmlns:a16="http://schemas.microsoft.com/office/drawing/2014/main" id="{5B751CE6-275F-9D87-1832-A0BA0459F4E8}"/>
              </a:ext>
            </a:extLst>
          </p:cNvPr>
          <p:cNvSpPr>
            <a:spLocks noGrp="1"/>
          </p:cNvSpPr>
          <p:nvPr>
            <p:ph idx="1"/>
          </p:nvPr>
        </p:nvSpPr>
        <p:spPr/>
        <p:txBody>
          <a:bodyPr/>
          <a:lstStyle/>
          <a:p>
            <a:endParaRPr lang="zh-SG" altLang="en-US" dirty="0"/>
          </a:p>
        </p:txBody>
      </p:sp>
    </p:spTree>
    <p:extLst>
      <p:ext uri="{BB962C8B-B14F-4D97-AF65-F5344CB8AC3E}">
        <p14:creationId xmlns:p14="http://schemas.microsoft.com/office/powerpoint/2010/main" val="34362367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5152E9-1172-DA7A-424C-722D7932EFD8}"/>
              </a:ext>
            </a:extLst>
          </p:cNvPr>
          <p:cNvSpPr>
            <a:spLocks noGrp="1"/>
          </p:cNvSpPr>
          <p:nvPr>
            <p:ph type="title"/>
          </p:nvPr>
        </p:nvSpPr>
        <p:spPr/>
        <p:txBody>
          <a:bodyPr/>
          <a:lstStyle/>
          <a:p>
            <a:r>
              <a:rPr lang="zh-CN" altLang="en-US" dirty="0"/>
              <a:t>直观估计系统阶数</a:t>
            </a:r>
            <a:endParaRPr lang="zh-SG" altLang="en-US" dirty="0"/>
          </a:p>
        </p:txBody>
      </p:sp>
      <p:sp>
        <p:nvSpPr>
          <p:cNvPr id="3" name="内容占位符 2">
            <a:extLst>
              <a:ext uri="{FF2B5EF4-FFF2-40B4-BE49-F238E27FC236}">
                <a16:creationId xmlns:a16="http://schemas.microsoft.com/office/drawing/2014/main" id="{88B66A47-3030-8E45-14FC-3E899B8E6B13}"/>
              </a:ext>
            </a:extLst>
          </p:cNvPr>
          <p:cNvSpPr>
            <a:spLocks noGrp="1"/>
          </p:cNvSpPr>
          <p:nvPr>
            <p:ph idx="1"/>
          </p:nvPr>
        </p:nvSpPr>
        <p:spPr/>
        <p:txBody>
          <a:bodyPr/>
          <a:lstStyle/>
          <a:p>
            <a:pPr marL="0" indent="0">
              <a:buNone/>
            </a:pPr>
            <a:r>
              <a:rPr lang="zh-CN" altLang="en-US" dirty="0"/>
              <a:t>寻找系统中的积分器</a:t>
            </a:r>
            <a:endParaRPr lang="en-US" altLang="zh-CN" dirty="0"/>
          </a:p>
          <a:p>
            <a:r>
              <a:rPr lang="zh-CN" altLang="en-US" dirty="0"/>
              <a:t>从电机扭矩到</a:t>
            </a:r>
            <a:endParaRPr lang="en-US" altLang="zh-CN" dirty="0"/>
          </a:p>
          <a:p>
            <a:pPr marL="457200" lvl="1" indent="0">
              <a:buNone/>
            </a:pPr>
            <a:r>
              <a:rPr lang="zh-CN" altLang="en-US" dirty="0"/>
              <a:t>转矩带来角加速度，角加速度在时间上的叠加得到角速度</a:t>
            </a:r>
            <a:endParaRPr lang="en-US" altLang="zh-CN" dirty="0"/>
          </a:p>
          <a:p>
            <a:pPr marL="457200" lvl="1" indent="0">
              <a:buNone/>
            </a:pPr>
            <a:r>
              <a:rPr lang="zh-CN" altLang="en-US" dirty="0"/>
              <a:t>有一个积分环节，是一个一阶系统</a:t>
            </a:r>
            <a:endParaRPr lang="en-US" altLang="zh-CN" dirty="0"/>
          </a:p>
          <a:p>
            <a:r>
              <a:rPr lang="zh-CN" altLang="en-US" dirty="0"/>
              <a:t>从电机扭矩到云台角度</a:t>
            </a:r>
            <a:endParaRPr lang="en-US" altLang="zh-CN" dirty="0"/>
          </a:p>
          <a:p>
            <a:pPr marL="457200" lvl="1" indent="0">
              <a:buNone/>
            </a:pPr>
            <a:r>
              <a:rPr lang="zh-CN" altLang="en-US" dirty="0"/>
              <a:t>角加速度在时间上的叠加得到角速度</a:t>
            </a:r>
            <a:endParaRPr lang="en-US" altLang="zh-CN" dirty="0"/>
          </a:p>
          <a:p>
            <a:pPr marL="457200" lvl="1" indent="0">
              <a:buNone/>
            </a:pPr>
            <a:r>
              <a:rPr lang="zh-CN" altLang="en-US" dirty="0"/>
              <a:t>速度在时间上的叠加得到位置</a:t>
            </a:r>
            <a:endParaRPr lang="en-US" altLang="zh-CN" dirty="0"/>
          </a:p>
          <a:p>
            <a:pPr marL="457200" lvl="1" indent="0">
              <a:buNone/>
            </a:pPr>
            <a:r>
              <a:rPr lang="zh-CN" altLang="en-US" dirty="0"/>
              <a:t>有两个积分环节，是二阶系统</a:t>
            </a:r>
            <a:endParaRPr lang="en-US" altLang="zh-CN" dirty="0"/>
          </a:p>
        </p:txBody>
      </p:sp>
    </p:spTree>
    <p:extLst>
      <p:ext uri="{BB962C8B-B14F-4D97-AF65-F5344CB8AC3E}">
        <p14:creationId xmlns:p14="http://schemas.microsoft.com/office/powerpoint/2010/main" val="28706277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66A64C-3EB0-3B1E-0300-B3F7C8A23FB6}"/>
              </a:ext>
            </a:extLst>
          </p:cNvPr>
          <p:cNvSpPr>
            <a:spLocks noGrp="1"/>
          </p:cNvSpPr>
          <p:nvPr>
            <p:ph type="title"/>
          </p:nvPr>
        </p:nvSpPr>
        <p:spPr/>
        <p:txBody>
          <a:bodyPr/>
          <a:lstStyle/>
          <a:p>
            <a:r>
              <a:rPr lang="zh-CN" altLang="en-US" dirty="0"/>
              <a:t>如何做系统辨识</a:t>
            </a:r>
            <a:endParaRPr lang="zh-SG" altLang="en-US" dirty="0"/>
          </a:p>
        </p:txBody>
      </p:sp>
      <p:sp>
        <p:nvSpPr>
          <p:cNvPr id="3" name="内容占位符 2">
            <a:extLst>
              <a:ext uri="{FF2B5EF4-FFF2-40B4-BE49-F238E27FC236}">
                <a16:creationId xmlns:a16="http://schemas.microsoft.com/office/drawing/2014/main" id="{FD22E8D9-8427-1118-5147-9DB4BBBDA192}"/>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4121651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9048F9-A13C-E4BB-E560-D0BC6BCEFC72}"/>
              </a:ext>
            </a:extLst>
          </p:cNvPr>
          <p:cNvSpPr>
            <a:spLocks noGrp="1"/>
          </p:cNvSpPr>
          <p:nvPr>
            <p:ph type="ctrTitle"/>
          </p:nvPr>
        </p:nvSpPr>
        <p:spPr/>
        <p:txBody>
          <a:bodyPr anchor="ctr">
            <a:normAutofit/>
          </a:bodyPr>
          <a:lstStyle/>
          <a:p>
            <a:r>
              <a:rPr lang="en-US" altLang="zh-SG" dirty="0"/>
              <a:t>4.3 </a:t>
            </a:r>
            <a:r>
              <a:rPr lang="zh-CN" altLang="en-US" dirty="0"/>
              <a:t>闭环控制的稳定性</a:t>
            </a:r>
            <a:endParaRPr lang="zh-SG" altLang="en-US" dirty="0"/>
          </a:p>
        </p:txBody>
      </p:sp>
      <p:sp>
        <p:nvSpPr>
          <p:cNvPr id="3" name="副标题 2">
            <a:extLst>
              <a:ext uri="{FF2B5EF4-FFF2-40B4-BE49-F238E27FC236}">
                <a16:creationId xmlns:a16="http://schemas.microsoft.com/office/drawing/2014/main" id="{9B746688-ECE5-C65C-D0CB-8BDD6072C310}"/>
              </a:ext>
            </a:extLst>
          </p:cNvPr>
          <p:cNvSpPr>
            <a:spLocks noGrp="1"/>
          </p:cNvSpPr>
          <p:nvPr>
            <p:ph type="subTitle" idx="1"/>
          </p:nvPr>
        </p:nvSpPr>
        <p:spPr/>
        <p:txBody>
          <a:bodyPr/>
          <a:lstStyle/>
          <a:p>
            <a:r>
              <a:rPr lang="zh-CN" altLang="en-US" dirty="0"/>
              <a:t>要求：</a:t>
            </a:r>
            <a:endParaRPr lang="zh-SG" altLang="en-US" dirty="0"/>
          </a:p>
        </p:txBody>
      </p:sp>
    </p:spTree>
    <p:extLst>
      <p:ext uri="{BB962C8B-B14F-4D97-AF65-F5344CB8AC3E}">
        <p14:creationId xmlns:p14="http://schemas.microsoft.com/office/powerpoint/2010/main" val="4057674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A545E8-2F35-4BDB-9E9F-B6CB1C642D04}"/>
              </a:ext>
            </a:extLst>
          </p:cNvPr>
          <p:cNvSpPr>
            <a:spLocks noGrp="1"/>
          </p:cNvSpPr>
          <p:nvPr>
            <p:ph type="title"/>
          </p:nvPr>
        </p:nvSpPr>
        <p:spPr/>
        <p:txBody>
          <a:bodyPr/>
          <a:lstStyle/>
          <a:p>
            <a:endParaRPr lang="zh-SG" altLang="en-US" dirty="0"/>
          </a:p>
        </p:txBody>
      </p:sp>
      <p:sp>
        <p:nvSpPr>
          <p:cNvPr id="3" name="内容占位符 2">
            <a:extLst>
              <a:ext uri="{FF2B5EF4-FFF2-40B4-BE49-F238E27FC236}">
                <a16:creationId xmlns:a16="http://schemas.microsoft.com/office/drawing/2014/main" id="{69E2B97E-93F8-DFE1-DDFC-2B6623B4768F}"/>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3263473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FB4B89-A1C4-19A5-1E24-7E0837F8F898}"/>
              </a:ext>
            </a:extLst>
          </p:cNvPr>
          <p:cNvSpPr>
            <a:spLocks noGrp="1"/>
          </p:cNvSpPr>
          <p:nvPr>
            <p:ph type="ctrTitle"/>
          </p:nvPr>
        </p:nvSpPr>
        <p:spPr/>
        <p:txBody>
          <a:bodyPr anchor="ctr"/>
          <a:lstStyle/>
          <a:p>
            <a:r>
              <a:rPr lang="en-US" altLang="zh-SG" dirty="0"/>
              <a:t>4.4 </a:t>
            </a:r>
            <a:r>
              <a:rPr lang="en-US" altLang="zh-CN" dirty="0"/>
              <a:t>PID</a:t>
            </a:r>
            <a:r>
              <a:rPr lang="zh-CN" altLang="en-US" dirty="0"/>
              <a:t>的本质</a:t>
            </a:r>
            <a:endParaRPr lang="zh-SG" altLang="en-US" dirty="0"/>
          </a:p>
        </p:txBody>
      </p:sp>
      <p:sp>
        <p:nvSpPr>
          <p:cNvPr id="3" name="副标题 2">
            <a:extLst>
              <a:ext uri="{FF2B5EF4-FFF2-40B4-BE49-F238E27FC236}">
                <a16:creationId xmlns:a16="http://schemas.microsoft.com/office/drawing/2014/main" id="{D00BDCDA-E0DE-033A-76C8-16AB0C97744C}"/>
              </a:ext>
            </a:extLst>
          </p:cNvPr>
          <p:cNvSpPr>
            <a:spLocks noGrp="1"/>
          </p:cNvSpPr>
          <p:nvPr>
            <p:ph type="subTitle" idx="1"/>
          </p:nvPr>
        </p:nvSpPr>
        <p:spPr/>
        <p:txBody>
          <a:bodyPr/>
          <a:lstStyle/>
          <a:p>
            <a:r>
              <a:rPr lang="zh-CN" altLang="en-US" dirty="0"/>
              <a:t>要求：</a:t>
            </a:r>
            <a:endParaRPr lang="zh-SG" altLang="en-US" dirty="0"/>
          </a:p>
        </p:txBody>
      </p:sp>
    </p:spTree>
    <p:extLst>
      <p:ext uri="{BB962C8B-B14F-4D97-AF65-F5344CB8AC3E}">
        <p14:creationId xmlns:p14="http://schemas.microsoft.com/office/powerpoint/2010/main" val="1065403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686AE-7C63-5CE8-EB3D-110C6097641B}"/>
              </a:ext>
            </a:extLst>
          </p:cNvPr>
          <p:cNvSpPr>
            <a:spLocks noGrp="1"/>
          </p:cNvSpPr>
          <p:nvPr>
            <p:ph type="title"/>
          </p:nvPr>
        </p:nvSpPr>
        <p:spPr/>
        <p:txBody>
          <a:bodyPr/>
          <a:lstStyle/>
          <a:p>
            <a:endParaRPr lang="zh-SG" altLang="en-US"/>
          </a:p>
        </p:txBody>
      </p:sp>
      <p:sp>
        <p:nvSpPr>
          <p:cNvPr id="3" name="内容占位符 2">
            <a:extLst>
              <a:ext uri="{FF2B5EF4-FFF2-40B4-BE49-F238E27FC236}">
                <a16:creationId xmlns:a16="http://schemas.microsoft.com/office/drawing/2014/main" id="{F63275E3-EF6B-AB0F-1ED5-F3BBA3E2B8EA}"/>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2622714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F37745-302A-ADCD-D49D-2E2D06EF1365}"/>
              </a:ext>
            </a:extLst>
          </p:cNvPr>
          <p:cNvSpPr>
            <a:spLocks noGrp="1"/>
          </p:cNvSpPr>
          <p:nvPr>
            <p:ph type="ctrTitle"/>
          </p:nvPr>
        </p:nvSpPr>
        <p:spPr/>
        <p:txBody>
          <a:bodyPr anchor="ctr"/>
          <a:lstStyle/>
          <a:p>
            <a:r>
              <a:rPr lang="en-US" altLang="zh-SG" dirty="0"/>
              <a:t>4.5 </a:t>
            </a:r>
            <a:r>
              <a:rPr lang="en-US" altLang="zh-CN" dirty="0"/>
              <a:t>PID</a:t>
            </a:r>
            <a:r>
              <a:rPr lang="zh-CN" altLang="en-US" dirty="0"/>
              <a:t>的离散化</a:t>
            </a:r>
            <a:endParaRPr lang="zh-SG" altLang="en-US" dirty="0"/>
          </a:p>
        </p:txBody>
      </p:sp>
      <p:sp>
        <p:nvSpPr>
          <p:cNvPr id="3" name="副标题 2">
            <a:extLst>
              <a:ext uri="{FF2B5EF4-FFF2-40B4-BE49-F238E27FC236}">
                <a16:creationId xmlns:a16="http://schemas.microsoft.com/office/drawing/2014/main" id="{258736E3-521C-ACDA-90F4-D59FB433A7B9}"/>
              </a:ext>
            </a:extLst>
          </p:cNvPr>
          <p:cNvSpPr>
            <a:spLocks noGrp="1"/>
          </p:cNvSpPr>
          <p:nvPr>
            <p:ph type="subTitle" idx="1"/>
          </p:nvPr>
        </p:nvSpPr>
        <p:spPr/>
        <p:txBody>
          <a:bodyPr/>
          <a:lstStyle/>
          <a:p>
            <a:r>
              <a:rPr lang="zh-CN" altLang="en-US" dirty="0"/>
              <a:t>要求：</a:t>
            </a:r>
            <a:endParaRPr lang="zh-SG" altLang="en-US" dirty="0"/>
          </a:p>
        </p:txBody>
      </p:sp>
    </p:spTree>
    <p:extLst>
      <p:ext uri="{BB962C8B-B14F-4D97-AF65-F5344CB8AC3E}">
        <p14:creationId xmlns:p14="http://schemas.microsoft.com/office/powerpoint/2010/main" val="3640893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505BD7-222E-9DDF-C5F4-055F23E93436}"/>
              </a:ext>
            </a:extLst>
          </p:cNvPr>
          <p:cNvSpPr>
            <a:spLocks noGrp="1"/>
          </p:cNvSpPr>
          <p:nvPr>
            <p:ph type="title"/>
          </p:nvPr>
        </p:nvSpPr>
        <p:spPr/>
        <p:txBody>
          <a:bodyPr/>
          <a:lstStyle/>
          <a:p>
            <a:endParaRPr lang="zh-SG" altLang="en-US"/>
          </a:p>
        </p:txBody>
      </p:sp>
      <p:sp>
        <p:nvSpPr>
          <p:cNvPr id="3" name="内容占位符 2">
            <a:extLst>
              <a:ext uri="{FF2B5EF4-FFF2-40B4-BE49-F238E27FC236}">
                <a16:creationId xmlns:a16="http://schemas.microsoft.com/office/drawing/2014/main" id="{04987B9B-C301-710E-29D3-1F9DC3D4CD77}"/>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3221914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63918F-F16F-EF9C-95AF-4C919C16E559}"/>
              </a:ext>
            </a:extLst>
          </p:cNvPr>
          <p:cNvSpPr>
            <a:spLocks noGrp="1"/>
          </p:cNvSpPr>
          <p:nvPr>
            <p:ph type="ctrTitle"/>
          </p:nvPr>
        </p:nvSpPr>
        <p:spPr/>
        <p:txBody>
          <a:bodyPr anchor="ctr"/>
          <a:lstStyle/>
          <a:p>
            <a:r>
              <a:rPr lang="en-US" altLang="zh-SG" dirty="0"/>
              <a:t>4.6 </a:t>
            </a:r>
            <a:r>
              <a:rPr lang="en-US" altLang="zh-CN" dirty="0"/>
              <a:t>PID</a:t>
            </a:r>
            <a:r>
              <a:rPr lang="zh-CN" altLang="en-US" dirty="0"/>
              <a:t>的改进</a:t>
            </a:r>
            <a:endParaRPr lang="zh-SG" altLang="en-US" dirty="0"/>
          </a:p>
        </p:txBody>
      </p:sp>
      <p:sp>
        <p:nvSpPr>
          <p:cNvPr id="3" name="副标题 2">
            <a:extLst>
              <a:ext uri="{FF2B5EF4-FFF2-40B4-BE49-F238E27FC236}">
                <a16:creationId xmlns:a16="http://schemas.microsoft.com/office/drawing/2014/main" id="{2D90C8B7-D399-4BC6-80B3-CAB829DA1266}"/>
              </a:ext>
            </a:extLst>
          </p:cNvPr>
          <p:cNvSpPr>
            <a:spLocks noGrp="1"/>
          </p:cNvSpPr>
          <p:nvPr>
            <p:ph type="subTitle" idx="1"/>
          </p:nvPr>
        </p:nvSpPr>
        <p:spPr/>
        <p:txBody>
          <a:bodyPr/>
          <a:lstStyle/>
          <a:p>
            <a:r>
              <a:rPr lang="zh-CN" altLang="en-US" dirty="0"/>
              <a:t>要求：</a:t>
            </a:r>
            <a:endParaRPr lang="zh-SG" altLang="en-US" dirty="0"/>
          </a:p>
        </p:txBody>
      </p:sp>
    </p:spTree>
    <p:extLst>
      <p:ext uri="{BB962C8B-B14F-4D97-AF65-F5344CB8AC3E}">
        <p14:creationId xmlns:p14="http://schemas.microsoft.com/office/powerpoint/2010/main" val="1633910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845E9-D7C1-EB1F-AFDE-1A10B3C43F0E}"/>
              </a:ext>
            </a:extLst>
          </p:cNvPr>
          <p:cNvSpPr>
            <a:spLocks noGrp="1"/>
          </p:cNvSpPr>
          <p:nvPr>
            <p:ph type="title"/>
          </p:nvPr>
        </p:nvSpPr>
        <p:spPr/>
        <p:txBody>
          <a:bodyPr/>
          <a:lstStyle/>
          <a:p>
            <a:endParaRPr lang="zh-SG" altLang="en-US"/>
          </a:p>
        </p:txBody>
      </p:sp>
      <p:sp>
        <p:nvSpPr>
          <p:cNvPr id="3" name="内容占位符 2">
            <a:extLst>
              <a:ext uri="{FF2B5EF4-FFF2-40B4-BE49-F238E27FC236}">
                <a16:creationId xmlns:a16="http://schemas.microsoft.com/office/drawing/2014/main" id="{82593682-6FFD-59CE-9E6F-B3BCC6366B2A}"/>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166708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F1776-0C98-1F61-CA09-FBBCFB87DE0F}"/>
              </a:ext>
            </a:extLst>
          </p:cNvPr>
          <p:cNvSpPr>
            <a:spLocks noGrp="1"/>
          </p:cNvSpPr>
          <p:nvPr>
            <p:ph type="ctrTitle"/>
          </p:nvPr>
        </p:nvSpPr>
        <p:spPr/>
        <p:txBody>
          <a:bodyPr anchor="ctr"/>
          <a:lstStyle/>
          <a:p>
            <a:r>
              <a:rPr lang="en-US" altLang="zh-SG" dirty="0"/>
              <a:t>4.7 </a:t>
            </a:r>
            <a:r>
              <a:rPr lang="zh-CN" altLang="en-US" dirty="0"/>
              <a:t>测试与</a:t>
            </a:r>
            <a:r>
              <a:rPr lang="en-US" altLang="zh-CN"/>
              <a:t>debug</a:t>
            </a:r>
            <a:endParaRPr lang="zh-SG" altLang="en-US" dirty="0"/>
          </a:p>
        </p:txBody>
      </p:sp>
      <p:sp>
        <p:nvSpPr>
          <p:cNvPr id="3" name="副标题 2">
            <a:extLst>
              <a:ext uri="{FF2B5EF4-FFF2-40B4-BE49-F238E27FC236}">
                <a16:creationId xmlns:a16="http://schemas.microsoft.com/office/drawing/2014/main" id="{4C07DCF3-73F4-D15F-54F6-0C5183E028A3}"/>
              </a:ext>
            </a:extLst>
          </p:cNvPr>
          <p:cNvSpPr>
            <a:spLocks noGrp="1"/>
          </p:cNvSpPr>
          <p:nvPr>
            <p:ph type="subTitle" idx="1"/>
          </p:nvPr>
        </p:nvSpPr>
        <p:spPr/>
        <p:txBody>
          <a:bodyPr/>
          <a:lstStyle/>
          <a:p>
            <a:r>
              <a:rPr lang="zh-CN" altLang="en-US" dirty="0"/>
              <a:t>要求：</a:t>
            </a:r>
            <a:endParaRPr lang="zh-SG" altLang="en-US" dirty="0"/>
          </a:p>
        </p:txBody>
      </p:sp>
    </p:spTree>
    <p:extLst>
      <p:ext uri="{BB962C8B-B14F-4D97-AF65-F5344CB8AC3E}">
        <p14:creationId xmlns:p14="http://schemas.microsoft.com/office/powerpoint/2010/main" val="4044850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D84766-17A2-DB3F-775C-61ECA3220316}"/>
              </a:ext>
            </a:extLst>
          </p:cNvPr>
          <p:cNvSpPr>
            <a:spLocks noGrp="1"/>
          </p:cNvSpPr>
          <p:nvPr>
            <p:ph type="title"/>
          </p:nvPr>
        </p:nvSpPr>
        <p:spPr/>
        <p:txBody>
          <a:bodyPr/>
          <a:lstStyle/>
          <a:p>
            <a:endParaRPr lang="zh-SG" altLang="en-US"/>
          </a:p>
        </p:txBody>
      </p:sp>
      <p:sp>
        <p:nvSpPr>
          <p:cNvPr id="3" name="内容占位符 2">
            <a:extLst>
              <a:ext uri="{FF2B5EF4-FFF2-40B4-BE49-F238E27FC236}">
                <a16:creationId xmlns:a16="http://schemas.microsoft.com/office/drawing/2014/main" id="{0B52ABF7-BFEB-E555-073C-E78BC6FF79C7}"/>
              </a:ext>
            </a:extLst>
          </p:cNvPr>
          <p:cNvSpPr>
            <a:spLocks noGrp="1"/>
          </p:cNvSpPr>
          <p:nvPr>
            <p:ph idx="1"/>
          </p:nvPr>
        </p:nvSpPr>
        <p:spPr/>
        <p:txBody>
          <a:bodyPr/>
          <a:lstStyle/>
          <a:p>
            <a:endParaRPr lang="zh-SG" altLang="en-US"/>
          </a:p>
        </p:txBody>
      </p:sp>
    </p:spTree>
    <p:extLst>
      <p:ext uri="{BB962C8B-B14F-4D97-AF65-F5344CB8AC3E}">
        <p14:creationId xmlns:p14="http://schemas.microsoft.com/office/powerpoint/2010/main" val="116237208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1584</TotalTime>
  <Words>1307</Words>
  <PresentationFormat>宽屏</PresentationFormat>
  <Paragraphs>134</Paragraphs>
  <Slides>29</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29</vt:i4>
      </vt:variant>
    </vt:vector>
  </HeadingPairs>
  <TitlesOfParts>
    <vt:vector size="34" baseType="lpstr">
      <vt:lpstr>Aptos</vt:lpstr>
      <vt:lpstr>Aptos Display</vt:lpstr>
      <vt:lpstr>Arial</vt:lpstr>
      <vt:lpstr>Cambria Math</vt:lpstr>
      <vt:lpstr>Office 主题​​</vt:lpstr>
      <vt:lpstr>4.1 从调参到控制器设计</vt:lpstr>
      <vt:lpstr>闭环控制的基本概念</vt:lpstr>
      <vt:lpstr>描述阶跃响应：目标突变，输出怎么变？</vt:lpstr>
      <vt:lpstr>场景对响应的需求决定设计时的权衡</vt:lpstr>
      <vt:lpstr>既要看输出量，也要看控制量</vt:lpstr>
      <vt:lpstr>如何减少盲目调参？</vt:lpstr>
      <vt:lpstr>4.2 描述系统</vt:lpstr>
      <vt:lpstr>什么是系统（System）</vt:lpstr>
      <vt:lpstr>为什么设计控制器时要了解系统？</vt:lpstr>
      <vt:lpstr>如何对系统进行建模</vt:lpstr>
      <vt:lpstr>如何对系统进行建模</vt:lpstr>
      <vt:lpstr>线性时不变系统的描述</vt:lpstr>
      <vt:lpstr>微积分算起来太复杂，能不能少一些？</vt:lpstr>
      <vt:lpstr>借助拉普拉斯变换简化对系统的描述</vt:lpstr>
      <vt:lpstr>从微分方程到传递函数</vt:lpstr>
      <vt:lpstr>二阶系统模型</vt:lpstr>
      <vt:lpstr>传递函数的特征与系统特征的关系</vt:lpstr>
      <vt:lpstr>直观估计系统阶数</vt:lpstr>
      <vt:lpstr>如何做系统辨识</vt:lpstr>
      <vt:lpstr>4.3 闭环控制的稳定性</vt:lpstr>
      <vt:lpstr>PowerPoint 演示文稿</vt:lpstr>
      <vt:lpstr>4.4 PID的本质</vt:lpstr>
      <vt:lpstr>PowerPoint 演示文稿</vt:lpstr>
      <vt:lpstr>4.5 PID的离散化</vt:lpstr>
      <vt:lpstr>PowerPoint 演示文稿</vt:lpstr>
      <vt:lpstr>4.6 PID的改进</vt:lpstr>
      <vt:lpstr>PowerPoint 演示文稿</vt:lpstr>
      <vt:lpstr>4.7 测试与debug</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erms:created xsi:type="dcterms:W3CDTF">2026-07-13T06:46:52Z</dcterms:created>
  <dcterms:modified xsi:type="dcterms:W3CDTF">2026-07-14T17:45:44Z</dcterms:modified>
</cp:coreProperties>
</file>