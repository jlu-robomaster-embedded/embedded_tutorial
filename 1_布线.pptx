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7" r:id="rId3"/>
    <p:sldId id="269" r:id="rId4"/>
    <p:sldId id="268" r:id="rId5"/>
    <p:sldId id="264" r:id="rId6"/>
    <p:sldId id="265" r:id="rId7"/>
    <p:sldId id="262" r:id="rId8"/>
    <p:sldId id="258" r:id="rId9"/>
    <p:sldId id="263" r:id="rId10"/>
    <p:sldId id="266" r:id="rId11"/>
    <p:sldId id="260" r:id="rId12"/>
    <p:sldId id="261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492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27CA1C-937F-A205-6BC8-993177B513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6CC39DB-E93E-2E24-66EF-56A54F9453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28F308-CB08-2DF8-8E63-61126A13E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F404B-45C4-4240-BFBB-39AB183EAC62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7BF80D-9898-A076-9785-FB89856F2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B936BB1-3027-0314-D7FB-6DA5401C4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C92DA-25E3-4CD6-9BD2-D6BCD515F6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1024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92182B-9844-2B83-4923-A4FCB34AA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FB1D7F-60C8-2D7F-F0D3-157E91D86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BF6E89-C8E8-532C-5892-8C5C6C1D8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F404B-45C4-4240-BFBB-39AB183EAC62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3C573C-6178-2E9B-FF29-9E6E2E130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E8DDEC3-9868-0095-95D3-DF8C51E10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C92DA-25E3-4CD6-9BD2-D6BCD515F6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2926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7CA96A-75DF-EFA2-6E2C-0E1AD1771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479F34C-8FEF-637B-3A66-D7315AF2CB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33712B-F84E-6409-35B8-58BC8FAE6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F404B-45C4-4240-BFBB-39AB183EAC62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70F4B1-35F6-535C-DF22-0E7E88646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AAA2410-2C22-40AB-EEE1-053B0A258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C92DA-25E3-4CD6-9BD2-D6BCD515F6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6980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B5195-7DF6-E616-44F6-3DEE6E505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87F323-4840-E433-7E5E-CB90FDA7E0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9552D83-156F-A2AF-B1B5-F58BA70C3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BB5394C-937C-E5B2-965E-F8D53B779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F404B-45C4-4240-BFBB-39AB183EAC62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AE97D53-C2A1-6F84-8F32-E897C904D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4A9DFD-8270-8B78-F4DB-EF59185A9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C92DA-25E3-4CD6-9BD2-D6BCD515F6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7198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805D06-454D-6FF1-0911-2AB5C000E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8BD3889-3F24-46B2-49C0-FEC3E72D0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2737AB5-30F6-5D8D-C939-6C54E5D8DD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9945DB7-6C8E-7DC7-89C4-57F92767DB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5115230-26AC-7804-1FDB-8B62639071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5191D16-237C-C7F7-6D8A-5E9954ACF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F404B-45C4-4240-BFBB-39AB183EAC62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7FBAD09-BD08-3898-EA9D-FB440AB52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54D09D5-36D0-AB05-8C2B-9979BC2CD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C92DA-25E3-4CD6-9BD2-D6BCD515F6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107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D950E6-1FB5-24E4-748F-499E570F2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673D172-3373-1835-CEFA-A1B7B8F34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F404B-45C4-4240-BFBB-39AB183EAC62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F518419-E2ED-99D4-42BD-392D12095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0A34D31-B315-F89A-CA38-BC7C59B8F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C92DA-25E3-4CD6-9BD2-D6BCD515F6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9331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FAE65A8-EFFD-7324-0DE1-23E5C73BE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F404B-45C4-4240-BFBB-39AB183EAC62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D2480B0-8261-D91B-5C37-775433999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31744B-6925-576E-81AA-00C448717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C92DA-25E3-4CD6-9BD2-D6BCD515F6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5520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D21191-77C7-06F8-2DE6-FC2E10219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7AF7612-A537-EF86-C87E-17B070B4A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39E5FC-4B78-E80A-2E6D-C1ED936D23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3E998B7-0749-1026-6827-9BD31CCC0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F404B-45C4-4240-BFBB-39AB183EAC62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3A2A5C8-FA64-C8D9-CA7A-3DF95715B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1B292D-FCEB-A77D-0A29-ECF62ACCB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C92DA-25E3-4CD6-9BD2-D6BCD515F6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6916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94C605-BC30-3E30-854F-AD0A1CF00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8DA76DE5-3A1D-2C4D-F297-C51E6F3E8F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AC9C402-8DDC-501A-D77F-4A0DD692C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E392DA6-6D1E-D6F2-6361-211613BD0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F404B-45C4-4240-BFBB-39AB183EAC62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5940458-B372-1075-0FC5-44768CA19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64EC42D-3780-3369-C75F-B127BC1A2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C92DA-25E3-4CD6-9BD2-D6BCD515F6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1579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4EC309-A893-AB67-34FD-AD59A53DC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ABD28FD-6F50-BE0A-09EF-BAF918096C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E1BFF8-67B5-9283-2170-BCCD29C47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F404B-45C4-4240-BFBB-39AB183EAC62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434149-721F-C88D-647C-8140F7D6D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3997959-A26D-AB13-B78B-9DD3EA158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C92DA-25E3-4CD6-9BD2-D6BCD515F6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4335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6D374C8-C5F3-2917-CE1E-F7FF4D3F18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E9B0251-58B1-025A-C46D-BDADB44BC9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33F2312-18A5-CDA3-5598-616D7E08E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F404B-45C4-4240-BFBB-39AB183EAC62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FBE257-C9B6-DB01-4F34-4AB64B602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4E7090-EB89-62B8-9286-39BDAEA24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C92DA-25E3-4CD6-9BD2-D6BCD515F6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9013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AF1F540-3518-A344-D1F2-55C2B8B0F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28766A5-77A5-8442-CBE0-5EFAC5003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11D95A-B53C-1B76-A19C-146BF524CB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9F404B-45C4-4240-BFBB-39AB183EAC62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AB8021-17A8-7C50-E7FD-096B8552F0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05336F-C2EB-0F2C-3BB9-1E8F0D3872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DC92DA-25E3-4CD6-9BD2-D6BCD515F6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419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n.bing.com/images/search?view=detailV2&amp;ccid=%2fkmbYsv9&amp;id=12930761E6C85B57973F3A9ABCD8CB1C32350441&amp;thid=OIP._kmbYsv9BZHjl04e4vji_gAAAA&amp;mediaurl=https%3a%2f%2fcbu01.alicdn.com%2fimg%2fibank%2fO1CN01nOqvl51HnoxMOJ8FC_!!2216866890803-0-cib.310x310.jpg&amp;exph=310&amp;expw=310&amp;q=GH1.25&amp;FORM=IRPRST&amp;ck=C6E5C56F92CF16D22F1D09D1E1302162&amp;selectedIndex=13&amp;itb=0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14A746-FA5A-FD16-427A-37C2EB2B8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常见设备的供电与通信需求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B4E841-A468-14DB-674B-34445A768A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供电：</a:t>
            </a:r>
            <a:endParaRPr lang="en-US" altLang="zh-CN" dirty="0"/>
          </a:p>
          <a:p>
            <a:r>
              <a:rPr lang="zh-CN" altLang="en-US" dirty="0"/>
              <a:t>电机：</a:t>
            </a:r>
            <a:r>
              <a:rPr lang="en-US" altLang="zh-CN" dirty="0"/>
              <a:t>24V</a:t>
            </a:r>
            <a:r>
              <a:rPr lang="zh-CN" altLang="en-US" dirty="0"/>
              <a:t>，大电流，会有反电动势</a:t>
            </a:r>
            <a:endParaRPr lang="en-US" altLang="zh-CN" dirty="0"/>
          </a:p>
          <a:p>
            <a:r>
              <a:rPr lang="zh-CN" altLang="en-US" dirty="0"/>
              <a:t>主控板：</a:t>
            </a:r>
            <a:r>
              <a:rPr lang="en-US" altLang="zh-CN" dirty="0"/>
              <a:t>24V</a:t>
            </a:r>
            <a:r>
              <a:rPr lang="zh-CN" altLang="en-US" dirty="0"/>
              <a:t>供电，小电流</a:t>
            </a:r>
            <a:endParaRPr lang="en-US" altLang="zh-CN" dirty="0"/>
          </a:p>
          <a:p>
            <a:r>
              <a:rPr lang="en-US" altLang="zh-CN" dirty="0"/>
              <a:t>NUC</a:t>
            </a:r>
            <a:r>
              <a:rPr lang="zh-CN" altLang="en-US" dirty="0"/>
              <a:t>：</a:t>
            </a:r>
            <a:r>
              <a:rPr lang="en-US" altLang="zh-CN" dirty="0"/>
              <a:t>19V</a:t>
            </a:r>
            <a:r>
              <a:rPr lang="zh-CN" altLang="en-US" dirty="0"/>
              <a:t>供电，大电流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AF39302-404B-9A7F-8E8A-8275CF6D081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信号：</a:t>
            </a:r>
            <a:endParaRPr lang="en-US" altLang="zh-CN" dirty="0"/>
          </a:p>
          <a:p>
            <a:r>
              <a:rPr lang="zh-CN" altLang="en-US" dirty="0"/>
              <a:t>主控</a:t>
            </a:r>
            <a:r>
              <a:rPr lang="en-US" altLang="zh-CN" dirty="0"/>
              <a:t>-</a:t>
            </a:r>
            <a:r>
              <a:rPr lang="zh-CN" altLang="en-US" dirty="0"/>
              <a:t>电机：</a:t>
            </a:r>
            <a:r>
              <a:rPr lang="en-US" altLang="zh-CN" dirty="0"/>
              <a:t>CAN</a:t>
            </a:r>
          </a:p>
          <a:p>
            <a:r>
              <a:rPr lang="zh-CN" altLang="en-US" dirty="0"/>
              <a:t>主控</a:t>
            </a:r>
            <a:r>
              <a:rPr lang="en-US" altLang="zh-CN" dirty="0"/>
              <a:t>-</a:t>
            </a:r>
            <a:r>
              <a:rPr lang="zh-CN" altLang="en-US" dirty="0"/>
              <a:t>裁判系统：串口</a:t>
            </a:r>
            <a:endParaRPr lang="en-US" altLang="zh-CN" dirty="0"/>
          </a:p>
          <a:p>
            <a:r>
              <a:rPr lang="zh-CN" altLang="en-US" dirty="0"/>
              <a:t>上下板：</a:t>
            </a:r>
            <a:r>
              <a:rPr lang="en-US" altLang="zh-CN" dirty="0"/>
              <a:t>485</a:t>
            </a:r>
          </a:p>
          <a:p>
            <a:r>
              <a:rPr lang="en-US" altLang="zh-CN" dirty="0"/>
              <a:t>NUC</a:t>
            </a:r>
            <a:r>
              <a:rPr lang="zh-CN" altLang="en-US" dirty="0"/>
              <a:t>：</a:t>
            </a:r>
            <a:r>
              <a:rPr lang="en-US" altLang="zh-CN" dirty="0"/>
              <a:t>USB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224194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95E2C5-DF32-13E8-9FF3-91C9F33B8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常用电机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5BDF090-144B-B729-3979-91C4E69D3F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大疆电机：</a:t>
            </a:r>
            <a:endParaRPr lang="en-US" altLang="zh-CN" dirty="0"/>
          </a:p>
          <a:p>
            <a:r>
              <a:rPr lang="en-US" altLang="zh-CN" dirty="0"/>
              <a:t>C620+3508</a:t>
            </a:r>
          </a:p>
          <a:p>
            <a:r>
              <a:rPr lang="en-US" altLang="zh-CN" dirty="0"/>
              <a:t>C610+2006</a:t>
            </a:r>
          </a:p>
          <a:p>
            <a:r>
              <a:rPr lang="en-US" altLang="zh-SG" dirty="0"/>
              <a:t>6020</a:t>
            </a:r>
          </a:p>
          <a:p>
            <a:pPr marL="0" indent="0">
              <a:buNone/>
            </a:pPr>
            <a:r>
              <a:rPr lang="zh-CN" altLang="en-US" dirty="0"/>
              <a:t>使用</a:t>
            </a:r>
            <a:r>
              <a:rPr lang="en-US" altLang="zh-CN" dirty="0"/>
              <a:t>XT30+GH1.25</a:t>
            </a:r>
            <a:endParaRPr lang="zh-SG" alt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4D59F0C-FB9A-F4AD-8C84-C37956CF8E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达妙电机：</a:t>
            </a:r>
            <a:endParaRPr lang="en-US" altLang="zh-CN" dirty="0"/>
          </a:p>
          <a:p>
            <a:r>
              <a:rPr lang="en-US" altLang="zh-SG" dirty="0"/>
              <a:t>4310</a:t>
            </a:r>
          </a:p>
          <a:p>
            <a:r>
              <a:rPr lang="en-US" altLang="zh-SG" dirty="0"/>
              <a:t>8009</a:t>
            </a:r>
          </a:p>
          <a:p>
            <a:pPr marL="0" indent="0">
              <a:buNone/>
            </a:pPr>
            <a:r>
              <a:rPr lang="zh-CN" altLang="en-US" dirty="0"/>
              <a:t>使用</a:t>
            </a:r>
            <a:r>
              <a:rPr lang="en-US" altLang="zh-CN" dirty="0"/>
              <a:t>XT30 2+2</a:t>
            </a:r>
          </a:p>
          <a:p>
            <a:pPr marL="0" indent="0">
              <a:buNone/>
            </a:pPr>
            <a:endParaRPr lang="en-US" altLang="zh-SG" dirty="0"/>
          </a:p>
          <a:p>
            <a:r>
              <a:rPr lang="en-US" altLang="zh-SG" dirty="0"/>
              <a:t>3507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使用</a:t>
            </a:r>
            <a:r>
              <a:rPr lang="en-US" altLang="zh-CN"/>
              <a:t>SH1.0</a:t>
            </a:r>
            <a:endParaRPr lang="en-US" altLang="zh-SG" dirty="0"/>
          </a:p>
        </p:txBody>
      </p:sp>
    </p:spTree>
    <p:extLst>
      <p:ext uri="{BB962C8B-B14F-4D97-AF65-F5344CB8AC3E}">
        <p14:creationId xmlns:p14="http://schemas.microsoft.com/office/powerpoint/2010/main" val="3967403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>
            <a:extLst>
              <a:ext uri="{FF2B5EF4-FFF2-40B4-BE49-F238E27FC236}">
                <a16:creationId xmlns:a16="http://schemas.microsoft.com/office/drawing/2014/main" id="{6005CEEF-BAF0-44FB-32C7-D496BEF76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519" y="509180"/>
            <a:ext cx="10116962" cy="5839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833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32F645F2-BD95-1A3A-7E3F-ED63F4AFEE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371" y="0"/>
            <a:ext cx="79748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343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18B685-027A-8D12-C46C-4A16728A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裁判系统接线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BCB741-D387-C5A7-8BAC-9ED5D52492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375249"/>
            <a:ext cx="5181600" cy="4351338"/>
          </a:xfrm>
        </p:spPr>
        <p:txBody>
          <a:bodyPr/>
          <a:lstStyle/>
          <a:p>
            <a:r>
              <a:rPr lang="zh-CN" altLang="en-US" dirty="0"/>
              <a:t>看规则</a:t>
            </a:r>
            <a:endParaRPr lang="en-US" altLang="zh-CN" dirty="0"/>
          </a:p>
          <a:p>
            <a:r>
              <a:rPr lang="zh-CN" altLang="en-US" dirty="0"/>
              <a:t>看规则</a:t>
            </a:r>
            <a:endParaRPr lang="en-US" altLang="zh-CN" dirty="0"/>
          </a:p>
          <a:p>
            <a:r>
              <a:rPr lang="zh-CN" altLang="en-US" dirty="0"/>
              <a:t>看规则</a:t>
            </a:r>
            <a:endParaRPr lang="en-US" altLang="zh-CN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5605BE8-7CED-A702-22EB-A7D8C611C4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375249"/>
            <a:ext cx="5181600" cy="4351338"/>
          </a:xfrm>
        </p:spPr>
        <p:txBody>
          <a:bodyPr/>
          <a:lstStyle/>
          <a:p>
            <a:r>
              <a:rPr lang="zh-CN" altLang="en-US" dirty="0"/>
              <a:t>看轻流</a:t>
            </a:r>
            <a:endParaRPr lang="en-US" altLang="zh-CN" dirty="0"/>
          </a:p>
          <a:p>
            <a:r>
              <a:rPr lang="zh-CN" altLang="en-US" dirty="0"/>
              <a:t>看轻流</a:t>
            </a:r>
            <a:endParaRPr lang="en-US" altLang="zh-CN" dirty="0"/>
          </a:p>
          <a:p>
            <a:r>
              <a:rPr lang="zh-CN" altLang="en-US" dirty="0"/>
              <a:t>看轻流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B03F7C1-A58A-A927-58F6-010EBF09B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26270"/>
            <a:ext cx="6583680" cy="373173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53E6C745-3C9D-C18F-DB77-3BA9D30867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1584" y="3776870"/>
            <a:ext cx="5610416" cy="308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00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0F089B-E194-071F-8EA8-9FF3BB1F5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裁判系统接线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DE28B5F-CBD4-830F-F15F-BB3D4BCB6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635741"/>
            <a:ext cx="6510900" cy="422225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97DAED7-2FB5-3F93-E243-D2AB85600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901" y="0"/>
            <a:ext cx="56810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250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4C7C8E-BA93-8DA6-7F44-0DE045422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常见接口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F44374-BF35-4287-3117-D1D9B9F6DD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690688"/>
            <a:ext cx="5181600" cy="4351338"/>
          </a:xfrm>
        </p:spPr>
        <p:txBody>
          <a:bodyPr/>
          <a:lstStyle/>
          <a:p>
            <a:r>
              <a:rPr lang="en-US" altLang="zh-CN" dirty="0"/>
              <a:t>XT30/60</a:t>
            </a:r>
          </a:p>
          <a:p>
            <a:pPr marL="0" indent="0">
              <a:buNone/>
            </a:pPr>
            <a:r>
              <a:rPr lang="zh-CN" altLang="en-US" dirty="0"/>
              <a:t>能过大电流，常用于功率线</a:t>
            </a:r>
            <a:endParaRPr lang="en-US" altLang="zh-CN" dirty="0"/>
          </a:p>
          <a:p>
            <a:r>
              <a:rPr lang="en-US" altLang="zh-CN" dirty="0"/>
              <a:t>GH1.25</a:t>
            </a:r>
          </a:p>
          <a:p>
            <a:pPr marL="0" indent="0">
              <a:buNone/>
            </a:pPr>
            <a:r>
              <a:rPr lang="zh-CN" altLang="en-US" dirty="0"/>
              <a:t>带锁扣，常用于信号线</a:t>
            </a:r>
            <a:endParaRPr lang="en-US" altLang="zh-CN" dirty="0"/>
          </a:p>
          <a:p>
            <a:r>
              <a:rPr lang="en-US" altLang="zh-CN" dirty="0"/>
              <a:t>MX1.25</a:t>
            </a:r>
          </a:p>
          <a:p>
            <a:pPr marL="0" indent="0">
              <a:buNone/>
            </a:pPr>
            <a:r>
              <a:rPr lang="zh-CN" altLang="en-US" dirty="0"/>
              <a:t>常用于烧录线</a:t>
            </a:r>
            <a:endParaRPr lang="en-US" altLang="zh-CN" dirty="0"/>
          </a:p>
        </p:txBody>
      </p:sp>
      <p:pic>
        <p:nvPicPr>
          <p:cNvPr id="8" name="内容占位符 7">
            <a:extLst>
              <a:ext uri="{FF2B5EF4-FFF2-40B4-BE49-F238E27FC236}">
                <a16:creationId xmlns:a16="http://schemas.microsoft.com/office/drawing/2014/main" id="{D9EAE9ED-67F0-4E19-12CE-89257BB826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4411" y="-1"/>
            <a:ext cx="3427590" cy="3423311"/>
          </a:xfrm>
        </p:spPr>
      </p:pic>
      <p:sp>
        <p:nvSpPr>
          <p:cNvPr id="13" name="AutoShape 2" descr="Image result for GH1.25">
            <a:hlinkClick r:id="rId3"/>
            <a:extLst>
              <a:ext uri="{FF2B5EF4-FFF2-40B4-BE49-F238E27FC236}">
                <a16:creationId xmlns:a16="http://schemas.microsoft.com/office/drawing/2014/main" id="{9C70E040-D622-CFC2-6D1D-361B64295AC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210175" y="2543175"/>
            <a:ext cx="1771650" cy="1771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B93F5982-812A-B0CD-9856-F77BDA165C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4411" y="3423310"/>
            <a:ext cx="3437613" cy="343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1687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4C7C8E-BA93-8DA6-7F44-0DE045422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常见线材</a:t>
            </a:r>
          </a:p>
        </p:txBody>
      </p: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3F11D634-38BE-8516-AFF0-43FE5F48ED3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661334"/>
            <a:ext cx="5181600" cy="1205023"/>
          </a:xfrm>
        </p:spPr>
      </p:pic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F44374-BF35-4287-3117-D1D9B9F6DD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690688"/>
            <a:ext cx="5181600" cy="4351338"/>
          </a:xfrm>
        </p:spPr>
        <p:txBody>
          <a:bodyPr/>
          <a:lstStyle/>
          <a:p>
            <a:r>
              <a:rPr lang="zh-CN" altLang="en-US" dirty="0"/>
              <a:t>硅胶线：软但易破易脱落</a:t>
            </a:r>
            <a:endParaRPr lang="en-US" altLang="zh-CN" dirty="0"/>
          </a:p>
          <a:p>
            <a:r>
              <a:rPr lang="zh-CN" altLang="en-US" dirty="0"/>
              <a:t>铁氟龙线：结实但硬，不易弯折</a:t>
            </a:r>
            <a:endParaRPr lang="en-US" altLang="zh-CN" dirty="0"/>
          </a:p>
          <a:p>
            <a:r>
              <a:rPr lang="zh-CN" altLang="en-US" dirty="0"/>
              <a:t>屏蔽双绞线缆：粗而重，不易弯折，一般仅用于高速差分信号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3905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9A17AC-48F0-1350-AA86-2A6A0C9E1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线径的选择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内容占位符 3">
                <a:extLst>
                  <a:ext uri="{FF2B5EF4-FFF2-40B4-BE49-F238E27FC236}">
                    <a16:creationId xmlns:a16="http://schemas.microsoft.com/office/drawing/2014/main" id="{D4D76E9F-7281-FB23-2118-63B7C43370D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69721" y="1477732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zh-CN" altLang="en-US" dirty="0"/>
                  <a:t>相同电流和材质，越粗发热越小</a:t>
                </a:r>
                <a:r>
                  <a:rPr lang="en-US" altLang="zh-CN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CN" i="0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i="1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𝜌</m:t>
                    </m:r>
                    <m:f>
                      <m:fPr>
                        <m:ctrlPr>
                          <a:rPr lang="en-US" altLang="zh-CN" i="1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num>
                      <m:den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en-US" altLang="zh-CN" dirty="0"/>
                  <a:t>)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AWG</a:t>
                </a:r>
                <a:r>
                  <a:rPr lang="zh-CN" altLang="en-US" dirty="0"/>
                  <a:t>（</a:t>
                </a:r>
                <a:r>
                  <a:rPr lang="en-US" altLang="zh-CN" dirty="0"/>
                  <a:t>American wire gauge</a:t>
                </a:r>
                <a:r>
                  <a:rPr lang="zh-CN" altLang="en-US" dirty="0"/>
                  <a:t>）</a:t>
                </a:r>
                <a:endParaRPr lang="en-US" altLang="zh-CN" dirty="0"/>
              </a:p>
              <a:p>
                <a:r>
                  <a:rPr lang="en-US" altLang="zh-CN" dirty="0"/>
                  <a:t>16AWG</a:t>
                </a:r>
                <a:r>
                  <a:rPr lang="zh-CN" altLang="en-US" dirty="0"/>
                  <a:t>，</a:t>
                </a:r>
                <a:r>
                  <a:rPr lang="en-US" altLang="zh-CN" dirty="0"/>
                  <a:t>1.3mm^2</a:t>
                </a:r>
                <a:r>
                  <a:rPr lang="zh-CN" altLang="en-US" dirty="0"/>
                  <a:t>，走功率</a:t>
                </a:r>
                <a:endParaRPr lang="en-US" altLang="zh-CN" dirty="0"/>
              </a:p>
              <a:p>
                <a:r>
                  <a:rPr lang="en-US" altLang="zh-CN" dirty="0"/>
                  <a:t>26AWG</a:t>
                </a:r>
                <a:r>
                  <a:rPr lang="zh-CN" altLang="en-US" dirty="0"/>
                  <a:t>，</a:t>
                </a:r>
                <a:r>
                  <a:rPr lang="en-US" altLang="zh-CN" dirty="0"/>
                  <a:t>0.13mm^2</a:t>
                </a:r>
                <a:r>
                  <a:rPr lang="zh-CN" altLang="en-US" dirty="0"/>
                  <a:t>，走信号</a:t>
                </a:r>
              </a:p>
            </p:txBody>
          </p:sp>
        </mc:Choice>
        <mc:Fallback xmlns="">
          <p:sp>
            <p:nvSpPr>
              <p:cNvPr id="4" name="内容占位符 3">
                <a:extLst>
                  <a:ext uri="{FF2B5EF4-FFF2-40B4-BE49-F238E27FC236}">
                    <a16:creationId xmlns:a16="http://schemas.microsoft.com/office/drawing/2014/main" id="{D4D76E9F-7281-FB23-2118-63B7C43370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69721" y="1477732"/>
                <a:ext cx="5181600" cy="4351338"/>
              </a:xfrm>
              <a:blipFill>
                <a:blip r:embed="rId2"/>
                <a:stretch>
                  <a:fillRect l="-2471" t="-2521" r="-1412"/>
                </a:stretch>
              </a:blipFill>
            </p:spPr>
            <p:txBody>
              <a:bodyPr/>
              <a:lstStyle/>
              <a:p>
                <a:r>
                  <a:rPr lang="zh-SG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图片 8">
            <a:extLst>
              <a:ext uri="{FF2B5EF4-FFF2-40B4-BE49-F238E27FC236}">
                <a16:creationId xmlns:a16="http://schemas.microsoft.com/office/drawing/2014/main" id="{7BB050C8-63FB-96DB-D1F6-3B6BD996C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321" y="0"/>
            <a:ext cx="6340679" cy="6858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878D174-5E1E-BC36-B65E-AB249433DB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976577"/>
            <a:ext cx="3815938" cy="28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6456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E7E7DE-A1C5-DE2C-8485-83CD0B784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定长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FD37560-1E4A-9D22-69CF-D52811E72F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规划线路</a:t>
            </a:r>
            <a:endParaRPr lang="en-US" altLang="zh-CN" dirty="0"/>
          </a:p>
          <a:p>
            <a:r>
              <a:rPr lang="zh-CN" altLang="en-US" dirty="0"/>
              <a:t>有方便固定的点位</a:t>
            </a:r>
            <a:endParaRPr lang="en-US" altLang="zh-CN" dirty="0"/>
          </a:p>
          <a:p>
            <a:r>
              <a:rPr lang="zh-CN" altLang="en-US" dirty="0"/>
              <a:t>避免受拉</a:t>
            </a:r>
            <a:r>
              <a:rPr lang="en-US" altLang="zh-CN" dirty="0"/>
              <a:t>/</a:t>
            </a:r>
            <a:r>
              <a:rPr lang="zh-CN" altLang="en-US" dirty="0"/>
              <a:t>受压</a:t>
            </a:r>
            <a:r>
              <a:rPr lang="en-US" altLang="zh-CN" dirty="0"/>
              <a:t>/</a:t>
            </a:r>
            <a:r>
              <a:rPr lang="zh-CN" altLang="en-US" dirty="0"/>
              <a:t>受击</a:t>
            </a:r>
            <a:endParaRPr lang="en-US" altLang="zh-CN" dirty="0"/>
          </a:p>
          <a:p>
            <a:r>
              <a:rPr lang="zh-CN" altLang="en-US" dirty="0"/>
              <a:t>可通过分电板引出分支</a:t>
            </a:r>
            <a:endParaRPr lang="en-US" altLang="zh-CN" dirty="0"/>
          </a:p>
          <a:p>
            <a:r>
              <a:rPr lang="zh-CN" altLang="en-US" dirty="0"/>
              <a:t>信号线布设时应尽量符合标准，如</a:t>
            </a:r>
            <a:r>
              <a:rPr lang="en-US" altLang="zh-CN" dirty="0"/>
              <a:t>CAN</a:t>
            </a:r>
            <a:r>
              <a:rPr lang="zh-CN" altLang="en-US" dirty="0"/>
              <a:t>线应尽量缩短支路</a:t>
            </a:r>
            <a:endParaRPr lang="en-US" altLang="zh-CN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576A1A1-D026-5BB2-3113-CAF4D0710DB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留余量</a:t>
            </a:r>
            <a:endParaRPr lang="en-US" altLang="zh-CN" dirty="0"/>
          </a:p>
          <a:p>
            <a:r>
              <a:rPr lang="zh-CN" altLang="en-US" dirty="0"/>
              <a:t>旋转、平移到限位时不扯线</a:t>
            </a:r>
            <a:endParaRPr lang="en-US" altLang="zh-CN" dirty="0"/>
          </a:p>
          <a:p>
            <a:r>
              <a:rPr lang="zh-CN" altLang="en-US" dirty="0"/>
              <a:t>检修时为了不增加焊点数量，会越剪越短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A73D6EC-6AA7-41E5-ACA8-AA57BC87C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885033"/>
            <a:ext cx="6096000" cy="1291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708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C38C44-564C-99CB-22AF-13091DEAE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焊接要求与技巧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B0FE35-D810-2542-3664-7B1FF5DC7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549179"/>
            <a:ext cx="5181600" cy="4351338"/>
          </a:xfrm>
        </p:spPr>
        <p:txBody>
          <a:bodyPr/>
          <a:lstStyle/>
          <a:p>
            <a:r>
              <a:rPr lang="zh-CN" altLang="en-US" dirty="0"/>
              <a:t>焊点圆润饱满，完全浸润线芯</a:t>
            </a:r>
            <a:endParaRPr lang="en-US" altLang="zh-CN" dirty="0"/>
          </a:p>
          <a:p>
            <a:r>
              <a:rPr lang="zh-CN" altLang="en-US" dirty="0"/>
              <a:t>尽量短小，浸润锡的线难弯折</a:t>
            </a:r>
            <a:endParaRPr lang="en-US" altLang="zh-CN" dirty="0"/>
          </a:p>
          <a:p>
            <a:r>
              <a:rPr lang="zh-CN" altLang="en-US" dirty="0"/>
              <a:t>无尖刺，避免刺破热缩管</a:t>
            </a:r>
            <a:endParaRPr lang="en-US" altLang="zh-CN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BC1A8FE-8B09-8ADD-E6FE-C6E13855D3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8"/>
            <a:ext cx="5181600" cy="4351338"/>
          </a:xfrm>
        </p:spPr>
        <p:txBody>
          <a:bodyPr/>
          <a:lstStyle/>
          <a:p>
            <a:r>
              <a:rPr lang="zh-CN" altLang="en-US" dirty="0"/>
              <a:t>信号线较细，可以将线芯扭成一个小结后上锡，也可以各自上锡后搭到一起；功率线较粗，可以各剪去一半线芯后搭在一起焊</a:t>
            </a:r>
            <a:endParaRPr lang="en-US" altLang="zh-CN" dirty="0"/>
          </a:p>
          <a:p>
            <a:r>
              <a:rPr lang="zh-CN" altLang="en-US" dirty="0"/>
              <a:t>烙铁</a:t>
            </a:r>
            <a:r>
              <a:rPr lang="en-US" altLang="zh-CN" dirty="0"/>
              <a:t>320</a:t>
            </a:r>
            <a:r>
              <a:rPr lang="zh-CN" altLang="en-US" dirty="0"/>
              <a:t>度及以上，寻找合适角度增大接触面</a:t>
            </a:r>
            <a:endParaRPr lang="en-US" altLang="zh-CN" dirty="0"/>
          </a:p>
          <a:p>
            <a:r>
              <a:rPr lang="zh-CN" altLang="en-US" dirty="0"/>
              <a:t>充分加热，若焊锡氧化可使用锡丝中的松香进行还原</a:t>
            </a:r>
            <a:endParaRPr lang="en-US" altLang="zh-CN" dirty="0"/>
          </a:p>
          <a:p>
            <a:r>
              <a:rPr lang="zh-CN" altLang="en-US" dirty="0"/>
              <a:t>尽量固定线端，避免滑落</a:t>
            </a:r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7FCB60B-CED1-ADB6-029E-294C530F0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2014" y="3016251"/>
            <a:ext cx="2880185" cy="384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69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2A8CDA-50C5-66B2-64D0-738D7DFDD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绝缘、保护和固定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C4DE1F-F4F2-53A9-AAAD-4E9BED0C79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绝缘：</a:t>
            </a:r>
            <a:endParaRPr lang="en-US" altLang="zh-CN" dirty="0"/>
          </a:p>
          <a:p>
            <a:r>
              <a:rPr lang="zh-CN" altLang="en-US" dirty="0"/>
              <a:t>热缩管套住焊点</a:t>
            </a:r>
            <a:endParaRPr lang="en-US" altLang="zh-CN" dirty="0"/>
          </a:p>
          <a:p>
            <a:r>
              <a:rPr lang="zh-CN" altLang="en-US" dirty="0"/>
              <a:t>三防漆覆盖焊盘</a:t>
            </a:r>
            <a:endParaRPr lang="en-US" altLang="zh-CN" dirty="0"/>
          </a:p>
          <a:p>
            <a:r>
              <a:rPr lang="zh-CN" altLang="en-US" dirty="0"/>
              <a:t>醋酸布包裹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DEDB503-B7DA-42A2-9DBE-0779BB9FF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86808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保护：</a:t>
            </a:r>
            <a:endParaRPr lang="en-US" altLang="zh-CN" dirty="0"/>
          </a:p>
          <a:p>
            <a:r>
              <a:rPr lang="zh-CN" altLang="en-US" dirty="0"/>
              <a:t>束线管</a:t>
            </a:r>
            <a:endParaRPr lang="en-US" altLang="zh-CN" dirty="0"/>
          </a:p>
          <a:p>
            <a:r>
              <a:rPr lang="zh-CN" altLang="en-US" dirty="0"/>
              <a:t>蛇皮管</a:t>
            </a:r>
            <a:endParaRPr lang="en-US" altLang="zh-CN" dirty="0"/>
          </a:p>
          <a:p>
            <a:r>
              <a:rPr lang="zh-CN" altLang="en-US" dirty="0"/>
              <a:t>拷打机械留出线槽</a:t>
            </a:r>
            <a:endParaRPr lang="en-US" altLang="zh-CN" dirty="0"/>
          </a:p>
        </p:txBody>
      </p:sp>
      <p:sp>
        <p:nvSpPr>
          <p:cNvPr id="5" name="内容占位符 3">
            <a:extLst>
              <a:ext uri="{FF2B5EF4-FFF2-40B4-BE49-F238E27FC236}">
                <a16:creationId xmlns:a16="http://schemas.microsoft.com/office/drawing/2014/main" id="{F9552844-7714-2AAA-2EB9-E4D820BF3A71}"/>
              </a:ext>
            </a:extLst>
          </p:cNvPr>
          <p:cNvSpPr txBox="1">
            <a:spLocks/>
          </p:cNvSpPr>
          <p:nvPr/>
        </p:nvSpPr>
        <p:spPr>
          <a:xfrm>
            <a:off x="7010400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固定：</a:t>
            </a:r>
            <a:endParaRPr lang="en-US" altLang="zh-CN" dirty="0"/>
          </a:p>
          <a:p>
            <a:r>
              <a:rPr lang="zh-CN" altLang="en-US" dirty="0"/>
              <a:t>扎带捆扎（拷打机械留孔位）</a:t>
            </a:r>
            <a:endParaRPr lang="en-US" altLang="zh-CN" dirty="0"/>
          </a:p>
          <a:p>
            <a:r>
              <a:rPr lang="zh-CN" altLang="en-US" dirty="0"/>
              <a:t>接口打热熔胶</a:t>
            </a:r>
            <a:endParaRPr lang="en-US" altLang="zh-CN" dirty="0"/>
          </a:p>
          <a:p>
            <a:r>
              <a:rPr lang="zh-CN" altLang="en-US" dirty="0"/>
              <a:t>近端再次固定，避免线束由于惯性拉扯接口</a:t>
            </a:r>
            <a:endParaRPr lang="en-US" altLang="zh-CN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B0A8D7EE-ACE7-F8AF-3831-FFF98B4140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3700" y="4346544"/>
            <a:ext cx="6172200" cy="123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265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446</Words>
  <PresentationFormat>宽屏</PresentationFormat>
  <Paragraphs>77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等线</vt:lpstr>
      <vt:lpstr>等线 Light</vt:lpstr>
      <vt:lpstr>Arial</vt:lpstr>
      <vt:lpstr>Cambria Math</vt:lpstr>
      <vt:lpstr>Office 主题​​</vt:lpstr>
      <vt:lpstr>常见设备的供电与通信需求</vt:lpstr>
      <vt:lpstr>常用电机</vt:lpstr>
      <vt:lpstr>PowerPoint 演示文稿</vt:lpstr>
      <vt:lpstr>PowerPoint 演示文稿</vt:lpstr>
      <vt:lpstr>裁判系统接线</vt:lpstr>
      <vt:lpstr>裁判系统接线</vt:lpstr>
      <vt:lpstr>常见接口</vt:lpstr>
      <vt:lpstr>常见线材</vt:lpstr>
      <vt:lpstr>线径的选择</vt:lpstr>
      <vt:lpstr>定长</vt:lpstr>
      <vt:lpstr>焊接要求与技巧</vt:lpstr>
      <vt:lpstr>绝缘、保护和固定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terms:created xsi:type="dcterms:W3CDTF">2026-07-04T11:10:30Z</dcterms:created>
  <dcterms:modified xsi:type="dcterms:W3CDTF">2026-07-05T01:37:29Z</dcterms:modified>
</cp:coreProperties>
</file>