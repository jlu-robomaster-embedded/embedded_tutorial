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  <p:sldId id="267" r:id="rId4"/>
    <p:sldId id="269" r:id="rId5"/>
    <p:sldId id="268" r:id="rId6"/>
    <p:sldId id="264" r:id="rId7"/>
    <p:sldId id="265" r:id="rId8"/>
    <p:sldId id="262" r:id="rId9"/>
    <p:sldId id="258" r:id="rId10"/>
    <p:sldId id="263" r:id="rId11"/>
    <p:sldId id="266" r:id="rId12"/>
    <p:sldId id="260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7CA1C-937F-A205-6BC8-993177B51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CC39DB-E93E-2E24-66EF-56A54F945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8F308-CB08-2DF8-8E63-61126A13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7BF80D-9898-A076-9785-FB89856F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36BB1-3027-0314-D7FB-6DA5401C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02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2182B-9844-2B83-4923-A4FCB34A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FB1D7F-60C8-2D7F-F0D3-157E91D86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F6E89-C8E8-532C-5892-8C5C6C1D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3C573C-6178-2E9B-FF29-9E6E2E13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8DDEC3-9868-0095-95D3-DF8C51E1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92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CA96A-75DF-EFA2-6E2C-0E1AD177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79F34C-8FEF-637B-3A66-D7315AF2C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33712B-F84E-6409-35B8-58BC8FAE6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70F4B1-35F6-535C-DF22-0E7E8864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AA2410-2C22-40AB-EEE1-053B0A25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98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B5195-7DF6-E616-44F6-3DEE6E50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87F323-4840-E433-7E5E-CB90FDA7E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552D83-156F-A2AF-B1B5-F58BA70C3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B5394C-937C-E5B2-965E-F8D53B77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E97D53-C2A1-6F84-8F32-E897C904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4A9DFD-8270-8B78-F4DB-EF59185A9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19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05D06-454D-6FF1-0911-2AB5C000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BD3889-3F24-46B2-49C0-FEC3E72D0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737AB5-30F6-5D8D-C939-6C54E5D8D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945DB7-6C8E-7DC7-89C4-57F92767D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115230-26AC-7804-1FDB-8B6263907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191D16-237C-C7F7-6D8A-5E9954AC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FBAD09-BD08-3898-EA9D-FB440AB5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4D09D5-36D0-AB05-8C2B-9979BC2C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950E6-1FB5-24E4-748F-499E570F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73D172-3373-1835-CEFA-A1B7B8F3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518419-E2ED-99D4-42BD-392D1209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A34D31-B315-F89A-CA38-BC7C59B8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3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AE65A8-EFFD-7324-0DE1-23E5C73B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2480B0-8261-D91B-5C37-77543399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31744B-6925-576E-81AA-00C44871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52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21191-77C7-06F8-2DE6-FC2E1021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AF7612-A537-EF86-C87E-17B070B4A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39E5FC-4B78-E80A-2E6D-C1ED936D2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E998B7-0749-1026-6827-9BD31CCC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A2A5C8-FA64-C8D9-CA7A-3DF95715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1B292D-FCEB-A77D-0A29-ECF62ACC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91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4C605-BC30-3E30-854F-AD0A1CF0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A76DE5-3A1D-2C4D-F297-C51E6F3E8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C9C402-8DDC-501A-D77F-4A0DD692C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92DA6-6D1E-D6F2-6361-211613BD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940458-B372-1075-0FC5-44768CA1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EC42D-3780-3369-C75F-B127BC1A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57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EC309-A893-AB67-34FD-AD59A53D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BD28FD-6F50-BE0A-09EF-BAF91809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E1BFF8-67B5-9283-2170-BCCD29C4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34149-721F-C88D-647C-8140F7D6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997959-A26D-AB13-B78B-9DD3EA15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33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D374C8-C5F3-2917-CE1E-F7FF4D3F1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9B0251-58B1-025A-C46D-BDADB44BC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3F2312-18A5-CDA3-5598-616D7E08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FBE257-C9B6-DB01-4F34-4AB64B60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E7090-EB89-62B8-9286-39BDAEA2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13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F1F540-3518-A344-D1F2-55C2B8B0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8766A5-77A5-8442-CBE0-5EFAC5003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11D95A-B53C-1B76-A19C-146BF524C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F404B-45C4-4240-BFBB-39AB183EAC6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AB8021-17A8-7C50-E7FD-096B8552F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05336F-C2EB-0F2C-3BB9-1E8F0D387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C92DA-25E3-4CD6-9BD2-D6BCD515F6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41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n.bing.com/images/search?view=detailV2&amp;ccid=%2fkmbYsv9&amp;id=12930761E6C85B57973F3A9ABCD8CB1C32350441&amp;thid=OIP._kmbYsv9BZHjl04e4vji_gAAAA&amp;mediaurl=https%3a%2f%2fcbu01.alicdn.com%2fimg%2fibank%2fO1CN01nOqvl51HnoxMOJ8FC_!!2216866890803-0-cib.310x310.jpg&amp;exph=310&amp;expw=310&amp;q=GH1.25&amp;FORM=IRPRST&amp;ck=C6E5C56F92CF16D22F1D09D1E1302162&amp;selectedIndex=13&amp;itb=0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4A746-FA5A-FD16-427A-37C2EB2B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常见设备的供电与通信需求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B4E841-A468-14DB-674B-34445A768A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供电：</a:t>
            </a:r>
            <a:endParaRPr lang="en-US" altLang="zh-CN" dirty="0"/>
          </a:p>
          <a:p>
            <a:r>
              <a:rPr lang="zh-CN" altLang="en-US" dirty="0"/>
              <a:t>电机：</a:t>
            </a:r>
            <a:r>
              <a:rPr lang="en-US" altLang="zh-CN" dirty="0"/>
              <a:t>24V</a:t>
            </a:r>
            <a:r>
              <a:rPr lang="zh-CN" altLang="en-US" dirty="0"/>
              <a:t>，大电流，会有反电动势</a:t>
            </a:r>
            <a:endParaRPr lang="en-US" altLang="zh-CN" dirty="0"/>
          </a:p>
          <a:p>
            <a:r>
              <a:rPr lang="zh-CN" altLang="en-US" dirty="0"/>
              <a:t>主控板：</a:t>
            </a:r>
            <a:r>
              <a:rPr lang="en-US" altLang="zh-CN" dirty="0"/>
              <a:t>24V</a:t>
            </a:r>
            <a:r>
              <a:rPr lang="zh-CN" altLang="en-US" dirty="0"/>
              <a:t>供电，小电流</a:t>
            </a:r>
            <a:endParaRPr lang="en-US" altLang="zh-CN" dirty="0"/>
          </a:p>
          <a:p>
            <a:r>
              <a:rPr lang="en-US" altLang="zh-CN" dirty="0"/>
              <a:t>NUC</a:t>
            </a:r>
            <a:r>
              <a:rPr lang="zh-CN" altLang="en-US" dirty="0"/>
              <a:t>：</a:t>
            </a:r>
            <a:r>
              <a:rPr lang="en-US" altLang="zh-CN" dirty="0"/>
              <a:t>19V</a:t>
            </a:r>
            <a:r>
              <a:rPr lang="zh-CN" altLang="en-US" dirty="0"/>
              <a:t>供电，大电流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F39302-404B-9A7F-8E8A-8275CF6D08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信号：</a:t>
            </a:r>
            <a:endParaRPr lang="en-US" altLang="zh-CN" dirty="0"/>
          </a:p>
          <a:p>
            <a:r>
              <a:rPr lang="zh-CN" altLang="en-US" dirty="0"/>
              <a:t>主控</a:t>
            </a:r>
            <a:r>
              <a:rPr lang="en-US" altLang="zh-CN" dirty="0"/>
              <a:t>-</a:t>
            </a:r>
            <a:r>
              <a:rPr lang="zh-CN" altLang="en-US" dirty="0"/>
              <a:t>电机：</a:t>
            </a:r>
            <a:r>
              <a:rPr lang="en-US" altLang="zh-CN" dirty="0"/>
              <a:t>CAN</a:t>
            </a:r>
          </a:p>
          <a:p>
            <a:r>
              <a:rPr lang="zh-CN" altLang="en-US" dirty="0"/>
              <a:t>主控</a:t>
            </a:r>
            <a:r>
              <a:rPr lang="en-US" altLang="zh-CN" dirty="0"/>
              <a:t>-</a:t>
            </a:r>
            <a:r>
              <a:rPr lang="zh-CN" altLang="en-US" dirty="0"/>
              <a:t>裁判系统：串口</a:t>
            </a:r>
            <a:endParaRPr lang="en-US" altLang="zh-CN" dirty="0"/>
          </a:p>
          <a:p>
            <a:r>
              <a:rPr lang="zh-CN" altLang="en-US" dirty="0"/>
              <a:t>上下板：</a:t>
            </a:r>
            <a:r>
              <a:rPr lang="en-US" altLang="zh-CN" dirty="0"/>
              <a:t>485</a:t>
            </a:r>
          </a:p>
          <a:p>
            <a:r>
              <a:rPr lang="en-US" altLang="zh-CN" dirty="0"/>
              <a:t>NUC</a:t>
            </a:r>
            <a:r>
              <a:rPr lang="zh-CN" altLang="en-US" dirty="0"/>
              <a:t>：</a:t>
            </a:r>
            <a:r>
              <a:rPr lang="en-US" altLang="zh-CN" dirty="0"/>
              <a:t>USB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2419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F3FA1-7899-0930-6482-286E8C1A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常见通讯协议与对应接线要求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BF3B13-6CD0-791E-04F7-B51BB527D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51673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CAN</a:t>
            </a:r>
          </a:p>
          <a:p>
            <a:r>
              <a:rPr lang="en-US" altLang="zh-SG" dirty="0"/>
              <a:t>1~5</a:t>
            </a:r>
            <a:r>
              <a:rPr lang="en-US" altLang="zh-CN" dirty="0"/>
              <a:t>M</a:t>
            </a:r>
          </a:p>
          <a:p>
            <a:r>
              <a:rPr lang="en-US" altLang="zh-SG" dirty="0"/>
              <a:t>2</a:t>
            </a:r>
            <a:r>
              <a:rPr lang="zh-CN" altLang="en-US" dirty="0"/>
              <a:t>根差分线（</a:t>
            </a:r>
            <a:r>
              <a:rPr lang="en-US" altLang="zh-CN" dirty="0"/>
              <a:t>H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H</a:t>
            </a:r>
            <a:r>
              <a:rPr lang="zh-CN" altLang="en-US" dirty="0"/>
              <a:t>连</a:t>
            </a:r>
            <a:r>
              <a:rPr lang="en-US" altLang="zh-CN" dirty="0"/>
              <a:t>H</a:t>
            </a:r>
            <a:r>
              <a:rPr lang="zh-CN" altLang="en-US" dirty="0"/>
              <a:t>，</a:t>
            </a:r>
            <a:r>
              <a:rPr lang="en-US" altLang="zh-CN" dirty="0"/>
              <a:t>L</a:t>
            </a:r>
            <a:r>
              <a:rPr lang="zh-CN" altLang="en-US" dirty="0"/>
              <a:t>连</a:t>
            </a:r>
            <a:r>
              <a:rPr lang="en-US" altLang="zh-CN" dirty="0"/>
              <a:t>L</a:t>
            </a:r>
          </a:p>
          <a:p>
            <a:pPr marL="0" indent="0">
              <a:buNone/>
            </a:pPr>
            <a:r>
              <a:rPr lang="en-US" altLang="zh-CN" dirty="0"/>
              <a:t>UART</a:t>
            </a:r>
          </a:p>
          <a:p>
            <a:r>
              <a:rPr lang="en-US" altLang="zh-SG" dirty="0"/>
              <a:t>115200</a:t>
            </a:r>
            <a:r>
              <a:rPr lang="zh-CN" altLang="en-US" dirty="0"/>
              <a:t>，</a:t>
            </a:r>
            <a:r>
              <a:rPr lang="en-US" altLang="zh-CN" dirty="0"/>
              <a:t>921600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一般</a:t>
            </a:r>
            <a:r>
              <a:rPr lang="en-US" altLang="zh-CN" dirty="0"/>
              <a:t>3</a:t>
            </a:r>
            <a:r>
              <a:rPr lang="zh-CN" altLang="en-US" dirty="0"/>
              <a:t>根线（</a:t>
            </a:r>
            <a:r>
              <a:rPr lang="en-US" altLang="zh-CN" dirty="0"/>
              <a:t>Tx</a:t>
            </a:r>
            <a:r>
              <a:rPr lang="zh-CN" altLang="en-US" dirty="0"/>
              <a:t>，</a:t>
            </a:r>
            <a:r>
              <a:rPr lang="en-US" altLang="zh-CN" dirty="0"/>
              <a:t>Rx</a:t>
            </a:r>
            <a:r>
              <a:rPr lang="zh-CN" altLang="en-US" dirty="0"/>
              <a:t>，共地）</a:t>
            </a:r>
            <a:endParaRPr lang="en-US" altLang="zh-CN" dirty="0"/>
          </a:p>
          <a:p>
            <a:r>
              <a:rPr lang="en-US" altLang="zh-CN" dirty="0"/>
              <a:t>Tx</a:t>
            </a:r>
            <a:r>
              <a:rPr lang="zh-CN" altLang="en-US" dirty="0"/>
              <a:t>对</a:t>
            </a:r>
            <a:r>
              <a:rPr lang="en-US" altLang="zh-CN" dirty="0"/>
              <a:t>Rx</a:t>
            </a:r>
            <a:r>
              <a:rPr lang="zh-CN" altLang="en-US" dirty="0"/>
              <a:t>，地连地</a:t>
            </a:r>
            <a:endParaRPr lang="en-US" altLang="zh-CN" dirty="0"/>
          </a:p>
          <a:p>
            <a:pPr marL="0" indent="0">
              <a:buNone/>
            </a:pPr>
            <a:r>
              <a:rPr lang="en-US" altLang="zh-SG" dirty="0"/>
              <a:t>485</a:t>
            </a:r>
          </a:p>
          <a:p>
            <a:r>
              <a:rPr lang="en-US" altLang="zh-SG" dirty="0"/>
              <a:t>2</a:t>
            </a:r>
            <a:r>
              <a:rPr lang="zh-CN" altLang="en-US" dirty="0"/>
              <a:t>根差分线（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SG" dirty="0"/>
              <a:t>A</a:t>
            </a:r>
            <a:r>
              <a:rPr lang="zh-CN" altLang="en-US" dirty="0"/>
              <a:t>连</a:t>
            </a:r>
            <a:r>
              <a:rPr lang="en-US" altLang="zh-SG" dirty="0"/>
              <a:t>A</a:t>
            </a:r>
            <a:r>
              <a:rPr lang="zh-CN" altLang="en-US" dirty="0"/>
              <a:t>，</a:t>
            </a:r>
            <a:r>
              <a:rPr lang="en-US" altLang="zh-SG" dirty="0"/>
              <a:t>B</a:t>
            </a:r>
            <a:r>
              <a:rPr lang="zh-CN" altLang="en-US" dirty="0"/>
              <a:t>连</a:t>
            </a:r>
            <a:r>
              <a:rPr lang="en-US" altLang="zh-SG" dirty="0"/>
              <a:t>B</a:t>
            </a:r>
            <a:endParaRPr lang="zh-SG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924E5E-5F10-CE72-673F-709074FA6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516731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注意线序，以手册为准</a:t>
            </a:r>
            <a:endParaRPr lang="en-US" altLang="zh-CN" dirty="0"/>
          </a:p>
          <a:p>
            <a:pPr lvl="1"/>
            <a:r>
              <a:rPr lang="en-US" altLang="zh-CN" dirty="0"/>
              <a:t>CAN</a:t>
            </a:r>
            <a:r>
              <a:rPr lang="zh-CN" altLang="en-US" dirty="0"/>
              <a:t>接口：左</a:t>
            </a:r>
            <a:r>
              <a:rPr lang="en-US" altLang="zh-CN" dirty="0"/>
              <a:t>H</a:t>
            </a:r>
            <a:r>
              <a:rPr lang="zh-CN" altLang="en-US" dirty="0"/>
              <a:t>右</a:t>
            </a:r>
            <a:r>
              <a:rPr lang="en-US" altLang="zh-CN" dirty="0"/>
              <a:t>L</a:t>
            </a:r>
            <a:r>
              <a:rPr lang="zh-CN" altLang="en-US" dirty="0"/>
              <a:t>或左</a:t>
            </a:r>
            <a:r>
              <a:rPr lang="en-US" altLang="zh-CN" dirty="0"/>
              <a:t>L</a:t>
            </a:r>
            <a:r>
              <a:rPr lang="zh-CN" altLang="en-US" dirty="0"/>
              <a:t>右</a:t>
            </a:r>
            <a:r>
              <a:rPr lang="en-US" altLang="zh-CN" dirty="0"/>
              <a:t>H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有没有电源线？</a:t>
            </a:r>
            <a:endParaRPr lang="zh-SG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839094-8BDD-9A58-17EB-8A46622F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266" y="2766959"/>
            <a:ext cx="5439534" cy="16004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55B69F4-93DD-E787-E094-3268BE93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268" y="4367382"/>
            <a:ext cx="6336732" cy="248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34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5E2C5-DF32-13E8-9FF3-91C9F33B8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常用电机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BDF090-144B-B729-3979-91C4E69D3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大疆电机：</a:t>
            </a:r>
            <a:endParaRPr lang="en-US" altLang="zh-CN" dirty="0"/>
          </a:p>
          <a:p>
            <a:r>
              <a:rPr lang="en-US" altLang="zh-CN" dirty="0"/>
              <a:t>C620+3508</a:t>
            </a:r>
          </a:p>
          <a:p>
            <a:r>
              <a:rPr lang="en-US" altLang="zh-CN" dirty="0"/>
              <a:t>C610+2006</a:t>
            </a:r>
          </a:p>
          <a:p>
            <a:r>
              <a:rPr lang="en-US" altLang="zh-SG" dirty="0"/>
              <a:t>6020</a:t>
            </a:r>
          </a:p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XT30+GH1.25</a:t>
            </a:r>
            <a:endParaRPr lang="zh-SG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D59F0C-FB9A-F4AD-8C84-C37956CF8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达妙电机：</a:t>
            </a:r>
            <a:endParaRPr lang="en-US" altLang="zh-CN" dirty="0"/>
          </a:p>
          <a:p>
            <a:r>
              <a:rPr lang="en-US" altLang="zh-SG" dirty="0"/>
              <a:t>4310</a:t>
            </a:r>
          </a:p>
          <a:p>
            <a:r>
              <a:rPr lang="en-US" altLang="zh-SG" dirty="0"/>
              <a:t>8009</a:t>
            </a:r>
          </a:p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XT30 2+2</a:t>
            </a:r>
          </a:p>
          <a:p>
            <a:pPr marL="0" indent="0">
              <a:buNone/>
            </a:pPr>
            <a:endParaRPr lang="en-US" altLang="zh-SG" dirty="0"/>
          </a:p>
          <a:p>
            <a:r>
              <a:rPr lang="en-US" altLang="zh-SG" dirty="0"/>
              <a:t>3507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/>
              <a:t>SH1.0</a:t>
            </a:r>
            <a:endParaRPr lang="en-US" altLang="zh-SG" dirty="0"/>
          </a:p>
        </p:txBody>
      </p:sp>
    </p:spTree>
    <p:extLst>
      <p:ext uri="{BB962C8B-B14F-4D97-AF65-F5344CB8AC3E}">
        <p14:creationId xmlns:p14="http://schemas.microsoft.com/office/powerpoint/2010/main" val="396740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005CEEF-BAF0-44FB-32C7-D496BEF76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19" y="509180"/>
            <a:ext cx="10116962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3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2F645F2-BD95-1A3A-7E3F-ED63F4AFE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371" y="0"/>
            <a:ext cx="7974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43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8B685-027A-8D12-C46C-4A16728A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裁判系统接线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BCB741-D387-C5A7-8BAC-9ED5D5249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375249"/>
            <a:ext cx="5181600" cy="4351338"/>
          </a:xfrm>
        </p:spPr>
        <p:txBody>
          <a:bodyPr/>
          <a:lstStyle/>
          <a:p>
            <a:r>
              <a:rPr lang="zh-CN" altLang="en-US" dirty="0"/>
              <a:t>看规则</a:t>
            </a:r>
            <a:endParaRPr lang="en-US" altLang="zh-CN" dirty="0"/>
          </a:p>
          <a:p>
            <a:r>
              <a:rPr lang="zh-CN" altLang="en-US" dirty="0"/>
              <a:t>看规则</a:t>
            </a:r>
            <a:endParaRPr lang="en-US" altLang="zh-CN" dirty="0"/>
          </a:p>
          <a:p>
            <a:r>
              <a:rPr lang="zh-CN" altLang="en-US" dirty="0"/>
              <a:t>看规则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605BE8-7CED-A702-22EB-A7D8C611C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75249"/>
            <a:ext cx="5181600" cy="4351338"/>
          </a:xfrm>
        </p:spPr>
        <p:txBody>
          <a:bodyPr/>
          <a:lstStyle/>
          <a:p>
            <a:r>
              <a:rPr lang="zh-CN" altLang="en-US" dirty="0"/>
              <a:t>看轻流</a:t>
            </a:r>
            <a:endParaRPr lang="en-US" altLang="zh-CN" dirty="0"/>
          </a:p>
          <a:p>
            <a:r>
              <a:rPr lang="zh-CN" altLang="en-US" dirty="0"/>
              <a:t>看轻流</a:t>
            </a:r>
            <a:endParaRPr lang="en-US" altLang="zh-CN" dirty="0"/>
          </a:p>
          <a:p>
            <a:r>
              <a:rPr lang="zh-CN" altLang="en-US" dirty="0"/>
              <a:t>看轻流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03F7C1-A58A-A927-58F6-010EBF09B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6270"/>
            <a:ext cx="6583680" cy="37317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3E6C745-3C9D-C18F-DB77-3BA9D3086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584" y="3776870"/>
            <a:ext cx="5610416" cy="308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0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F089B-E194-071F-8EA8-9FF3BB1F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裁判系统接线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E28B5F-CBD4-830F-F15F-BB3D4BCB6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35741"/>
            <a:ext cx="6510900" cy="42222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7DAED7-2FB5-3F93-E243-D2AB8560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901" y="0"/>
            <a:ext cx="56810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5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C7C8E-BA93-8DA6-7F44-0DE04542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常见接口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F44374-BF35-4287-3117-D1D9B9F6D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90688"/>
            <a:ext cx="5181600" cy="4351338"/>
          </a:xfrm>
        </p:spPr>
        <p:txBody>
          <a:bodyPr/>
          <a:lstStyle/>
          <a:p>
            <a:r>
              <a:rPr lang="en-US" altLang="zh-CN" dirty="0"/>
              <a:t>XT30/60</a:t>
            </a:r>
          </a:p>
          <a:p>
            <a:pPr marL="0" indent="0">
              <a:buNone/>
            </a:pPr>
            <a:r>
              <a:rPr lang="zh-CN" altLang="en-US" dirty="0"/>
              <a:t>能过大电流，常用于功率线</a:t>
            </a:r>
            <a:endParaRPr lang="en-US" altLang="zh-CN" dirty="0"/>
          </a:p>
          <a:p>
            <a:r>
              <a:rPr lang="en-US" altLang="zh-CN" dirty="0"/>
              <a:t>GH1.25</a:t>
            </a:r>
          </a:p>
          <a:p>
            <a:pPr marL="0" indent="0">
              <a:buNone/>
            </a:pPr>
            <a:r>
              <a:rPr lang="zh-CN" altLang="en-US" dirty="0"/>
              <a:t>带锁扣，常用于信号线</a:t>
            </a:r>
            <a:endParaRPr lang="en-US" altLang="zh-CN" dirty="0"/>
          </a:p>
          <a:p>
            <a:r>
              <a:rPr lang="en-US" altLang="zh-CN" dirty="0"/>
              <a:t>MX1.25</a:t>
            </a:r>
          </a:p>
          <a:p>
            <a:pPr marL="0" indent="0">
              <a:buNone/>
            </a:pPr>
            <a:r>
              <a:rPr lang="zh-CN" altLang="en-US" dirty="0"/>
              <a:t>常用于烧录线</a:t>
            </a:r>
            <a:endParaRPr lang="en-US" altLang="zh-CN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9EAE9ED-67F0-4E19-12CE-89257BB826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1" y="-1"/>
            <a:ext cx="3427590" cy="3423311"/>
          </a:xfrm>
        </p:spPr>
      </p:pic>
      <p:sp>
        <p:nvSpPr>
          <p:cNvPr id="13" name="AutoShape 2" descr="Image result for GH1.25">
            <a:hlinkClick r:id="rId3"/>
            <a:extLst>
              <a:ext uri="{FF2B5EF4-FFF2-40B4-BE49-F238E27FC236}">
                <a16:creationId xmlns:a16="http://schemas.microsoft.com/office/drawing/2014/main" id="{9C70E040-D622-CFC2-6D1D-361B64295A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10175" y="2543175"/>
            <a:ext cx="177165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3F5982-812A-B0CD-9856-F77BDA165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1" y="3423310"/>
            <a:ext cx="3437613" cy="343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8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C7C8E-BA93-8DA6-7F44-0DE04542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常见线材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F11D634-38BE-8516-AFF0-43FE5F48ED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61334"/>
            <a:ext cx="5181600" cy="1205023"/>
          </a:xfr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F44374-BF35-4287-3117-D1D9B9F6D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90688"/>
            <a:ext cx="5181600" cy="4351338"/>
          </a:xfrm>
        </p:spPr>
        <p:txBody>
          <a:bodyPr/>
          <a:lstStyle/>
          <a:p>
            <a:r>
              <a:rPr lang="zh-CN" altLang="en-US" dirty="0"/>
              <a:t>硅胶线：软但易破易脱落</a:t>
            </a:r>
            <a:endParaRPr lang="en-US" altLang="zh-CN" dirty="0"/>
          </a:p>
          <a:p>
            <a:r>
              <a:rPr lang="zh-CN" altLang="en-US" dirty="0"/>
              <a:t>铁氟龙线：结实但硬，不易弯折</a:t>
            </a:r>
            <a:endParaRPr lang="en-US" altLang="zh-CN" dirty="0"/>
          </a:p>
          <a:p>
            <a:r>
              <a:rPr lang="zh-CN" altLang="en-US" dirty="0"/>
              <a:t>屏蔽双绞线缆：粗而重，不易弯折，一般仅用于高速差分信号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90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A17AC-48F0-1350-AA86-2A6A0C9E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线径的选择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D4D76E9F-7281-FB23-2118-63B7C43370D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9721" y="1477732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相同电流和材质，越粗发热越小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en-US" altLang="zh-C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altLang="zh-CN" dirty="0"/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AWG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American wire gauge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en-US" altLang="zh-CN" dirty="0"/>
                  <a:t>16AWG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1.3mm^2</a:t>
                </a:r>
                <a:r>
                  <a:rPr lang="zh-CN" altLang="en-US" dirty="0"/>
                  <a:t>，走功率</a:t>
                </a:r>
                <a:endParaRPr lang="en-US" altLang="zh-CN" dirty="0"/>
              </a:p>
              <a:p>
                <a:r>
                  <a:rPr lang="en-US" altLang="zh-CN" dirty="0"/>
                  <a:t>26AWG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0.13mm^2</a:t>
                </a:r>
                <a:r>
                  <a:rPr lang="zh-CN" altLang="en-US" dirty="0"/>
                  <a:t>，走信号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D4D76E9F-7281-FB23-2118-63B7C4337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9721" y="1477732"/>
                <a:ext cx="5181600" cy="4351338"/>
              </a:xfrm>
              <a:blipFill>
                <a:blip r:embed="rId2"/>
                <a:stretch>
                  <a:fillRect l="-2471" t="-2521" r="-1412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7BB050C8-63FB-96DB-D1F6-3B6BD996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321" y="0"/>
            <a:ext cx="634067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78D174-5E1E-BC36-B65E-AB249433D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76577"/>
            <a:ext cx="3815938" cy="28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45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7E7DE-A1C5-DE2C-8485-83CD0B78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定长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37560-1E4A-9D22-69CF-D52811E72F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规划线路</a:t>
            </a:r>
            <a:endParaRPr lang="en-US" altLang="zh-CN" dirty="0"/>
          </a:p>
          <a:p>
            <a:r>
              <a:rPr lang="zh-CN" altLang="en-US" dirty="0"/>
              <a:t>有方便固定的点位</a:t>
            </a:r>
            <a:endParaRPr lang="en-US" altLang="zh-CN" dirty="0"/>
          </a:p>
          <a:p>
            <a:r>
              <a:rPr lang="zh-CN" altLang="en-US" dirty="0"/>
              <a:t>避免受拉</a:t>
            </a:r>
            <a:r>
              <a:rPr lang="en-US" altLang="zh-CN" dirty="0"/>
              <a:t>/</a:t>
            </a:r>
            <a:r>
              <a:rPr lang="zh-CN" altLang="en-US" dirty="0"/>
              <a:t>受压</a:t>
            </a:r>
            <a:r>
              <a:rPr lang="en-US" altLang="zh-CN" dirty="0"/>
              <a:t>/</a:t>
            </a:r>
            <a:r>
              <a:rPr lang="zh-CN" altLang="en-US" dirty="0"/>
              <a:t>受击</a:t>
            </a:r>
            <a:endParaRPr lang="en-US" altLang="zh-CN" dirty="0"/>
          </a:p>
          <a:p>
            <a:r>
              <a:rPr lang="zh-CN" altLang="en-US" dirty="0"/>
              <a:t>可通过分电板引出分支</a:t>
            </a:r>
            <a:endParaRPr lang="en-US" altLang="zh-CN" dirty="0"/>
          </a:p>
          <a:p>
            <a:r>
              <a:rPr lang="zh-CN" altLang="en-US" dirty="0"/>
              <a:t>信号线布设时应尽量符合标准，如</a:t>
            </a:r>
            <a:r>
              <a:rPr lang="en-US" altLang="zh-CN" dirty="0"/>
              <a:t>CAN</a:t>
            </a:r>
            <a:r>
              <a:rPr lang="zh-CN" altLang="en-US" dirty="0"/>
              <a:t>线应尽量缩短支路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76A1A1-D026-5BB2-3113-CAF4D0710D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留余量</a:t>
            </a:r>
            <a:endParaRPr lang="en-US" altLang="zh-CN" dirty="0"/>
          </a:p>
          <a:p>
            <a:r>
              <a:rPr lang="zh-CN" altLang="en-US" dirty="0"/>
              <a:t>旋转、平移到限位时不扯线</a:t>
            </a:r>
            <a:endParaRPr lang="en-US" altLang="zh-CN" dirty="0"/>
          </a:p>
          <a:p>
            <a:r>
              <a:rPr lang="zh-CN" altLang="en-US" dirty="0"/>
              <a:t>检修时为了不增加焊点数量，会越剪越短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73D6EC-6AA7-41E5-ACA8-AA57BC87C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85033"/>
            <a:ext cx="6096000" cy="12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0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38C44-564C-99CB-22AF-13091DEAE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焊接要求与技巧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0FE35-D810-2542-3664-7B1FF5DC7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9179"/>
            <a:ext cx="5181600" cy="4351338"/>
          </a:xfrm>
        </p:spPr>
        <p:txBody>
          <a:bodyPr/>
          <a:lstStyle/>
          <a:p>
            <a:r>
              <a:rPr lang="zh-CN" altLang="en-US" dirty="0"/>
              <a:t>焊点圆润饱满，完全浸润线芯</a:t>
            </a:r>
            <a:endParaRPr lang="en-US" altLang="zh-CN" dirty="0"/>
          </a:p>
          <a:p>
            <a:r>
              <a:rPr lang="zh-CN" altLang="en-US" dirty="0"/>
              <a:t>尽量短小，浸润锡的线难弯折</a:t>
            </a:r>
            <a:endParaRPr lang="en-US" altLang="zh-CN" dirty="0"/>
          </a:p>
          <a:p>
            <a:r>
              <a:rPr lang="zh-CN" altLang="en-US" dirty="0"/>
              <a:t>无尖刺，避免刺破热缩管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C1A8FE-8B09-8ADD-E6FE-C6E13855D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351338"/>
          </a:xfrm>
        </p:spPr>
        <p:txBody>
          <a:bodyPr/>
          <a:lstStyle/>
          <a:p>
            <a:r>
              <a:rPr lang="zh-CN" altLang="en-US" dirty="0"/>
              <a:t>信号线较细，可以将线芯扭成一个小结后上锡，也可以各自上锡后搭到一起；功率线较粗，可以各剪去一半线芯后搭在一起焊</a:t>
            </a:r>
            <a:endParaRPr lang="en-US" altLang="zh-CN" dirty="0"/>
          </a:p>
          <a:p>
            <a:r>
              <a:rPr lang="zh-CN" altLang="en-US" dirty="0"/>
              <a:t>烙铁</a:t>
            </a:r>
            <a:r>
              <a:rPr lang="en-US" altLang="zh-CN" dirty="0"/>
              <a:t>320</a:t>
            </a:r>
            <a:r>
              <a:rPr lang="zh-CN" altLang="en-US" dirty="0"/>
              <a:t>度及以上，寻找合适角度增大接触面</a:t>
            </a:r>
            <a:endParaRPr lang="en-US" altLang="zh-CN" dirty="0"/>
          </a:p>
          <a:p>
            <a:r>
              <a:rPr lang="zh-CN" altLang="en-US" dirty="0"/>
              <a:t>充分加热，若焊锡氧化可使用锡丝中的松香进行还原</a:t>
            </a:r>
            <a:endParaRPr lang="en-US" altLang="zh-CN" dirty="0"/>
          </a:p>
          <a:p>
            <a:r>
              <a:rPr lang="zh-CN" altLang="en-US" dirty="0"/>
              <a:t>尽量固定线端，避免滑落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FCB60B-CED1-ADB6-029E-294C530F0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014" y="3016251"/>
            <a:ext cx="2880185" cy="384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9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A8CDA-50C5-66B2-64D0-738D7DFD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绝缘、保护和固定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4DE1F-F4F2-53A9-AAAD-4E9BED0C79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绝缘：</a:t>
            </a:r>
            <a:endParaRPr lang="en-US" altLang="zh-CN" dirty="0"/>
          </a:p>
          <a:p>
            <a:r>
              <a:rPr lang="zh-CN" altLang="en-US" dirty="0"/>
              <a:t>热缩管套住焊点</a:t>
            </a:r>
            <a:endParaRPr lang="en-US" altLang="zh-CN" dirty="0"/>
          </a:p>
          <a:p>
            <a:r>
              <a:rPr lang="zh-CN" altLang="en-US" dirty="0"/>
              <a:t>三防漆覆盖焊盘</a:t>
            </a:r>
            <a:endParaRPr lang="en-US" altLang="zh-CN" dirty="0"/>
          </a:p>
          <a:p>
            <a:r>
              <a:rPr lang="zh-CN" altLang="en-US" dirty="0"/>
              <a:t>醋酸布包裹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EDB503-B7DA-42A2-9DBE-0779BB9FF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86808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保护：</a:t>
            </a:r>
            <a:endParaRPr lang="en-US" altLang="zh-CN" dirty="0"/>
          </a:p>
          <a:p>
            <a:r>
              <a:rPr lang="zh-CN" altLang="en-US" dirty="0"/>
              <a:t>束线管</a:t>
            </a:r>
            <a:endParaRPr lang="en-US" altLang="zh-CN" dirty="0"/>
          </a:p>
          <a:p>
            <a:r>
              <a:rPr lang="zh-CN" altLang="en-US" dirty="0"/>
              <a:t>蛇皮管</a:t>
            </a:r>
            <a:endParaRPr lang="en-US" altLang="zh-CN" dirty="0"/>
          </a:p>
          <a:p>
            <a:r>
              <a:rPr lang="zh-CN" altLang="en-US" dirty="0"/>
              <a:t>拷打机械留出线槽</a:t>
            </a:r>
            <a:endParaRPr lang="en-US" altLang="zh-CN" dirty="0"/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F9552844-7714-2AAA-2EB9-E4D820BF3A71}"/>
              </a:ext>
            </a:extLst>
          </p:cNvPr>
          <p:cNvSpPr txBox="1">
            <a:spLocks/>
          </p:cNvSpPr>
          <p:nvPr/>
        </p:nvSpPr>
        <p:spPr>
          <a:xfrm>
            <a:off x="70104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固定：</a:t>
            </a:r>
            <a:endParaRPr lang="en-US" altLang="zh-CN" dirty="0"/>
          </a:p>
          <a:p>
            <a:r>
              <a:rPr lang="zh-CN" altLang="en-US" dirty="0"/>
              <a:t>扎带捆扎（拷打机械留孔位）</a:t>
            </a:r>
            <a:endParaRPr lang="en-US" altLang="zh-CN" dirty="0"/>
          </a:p>
          <a:p>
            <a:r>
              <a:rPr lang="zh-CN" altLang="en-US" dirty="0"/>
              <a:t>接口打热熔胶</a:t>
            </a:r>
            <a:endParaRPr lang="en-US" altLang="zh-CN" dirty="0"/>
          </a:p>
          <a:p>
            <a:r>
              <a:rPr lang="zh-CN" altLang="en-US" dirty="0"/>
              <a:t>近端再次固定，避免线束由于惯性拉扯接口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A8D7EE-ACE7-F8AF-3831-FFF98B414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4346544"/>
            <a:ext cx="6172200" cy="123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6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537</Words>
  <PresentationFormat>宽屏</PresentationFormat>
  <Paragraphs>92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Cambria Math</vt:lpstr>
      <vt:lpstr>Office 主题​​</vt:lpstr>
      <vt:lpstr>常见设备的供电与通信需求</vt:lpstr>
      <vt:lpstr>常见通讯协议与对应接线要求</vt:lpstr>
      <vt:lpstr>常用电机</vt:lpstr>
      <vt:lpstr>PowerPoint 演示文稿</vt:lpstr>
      <vt:lpstr>PowerPoint 演示文稿</vt:lpstr>
      <vt:lpstr>裁判系统接线</vt:lpstr>
      <vt:lpstr>裁判系统接线</vt:lpstr>
      <vt:lpstr>常见接口</vt:lpstr>
      <vt:lpstr>常见线材</vt:lpstr>
      <vt:lpstr>线径的选择</vt:lpstr>
      <vt:lpstr>定长</vt:lpstr>
      <vt:lpstr>焊接要求与技巧</vt:lpstr>
      <vt:lpstr>绝缘、保护和固定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2026-07-04T11:10:30Z</dcterms:created>
  <dcterms:modified xsi:type="dcterms:W3CDTF">2026-07-05T02:19:44Z</dcterms:modified>
</cp:coreProperties>
</file>