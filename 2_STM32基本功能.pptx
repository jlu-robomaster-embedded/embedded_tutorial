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73" r:id="rId11"/>
    <p:sldId id="278" r:id="rId12"/>
    <p:sldId id="266" r:id="rId13"/>
    <p:sldId id="270" r:id="rId14"/>
    <p:sldId id="268" r:id="rId15"/>
    <p:sldId id="271" r:id="rId16"/>
    <p:sldId id="276" r:id="rId17"/>
    <p:sldId id="267" r:id="rId18"/>
    <p:sldId id="274" r:id="rId19"/>
    <p:sldId id="275" r:id="rId20"/>
    <p:sldId id="269" r:id="rId21"/>
    <p:sldId id="272" r:id="rId22"/>
    <p:sldId id="277" r:id="rId23"/>
    <p:sldId id="279" r:id="rId24"/>
    <p:sldId id="281" r:id="rId25"/>
    <p:sldId id="282" r:id="rId26"/>
    <p:sldId id="283" r:id="rId27"/>
    <p:sldId id="284" r:id="rId28"/>
    <p:sldId id="286" r:id="rId29"/>
    <p:sldId id="285" r:id="rId30"/>
    <p:sldId id="287" r:id="rId31"/>
    <p:sldId id="290" r:id="rId32"/>
    <p:sldId id="289" r:id="rId33"/>
    <p:sldId id="280" r:id="rId34"/>
    <p:sldId id="288" r:id="rId35"/>
    <p:sldId id="291" r:id="rId36"/>
    <p:sldId id="292" r:id="rId37"/>
    <p:sldId id="303" r:id="rId38"/>
    <p:sldId id="297" r:id="rId39"/>
    <p:sldId id="298" r:id="rId40"/>
    <p:sldId id="299" r:id="rId41"/>
    <p:sldId id="296" r:id="rId42"/>
    <p:sldId id="294" r:id="rId43"/>
    <p:sldId id="293" r:id="rId44"/>
    <p:sldId id="300" r:id="rId45"/>
    <p:sldId id="301" r:id="rId46"/>
    <p:sldId id="295" r:id="rId47"/>
    <p:sldId id="302" r:id="rId48"/>
    <p:sldId id="306" r:id="rId49"/>
    <p:sldId id="305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25163-61B9-DB91-59D6-342AD8975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AEBC75-EAEA-4A80-0312-9252E58C9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5F1810-F163-DFAD-B703-D8E57700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6D4C06-55A4-7163-B710-08357A0E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167B5-D87B-2949-A1F4-93DA6A74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166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4C9C5-DCE9-1D8D-1E71-ADC93368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39FE03-C7DB-9FBE-388E-1F51089B2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8942A0-A4A5-C28B-41B5-5899B2195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78CC5-575A-79F3-9463-976328EF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4A942C-7171-D1B3-CA93-C474C3BE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3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BE9FF1-D5B5-7BE7-6B96-BF11B588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99ACB7-6E74-CFCC-EB43-E929F9993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C36026-C1CA-356B-F12B-3FA43BEB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2ADEE3-2E57-49D0-99F4-369818DE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C0CCC1-208E-5CCE-9881-130D9972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02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4C58B-7B8C-31CB-AA67-A80434AB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4BC4EB-847D-59DF-645D-D1FE14FAA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95E5F7-0B80-138A-D388-F1EB51202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E0D5B5-4953-5A6B-3528-7B5A56828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E617C8-3F68-1104-F2AE-4DDE1F13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9D6484-1B22-5068-A163-48B6AEC3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93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4A7D3-B288-406E-1015-BB760FB81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613F90-C048-C3E5-F9B5-26CCBC052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F22A1B-135E-4B8C-2DE7-460EC402A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429483-40D2-B02A-5ED3-5F1EE34BC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75A5C8-E404-54DC-9B59-940A6A256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76DCE4-CCC0-50A5-E49B-D0AF8584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77708F-6BF7-543A-8307-376F24E98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0EAD1C-7233-49F3-8663-1F522BF0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11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13EEA-450E-38F3-0161-AE1F3A66C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08B3B0-1EEB-312B-762E-CD1BC767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05A759-D679-00E6-DE03-92A301D2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572FE9-3D93-9A67-CB97-26CF3F0B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801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D6382F7-7DAD-A3FC-F129-BBA6E4665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3E5E47-5767-EEB9-9D69-786A80FB2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41492-4D05-94FE-58BF-1A12C1D8A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71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2012C-59A5-370A-AD67-D0616898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87906-82BD-AB08-3A2D-B57582551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4C86D3-B5C7-0701-1492-41F5B8D63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2B2EE6-9BDB-CD3C-DD5A-7BF1A6567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6D6F6F-3C06-440D-9A76-8D2355AC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49B0A3-A1FB-3065-F33E-8250DE13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35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82C24-250C-EE4A-F2C0-8258A28A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DF8D08-4D28-DA17-BD8C-F3160683F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696273-4D7A-6BCB-2D9D-EF55B9A8B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127853-FB24-DFAC-D757-34C3AEAA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731E05-2137-9750-6FA4-91FE99F3D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046AB7-5415-D4F4-A0A0-74CC2D5A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311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4C939-E7B8-4481-5DBC-694CB883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1C1192-3451-CC6A-20A3-FE9788556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DB16C6-C65C-1402-ECCF-609D7B99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EB2ECC-9FA1-EB40-712F-90ADC196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0AD4BB-023D-3C9F-BEDD-55CF0EB7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0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49B717-9DD6-DE1E-C3FB-FB95ED3AA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77C5DA-E329-7F3F-C948-81BB02C11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42BC81-7176-5BEA-8BB7-6659B76C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D00FF-C8B4-9CF1-86CB-7F96B0CC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30C8C-1665-93DA-6C60-7781E1243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548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8184B7-2688-A959-F5A3-A215A39E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9B078F-E667-5857-EF5C-0ADE479B9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65B1AA-D7FF-D324-40B3-467E17148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C0B81-5930-4B25-A903-A40C83326BB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A98930-1408-96E5-9E8C-21DC8EAA4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A7E975-975A-56D3-C57D-7C75E110F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54A74-6E32-4935-A06D-5C22E2A1D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33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6909BA-CD6C-F9BA-3CA0-5B3FF5D0DC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CN" dirty="0"/>
              <a:t>2.0 </a:t>
            </a:r>
            <a:r>
              <a:rPr lang="zh-CN" altLang="en-US" dirty="0"/>
              <a:t>工具链配置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21AE34-0CA2-039E-6601-76B5D202D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/>
          <a:lstStyle/>
          <a:p>
            <a:r>
              <a:rPr lang="zh-CN" altLang="en-US" dirty="0"/>
              <a:t>要求：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能够配置</a:t>
            </a:r>
            <a:r>
              <a:rPr lang="en-US" altLang="zh-CN" dirty="0" err="1"/>
              <a:t>CubeMX</a:t>
            </a:r>
            <a:r>
              <a:rPr lang="zh-CN" altLang="en-US" dirty="0"/>
              <a:t>工程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能够生成代码并通过编译</a:t>
            </a:r>
          </a:p>
        </p:txBody>
      </p:sp>
    </p:spTree>
    <p:extLst>
      <p:ext uri="{BB962C8B-B14F-4D97-AF65-F5344CB8AC3E}">
        <p14:creationId xmlns:p14="http://schemas.microsoft.com/office/powerpoint/2010/main" val="203962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DC6A5-3580-7299-D263-DFC83E395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嵌入式工具链简介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D8F58D-30C6-CCEF-AF41-6F809BD7C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dirty="0"/>
              <a:t>嵌入式开发工具链把开发者编写的 </a:t>
            </a:r>
            <a:r>
              <a:rPr lang="en-US" altLang="zh-CN" dirty="0"/>
              <a:t>C/C++ </a:t>
            </a:r>
            <a:r>
              <a:rPr lang="zh-CN" altLang="en-US" dirty="0"/>
              <a:t>代码，转换成芯片可以执行的机器指令，并把程序下载到目标板上进行调试和运行。</a:t>
            </a:r>
          </a:p>
          <a:p>
            <a:r>
              <a:rPr lang="zh-CN" altLang="en-US" dirty="0"/>
              <a:t>一个完整流程通常包括：代码编写、预处理、编译、汇编、链接、生成固件、下载程序和在线调试。</a:t>
            </a:r>
          </a:p>
        </p:txBody>
      </p:sp>
    </p:spTree>
    <p:extLst>
      <p:ext uri="{BB962C8B-B14F-4D97-AF65-F5344CB8AC3E}">
        <p14:creationId xmlns:p14="http://schemas.microsoft.com/office/powerpoint/2010/main" val="3499690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F18DC-14FE-CC7E-E06D-6A4BC297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从代码到机器执行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659B36-0DC8-B670-DA6A-35D58EFC0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325564"/>
            <a:ext cx="12192000" cy="5532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源代码本身不能被 </a:t>
            </a:r>
            <a:r>
              <a:rPr lang="en-US" altLang="zh-CN" dirty="0"/>
              <a:t>MCU </a:t>
            </a:r>
            <a:r>
              <a:rPr lang="zh-CN" altLang="en-US" dirty="0"/>
              <a:t>直接执行，需要经过一系列转换。预处理阶段会处理 </a:t>
            </a:r>
            <a:r>
              <a:rPr lang="en-US" altLang="zh-CN" dirty="0"/>
              <a:t>#include</a:t>
            </a:r>
            <a:r>
              <a:rPr lang="zh-CN" altLang="en-US" dirty="0"/>
              <a:t>、</a:t>
            </a:r>
            <a:r>
              <a:rPr lang="en-US" altLang="zh-CN" dirty="0"/>
              <a:t>#define</a:t>
            </a:r>
            <a:r>
              <a:rPr lang="zh-CN" altLang="en-US" dirty="0"/>
              <a:t>、条件编译等内容。头文件会被展开，宏会被替换，不同配置下的代码分支也会在这一阶段被选择。编译阶段会把 </a:t>
            </a:r>
            <a:r>
              <a:rPr lang="en-US" altLang="zh-CN" dirty="0"/>
              <a:t>C/C++ </a:t>
            </a:r>
            <a:r>
              <a:rPr lang="zh-CN" altLang="en-US" dirty="0"/>
              <a:t>代码转换成更接近底层的汇编代码或中间表示。编译器会检查语法、类型、函数声明、变量作用域等问题，也会根据优化等级对代码进行优化。汇编阶段会把汇编指令转换成目标文件。目标文件中已经包含了机器指令，但其中的函数地址、全局变量地址等信息可能还没有完全确定。链接阶段会把多个目标文件、启动文件、库文件组合在一起，并根据链接脚本安排程序在 </a:t>
            </a:r>
            <a:r>
              <a:rPr lang="en-US" altLang="zh-CN" dirty="0"/>
              <a:t>Flash </a:t>
            </a:r>
            <a:r>
              <a:rPr lang="zh-CN" altLang="en-US" dirty="0"/>
              <a:t>和 </a:t>
            </a:r>
            <a:r>
              <a:rPr lang="en-US" altLang="zh-CN" dirty="0"/>
              <a:t>RAM </a:t>
            </a:r>
            <a:r>
              <a:rPr lang="zh-CN" altLang="en-US" dirty="0"/>
              <a:t>中的存放位置。比如代码段通常放在 </a:t>
            </a:r>
            <a:r>
              <a:rPr lang="en-US" altLang="zh-CN" dirty="0"/>
              <a:t>Flash </a:t>
            </a:r>
            <a:r>
              <a:rPr lang="zh-CN" altLang="en-US" dirty="0"/>
              <a:t>中，全局变量和栈空间会使用 </a:t>
            </a:r>
            <a:r>
              <a:rPr lang="en-US" altLang="zh-CN" dirty="0"/>
              <a:t>RAM</a:t>
            </a:r>
            <a:r>
              <a:rPr lang="zh-CN" altLang="en-US" dirty="0"/>
              <a:t>。链接完成后，会生成 </a:t>
            </a:r>
            <a:r>
              <a:rPr lang="en-US" altLang="zh-CN" dirty="0"/>
              <a:t>ELF </a:t>
            </a:r>
            <a:r>
              <a:rPr lang="zh-CN" altLang="en-US" dirty="0"/>
              <a:t>文件。</a:t>
            </a:r>
            <a:r>
              <a:rPr lang="en-US" altLang="zh-CN" dirty="0"/>
              <a:t>ELF </a:t>
            </a:r>
            <a:r>
              <a:rPr lang="zh-CN" altLang="en-US" dirty="0"/>
              <a:t>文件包含程序代码、符号信息、调试信息和内存布局信息。最后，工具可以从 </a:t>
            </a:r>
            <a:r>
              <a:rPr lang="en-US" altLang="zh-CN" dirty="0"/>
              <a:t>ELF </a:t>
            </a:r>
            <a:r>
              <a:rPr lang="zh-CN" altLang="en-US" dirty="0"/>
              <a:t>文件进一步生成 </a:t>
            </a:r>
            <a:r>
              <a:rPr lang="en-US" altLang="zh-CN" dirty="0"/>
              <a:t>BIN </a:t>
            </a:r>
            <a:r>
              <a:rPr lang="zh-CN" altLang="en-US" dirty="0"/>
              <a:t>或 </a:t>
            </a:r>
            <a:r>
              <a:rPr lang="en-US" altLang="zh-CN" dirty="0"/>
              <a:t>HEX </a:t>
            </a:r>
            <a:r>
              <a:rPr lang="zh-CN" altLang="en-US" dirty="0"/>
              <a:t>文件，用于烧录到芯片中。程序被写入 </a:t>
            </a:r>
            <a:r>
              <a:rPr lang="en-US" altLang="zh-CN" dirty="0"/>
              <a:t>Flash </a:t>
            </a:r>
            <a:r>
              <a:rPr lang="zh-CN" altLang="en-US" dirty="0"/>
              <a:t>后，芯片复位启动，</a:t>
            </a:r>
            <a:r>
              <a:rPr lang="en-US" altLang="zh-CN" dirty="0"/>
              <a:t>CPU </a:t>
            </a:r>
            <a:r>
              <a:rPr lang="zh-CN" altLang="en-US" dirty="0"/>
              <a:t>从启动地址开始取指令执行。</a:t>
            </a:r>
          </a:p>
        </p:txBody>
      </p:sp>
    </p:spTree>
    <p:extLst>
      <p:ext uri="{BB962C8B-B14F-4D97-AF65-F5344CB8AC3E}">
        <p14:creationId xmlns:p14="http://schemas.microsoft.com/office/powerpoint/2010/main" val="112992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1D681-8C28-CDFC-CBCA-FCF1578AD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zh-CN" altLang="en-US" dirty="0"/>
              <a:t>代码生成工具 </a:t>
            </a:r>
            <a:r>
              <a:rPr lang="en-US" altLang="zh-CN" dirty="0" err="1"/>
              <a:t>CubeMX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93D2B-CE2A-EE77-840B-AF0A224E4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dirty="0"/>
              <a:t>主要用于完成 </a:t>
            </a:r>
            <a:r>
              <a:rPr lang="en-US" altLang="zh-CN" dirty="0"/>
              <a:t>STM32 </a:t>
            </a:r>
            <a:r>
              <a:rPr lang="zh-CN" altLang="en-US" dirty="0"/>
              <a:t>芯片的基础配置，并生成初始化代码和工程框架。在 </a:t>
            </a:r>
            <a:r>
              <a:rPr lang="en-US" altLang="zh-CN" dirty="0" err="1"/>
              <a:t>CubeMX</a:t>
            </a:r>
            <a:r>
              <a:rPr lang="en-US" altLang="zh-CN" dirty="0"/>
              <a:t> </a:t>
            </a:r>
            <a:r>
              <a:rPr lang="zh-CN" altLang="en-US" dirty="0"/>
              <a:t>中，开发者可以选择芯片型号，配置时钟树，分配引脚功能，启用 </a:t>
            </a:r>
            <a:r>
              <a:rPr lang="en-US" altLang="zh-CN" dirty="0"/>
              <a:t>GPIO</a:t>
            </a:r>
            <a:r>
              <a:rPr lang="zh-CN" altLang="en-US" dirty="0"/>
              <a:t>、</a:t>
            </a:r>
            <a:r>
              <a:rPr lang="en-US" altLang="zh-CN" dirty="0"/>
              <a:t>UART</a:t>
            </a:r>
            <a:r>
              <a:rPr lang="zh-CN" altLang="en-US" dirty="0"/>
              <a:t>、</a:t>
            </a:r>
            <a:r>
              <a:rPr lang="en-US" altLang="zh-CN" dirty="0"/>
              <a:t>SPI</a:t>
            </a:r>
            <a:r>
              <a:rPr lang="zh-CN" altLang="en-US" dirty="0"/>
              <a:t>、</a:t>
            </a:r>
            <a:r>
              <a:rPr lang="en-US" altLang="zh-CN" dirty="0"/>
              <a:t>I2C</a:t>
            </a:r>
            <a:r>
              <a:rPr lang="zh-CN" altLang="en-US" dirty="0"/>
              <a:t>、</a:t>
            </a:r>
            <a:r>
              <a:rPr lang="en-US" altLang="zh-CN" dirty="0"/>
              <a:t>ADC</a:t>
            </a:r>
            <a:r>
              <a:rPr lang="zh-CN" altLang="en-US" dirty="0"/>
              <a:t>、定时器、</a:t>
            </a:r>
            <a:r>
              <a:rPr lang="en-US" altLang="zh-CN" dirty="0"/>
              <a:t>DMA</a:t>
            </a:r>
            <a:r>
              <a:rPr lang="zh-CN" altLang="en-US" dirty="0"/>
              <a:t>、中断等外设资源。对于一些常用中间件，例如 </a:t>
            </a:r>
            <a:r>
              <a:rPr lang="en-US" altLang="zh-CN" dirty="0" err="1"/>
              <a:t>FreeRTOS</a:t>
            </a:r>
            <a:r>
              <a:rPr lang="zh-CN" altLang="en-US" dirty="0"/>
              <a:t>、</a:t>
            </a:r>
            <a:r>
              <a:rPr lang="en-US" altLang="zh-CN" dirty="0"/>
              <a:t>USB</a:t>
            </a:r>
            <a:r>
              <a:rPr lang="zh-CN" altLang="en-US" dirty="0"/>
              <a:t>、</a:t>
            </a:r>
            <a:r>
              <a:rPr lang="en-US" altLang="zh-CN" dirty="0" err="1"/>
              <a:t>FatFs</a:t>
            </a:r>
            <a:r>
              <a:rPr lang="zh-CN" altLang="en-US" dirty="0"/>
              <a:t>、</a:t>
            </a:r>
            <a:r>
              <a:rPr lang="en-US" altLang="zh-CN" dirty="0"/>
              <a:t>LWIP</a:t>
            </a:r>
            <a:r>
              <a:rPr lang="zh-CN" altLang="en-US" dirty="0"/>
              <a:t>，也可以通过 </a:t>
            </a:r>
            <a:r>
              <a:rPr lang="en-US" altLang="zh-CN" dirty="0" err="1"/>
              <a:t>CubeMX</a:t>
            </a:r>
            <a:r>
              <a:rPr lang="en-US" altLang="zh-CN" dirty="0"/>
              <a:t> </a:t>
            </a:r>
            <a:r>
              <a:rPr lang="zh-CN" altLang="en-US" dirty="0"/>
              <a:t>进行基础配置。</a:t>
            </a:r>
            <a:r>
              <a:rPr lang="en-US" altLang="zh-CN" dirty="0" err="1"/>
              <a:t>CubeMX</a:t>
            </a:r>
            <a:r>
              <a:rPr lang="en-US" altLang="zh-CN" dirty="0"/>
              <a:t> </a:t>
            </a:r>
            <a:r>
              <a:rPr lang="zh-CN" altLang="en-US" dirty="0"/>
              <a:t>生成的代码通常包括启动工程、时钟初始化、</a:t>
            </a:r>
            <a:r>
              <a:rPr lang="en-US" altLang="zh-CN" dirty="0"/>
              <a:t>GPIO </a:t>
            </a:r>
            <a:r>
              <a:rPr lang="zh-CN" altLang="en-US" dirty="0"/>
              <a:t>初始化、外设初始化、中断入口、</a:t>
            </a:r>
            <a:r>
              <a:rPr lang="en-US" altLang="zh-CN" dirty="0"/>
              <a:t>HAL </a:t>
            </a:r>
            <a:r>
              <a:rPr lang="zh-CN" altLang="en-US" dirty="0"/>
              <a:t>或 </a:t>
            </a:r>
            <a:r>
              <a:rPr lang="en-US" altLang="zh-CN" dirty="0"/>
              <a:t>LL </a:t>
            </a:r>
            <a:r>
              <a:rPr lang="zh-CN" altLang="en-US" dirty="0"/>
              <a:t>驱动调用等内容。这些代码帮助开发者快速完成芯片上电后的基础准备工作。在教学中，</a:t>
            </a:r>
            <a:r>
              <a:rPr lang="en-US" altLang="zh-CN" dirty="0" err="1"/>
              <a:t>CubeMX</a:t>
            </a:r>
            <a:r>
              <a:rPr lang="en-US" altLang="zh-CN" dirty="0"/>
              <a:t> </a:t>
            </a:r>
            <a:r>
              <a:rPr lang="zh-CN" altLang="en-US" dirty="0"/>
              <a:t>很适合用来展示“芯片资源如何变成软件配置”。例如一个串口功能，从引脚复用、外设时钟、波特率、中断，到最终生成初始化函数，都可以在 </a:t>
            </a:r>
            <a:r>
              <a:rPr lang="en-US" altLang="zh-CN" dirty="0" err="1"/>
              <a:t>CubeMX</a:t>
            </a:r>
            <a:r>
              <a:rPr lang="en-US" altLang="zh-CN" dirty="0"/>
              <a:t> </a:t>
            </a:r>
            <a:r>
              <a:rPr lang="zh-CN" altLang="en-US" dirty="0"/>
              <a:t>中看到清晰的配置过程。使用 </a:t>
            </a:r>
            <a:r>
              <a:rPr lang="en-US" altLang="zh-CN" dirty="0" err="1"/>
              <a:t>CubeMX</a:t>
            </a:r>
            <a:r>
              <a:rPr lang="en-US" altLang="zh-CN" dirty="0"/>
              <a:t> </a:t>
            </a:r>
            <a:r>
              <a:rPr lang="zh-CN" altLang="en-US" dirty="0"/>
              <a:t>时需要注意代码结构。应用层逻辑最好放在独立文件中，自动生成文件里只保留必要的初始化和接口调用。这样在重新生成代码时，工程更容易维护。</a:t>
            </a:r>
          </a:p>
        </p:txBody>
      </p:sp>
    </p:spTree>
    <p:extLst>
      <p:ext uri="{BB962C8B-B14F-4D97-AF65-F5344CB8AC3E}">
        <p14:creationId xmlns:p14="http://schemas.microsoft.com/office/powerpoint/2010/main" val="549164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BD0B9B-EA2C-B160-79FB-8E6057C4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编辑器与集成开发环境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2FB2CD-410C-7634-10D0-8A6A05221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编辑器或 </a:t>
            </a:r>
            <a:r>
              <a:rPr lang="en-US" altLang="zh-CN" dirty="0"/>
              <a:t>IDE </a:t>
            </a:r>
            <a:r>
              <a:rPr lang="zh-CN" altLang="en-US" dirty="0"/>
              <a:t>是开发者主要编写和管理代码的地方。</a:t>
            </a:r>
            <a:r>
              <a:rPr lang="en-US" altLang="zh-CN" dirty="0"/>
              <a:t>Keil </a:t>
            </a:r>
            <a:r>
              <a:rPr lang="en-US" altLang="zh-CN" dirty="0" err="1"/>
              <a:t>uVision</a:t>
            </a:r>
            <a:r>
              <a:rPr lang="en-US" altLang="zh-CN" dirty="0"/>
              <a:t> </a:t>
            </a:r>
            <a:r>
              <a:rPr lang="zh-CN" altLang="en-US" dirty="0"/>
              <a:t>是传统嵌入式开发中常用的集成开发环境。它集成了工程管理、代码编辑、编译、下载和调试功能。开发者可以在一个软件中完成大部分操作，使用方式直观，适合课堂演示、外设实验和初学阶段。</a:t>
            </a:r>
            <a:r>
              <a:rPr lang="en-US" altLang="zh-CN" dirty="0" err="1"/>
              <a:t>VSCode</a:t>
            </a:r>
            <a:r>
              <a:rPr lang="en-US" altLang="zh-CN" dirty="0"/>
              <a:t> </a:t>
            </a:r>
            <a:r>
              <a:rPr lang="zh-CN" altLang="en-US" dirty="0"/>
              <a:t>是通用代码编辑器，本身不绑定具体芯片或编译器。它通常通过插件、</a:t>
            </a:r>
            <a:r>
              <a:rPr lang="en-US" altLang="zh-CN" dirty="0" err="1"/>
              <a:t>CMake</a:t>
            </a:r>
            <a:r>
              <a:rPr lang="zh-CN" altLang="en-US" dirty="0"/>
              <a:t>、任务配置和调试配置来组织嵌入式工程。</a:t>
            </a:r>
            <a:r>
              <a:rPr lang="en-US" altLang="zh-CN" dirty="0" err="1"/>
              <a:t>VSCode</a:t>
            </a:r>
            <a:r>
              <a:rPr lang="en-US" altLang="zh-CN" dirty="0"/>
              <a:t> </a:t>
            </a:r>
            <a:r>
              <a:rPr lang="zh-CN" altLang="en-US" dirty="0"/>
              <a:t>的特点是灵活，适合配合命令行工具、版本管理、代码格式化和自动化构建使用。</a:t>
            </a:r>
          </a:p>
        </p:txBody>
      </p:sp>
    </p:spTree>
    <p:extLst>
      <p:ext uri="{BB962C8B-B14F-4D97-AF65-F5344CB8AC3E}">
        <p14:creationId xmlns:p14="http://schemas.microsoft.com/office/powerpoint/2010/main" val="410102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5501C-FCD7-3BA1-ED99-514DE6AC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E7312D-901C-BCE4-A85A-3260A3979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AC6 </a:t>
            </a:r>
            <a:r>
              <a:rPr lang="zh-CN" altLang="en-US" dirty="0"/>
              <a:t>与 </a:t>
            </a:r>
            <a:r>
              <a:rPr lang="en-US" altLang="zh-CN" dirty="0"/>
              <a:t>Clang</a:t>
            </a:r>
            <a:r>
              <a:rPr lang="zh-CN" altLang="en-US" dirty="0"/>
              <a:t>编译器负责把 </a:t>
            </a:r>
            <a:r>
              <a:rPr lang="en-US" altLang="zh-CN" dirty="0"/>
              <a:t>C/C++ </a:t>
            </a:r>
            <a:r>
              <a:rPr lang="zh-CN" altLang="en-US" dirty="0"/>
              <a:t>源代码转换成目标平台可以执行的机器代码。</a:t>
            </a:r>
            <a:r>
              <a:rPr lang="en-US" altLang="zh-CN" dirty="0"/>
              <a:t>Keil </a:t>
            </a:r>
            <a:r>
              <a:rPr lang="zh-CN" altLang="en-US" dirty="0"/>
              <a:t>中常用的 </a:t>
            </a:r>
            <a:r>
              <a:rPr lang="en-US" altLang="zh-CN" dirty="0"/>
              <a:t>AC6</a:t>
            </a:r>
            <a:r>
              <a:rPr lang="zh-CN" altLang="en-US" dirty="0"/>
              <a:t>，也就是 </a:t>
            </a:r>
            <a:r>
              <a:rPr lang="en-US" altLang="zh-CN" dirty="0"/>
              <a:t>Arm Compiler 6</a:t>
            </a:r>
            <a:r>
              <a:rPr lang="zh-CN" altLang="en-US" dirty="0"/>
              <a:t>，基于 </a:t>
            </a:r>
            <a:r>
              <a:rPr lang="en-US" altLang="zh-CN" dirty="0"/>
              <a:t>LLVM/Clang </a:t>
            </a:r>
            <a:r>
              <a:rPr lang="zh-CN" altLang="en-US" dirty="0"/>
              <a:t>技术，面向 </a:t>
            </a:r>
            <a:r>
              <a:rPr lang="en-US" altLang="zh-CN" dirty="0"/>
              <a:t>Arm </a:t>
            </a:r>
            <a:r>
              <a:rPr lang="zh-CN" altLang="en-US" dirty="0"/>
              <a:t>架构做了配套支持。它通常和 </a:t>
            </a:r>
            <a:r>
              <a:rPr lang="en-US" altLang="zh-CN" dirty="0"/>
              <a:t>Keil </a:t>
            </a:r>
            <a:r>
              <a:rPr lang="zh-CN" altLang="en-US" dirty="0"/>
              <a:t>工程、芯片包、启动文件、运行时库一起使用，能够生成适合 </a:t>
            </a:r>
            <a:r>
              <a:rPr lang="en-US" altLang="zh-CN" dirty="0"/>
              <a:t>Cortex-M </a:t>
            </a:r>
            <a:r>
              <a:rPr lang="zh-CN" altLang="en-US" dirty="0"/>
              <a:t>芯片运行的目标代码。</a:t>
            </a:r>
            <a:r>
              <a:rPr lang="en-US" altLang="zh-CN" dirty="0"/>
              <a:t>Clang </a:t>
            </a:r>
            <a:r>
              <a:rPr lang="zh-CN" altLang="en-US" dirty="0"/>
              <a:t>是 </a:t>
            </a:r>
            <a:r>
              <a:rPr lang="en-US" altLang="zh-CN" dirty="0"/>
              <a:t>LLVM </a:t>
            </a:r>
            <a:r>
              <a:rPr lang="zh-CN" altLang="en-US" dirty="0"/>
              <a:t>项目中的编译器前端，也可以用于嵌入式 </a:t>
            </a:r>
            <a:r>
              <a:rPr lang="en-US" altLang="zh-CN" dirty="0"/>
              <a:t>C/C++ </a:t>
            </a:r>
            <a:r>
              <a:rPr lang="zh-CN" altLang="en-US" dirty="0"/>
              <a:t>工程。配合 </a:t>
            </a:r>
            <a:r>
              <a:rPr lang="en-US" altLang="zh-CN" dirty="0"/>
              <a:t>Arm </a:t>
            </a:r>
            <a:r>
              <a:rPr lang="zh-CN" altLang="en-US" dirty="0"/>
              <a:t>目标架构参数、启动文件、链接脚本和运行时库，</a:t>
            </a:r>
            <a:r>
              <a:rPr lang="en-US" altLang="zh-CN" dirty="0"/>
              <a:t>Clang </a:t>
            </a:r>
            <a:r>
              <a:rPr lang="zh-CN" altLang="en-US" dirty="0"/>
              <a:t>可以生成 </a:t>
            </a:r>
            <a:r>
              <a:rPr lang="en-US" altLang="zh-CN" dirty="0"/>
              <a:t>STM32 </a:t>
            </a:r>
            <a:r>
              <a:rPr lang="zh-CN" altLang="en-US" dirty="0"/>
              <a:t>等 </a:t>
            </a:r>
            <a:r>
              <a:rPr lang="en-US" altLang="zh-CN" dirty="0"/>
              <a:t>Cortex-M MCU </a:t>
            </a:r>
            <a:r>
              <a:rPr lang="zh-CN" altLang="en-US" dirty="0"/>
              <a:t>可以运行的固件。无论使用 </a:t>
            </a:r>
            <a:r>
              <a:rPr lang="en-US" altLang="zh-CN" dirty="0"/>
              <a:t>AC6 </a:t>
            </a:r>
            <a:r>
              <a:rPr lang="zh-CN" altLang="en-US" dirty="0"/>
              <a:t>还是 </a:t>
            </a:r>
            <a:r>
              <a:rPr lang="en-US" altLang="zh-CN" dirty="0"/>
              <a:t>Clang</a:t>
            </a:r>
            <a:r>
              <a:rPr lang="zh-CN" altLang="en-US" dirty="0"/>
              <a:t>，编译器都承担类似的核心任务：检查代码、生成目标文件、执行优化，并为后续链接提供输入。编译器的参数会影响代码体积、运行速度、调试体验和警告检查效果。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8281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DCE1B-AD38-C862-61E7-FBB61D6D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调试器与下载工具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0BA2F-3FE7-5F84-E8B7-F9884CC09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10515599" cy="50323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调试工具负责把程序下载到芯片，并帮助开发者观察程序运行状态。在 </a:t>
            </a:r>
            <a:r>
              <a:rPr lang="en-US" altLang="zh-CN" dirty="0"/>
              <a:t>Keil </a:t>
            </a:r>
            <a:r>
              <a:rPr lang="zh-CN" altLang="en-US" dirty="0"/>
              <a:t>工具链中，</a:t>
            </a:r>
            <a:r>
              <a:rPr lang="en-US" altLang="zh-CN" dirty="0"/>
              <a:t>Keil </a:t>
            </a:r>
            <a:r>
              <a:rPr lang="zh-CN" altLang="en-US" dirty="0"/>
              <a:t>可以直接配合 </a:t>
            </a:r>
            <a:r>
              <a:rPr lang="en-US" altLang="zh-CN" dirty="0"/>
              <a:t>ST-Link</a:t>
            </a:r>
            <a:r>
              <a:rPr lang="zh-CN" altLang="en-US" dirty="0"/>
              <a:t>、</a:t>
            </a:r>
            <a:r>
              <a:rPr lang="en-US" altLang="zh-CN" dirty="0"/>
              <a:t>J-Link </a:t>
            </a:r>
            <a:r>
              <a:rPr lang="zh-CN" altLang="en-US" dirty="0"/>
              <a:t>等调试器完成下载和在线调试。开发者可以设置断点、单步运行、查看变量、查看寄存器、观察内存，也可以分析程序是否进入 </a:t>
            </a:r>
            <a:r>
              <a:rPr lang="en-US" altLang="zh-CN" dirty="0" err="1"/>
              <a:t>HardFault</a:t>
            </a:r>
            <a:r>
              <a:rPr lang="en-US" altLang="zh-CN" dirty="0"/>
              <a:t> </a:t>
            </a:r>
            <a:r>
              <a:rPr lang="zh-CN" altLang="en-US" dirty="0"/>
              <a:t>或卡在某个中断中。在 </a:t>
            </a:r>
            <a:r>
              <a:rPr lang="en-US" altLang="zh-CN" dirty="0" err="1"/>
              <a:t>VSCode</a:t>
            </a:r>
            <a:r>
              <a:rPr lang="en-US" altLang="zh-CN" dirty="0"/>
              <a:t> </a:t>
            </a:r>
            <a:r>
              <a:rPr lang="zh-CN" altLang="en-US" dirty="0"/>
              <a:t>工具链中，</a:t>
            </a:r>
            <a:r>
              <a:rPr lang="en-US" altLang="zh-CN" dirty="0" err="1"/>
              <a:t>OpenOCD</a:t>
            </a:r>
            <a:r>
              <a:rPr lang="en-US" altLang="zh-CN" dirty="0"/>
              <a:t> </a:t>
            </a:r>
            <a:r>
              <a:rPr lang="zh-CN" altLang="en-US" dirty="0"/>
              <a:t>常用于连接调试器和目标芯片。</a:t>
            </a:r>
            <a:r>
              <a:rPr lang="en-US" altLang="zh-CN" dirty="0" err="1"/>
              <a:t>OpenOCD</a:t>
            </a:r>
            <a:r>
              <a:rPr lang="en-US" altLang="zh-CN" dirty="0"/>
              <a:t> </a:t>
            </a:r>
            <a:r>
              <a:rPr lang="zh-CN" altLang="en-US" dirty="0"/>
              <a:t>通过 </a:t>
            </a:r>
            <a:r>
              <a:rPr lang="en-US" altLang="zh-CN" dirty="0"/>
              <a:t>ST-Link</a:t>
            </a:r>
            <a:r>
              <a:rPr lang="zh-CN" altLang="en-US" dirty="0"/>
              <a:t>、</a:t>
            </a:r>
            <a:r>
              <a:rPr lang="en-US" altLang="zh-CN" dirty="0"/>
              <a:t>J-Link</a:t>
            </a:r>
            <a:r>
              <a:rPr lang="zh-CN" altLang="en-US" dirty="0"/>
              <a:t>、</a:t>
            </a:r>
            <a:r>
              <a:rPr lang="en-US" altLang="zh-CN" dirty="0"/>
              <a:t>CMSIS-DAP </a:t>
            </a:r>
            <a:r>
              <a:rPr lang="zh-CN" altLang="en-US" dirty="0"/>
              <a:t>等硬件接口访问芯片的 </a:t>
            </a:r>
            <a:r>
              <a:rPr lang="en-US" altLang="zh-CN" dirty="0"/>
              <a:t>SWD </a:t>
            </a:r>
            <a:r>
              <a:rPr lang="zh-CN" altLang="en-US" dirty="0"/>
              <a:t>或 </a:t>
            </a:r>
            <a:r>
              <a:rPr lang="en-US" altLang="zh-CN" dirty="0"/>
              <a:t>JTAG </a:t>
            </a:r>
            <a:r>
              <a:rPr lang="zh-CN" altLang="en-US" dirty="0"/>
              <a:t>调试接口。</a:t>
            </a:r>
            <a:r>
              <a:rPr lang="en-US" altLang="zh-CN" dirty="0"/>
              <a:t>GDB </a:t>
            </a:r>
            <a:r>
              <a:rPr lang="zh-CN" altLang="en-US" dirty="0"/>
              <a:t>连接到 </a:t>
            </a:r>
            <a:r>
              <a:rPr lang="en-US" altLang="zh-CN" dirty="0" err="1"/>
              <a:t>OpenOCD</a:t>
            </a:r>
            <a:r>
              <a:rPr lang="en-US" altLang="zh-CN" dirty="0"/>
              <a:t> </a:t>
            </a:r>
            <a:r>
              <a:rPr lang="zh-CN" altLang="en-US" dirty="0"/>
              <a:t>后，就可以控制目标芯片运行，实现断点、单步、变量查看、寄存器查看和程序下载。这里可以把 </a:t>
            </a:r>
            <a:r>
              <a:rPr lang="en-US" altLang="zh-CN" dirty="0" err="1"/>
              <a:t>OpenOCD</a:t>
            </a:r>
            <a:r>
              <a:rPr lang="en-US" altLang="zh-CN" dirty="0"/>
              <a:t> </a:t>
            </a:r>
            <a:r>
              <a:rPr lang="zh-CN" altLang="en-US" dirty="0"/>
              <a:t>理解为“调试服务器”。它一边和电脑上的 </a:t>
            </a:r>
            <a:r>
              <a:rPr lang="en-US" altLang="zh-CN" dirty="0"/>
              <a:t>GDB </a:t>
            </a:r>
            <a:r>
              <a:rPr lang="zh-CN" altLang="en-US" dirty="0"/>
              <a:t>通信，一边和开发板上的 </a:t>
            </a:r>
            <a:r>
              <a:rPr lang="en-US" altLang="zh-CN" dirty="0"/>
              <a:t>MCU </a:t>
            </a:r>
            <a:r>
              <a:rPr lang="zh-CN" altLang="en-US" dirty="0"/>
              <a:t>通信，把调试命令转换成对芯片的实际操作。</a:t>
            </a:r>
          </a:p>
        </p:txBody>
      </p:sp>
    </p:spTree>
    <p:extLst>
      <p:ext uri="{BB962C8B-B14F-4D97-AF65-F5344CB8AC3E}">
        <p14:creationId xmlns:p14="http://schemas.microsoft.com/office/powerpoint/2010/main" val="4275597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0841D-5DF6-5D45-7602-122C51CC5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工具链组合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CubeMX+AC6+Keil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9449B8-81E5-AE14-8294-A0C2207CA0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 err="1"/>
              <a:t>CubeMX</a:t>
            </a:r>
            <a:endParaRPr lang="en-US" altLang="zh-CN" dirty="0"/>
          </a:p>
          <a:p>
            <a:r>
              <a:rPr lang="zh-CN" altLang="en-US" dirty="0"/>
              <a:t>安装</a:t>
            </a:r>
            <a:r>
              <a:rPr lang="en-US" altLang="zh-CN" dirty="0"/>
              <a:t>Keil</a:t>
            </a:r>
          </a:p>
          <a:p>
            <a:r>
              <a:rPr lang="zh-CN" altLang="en-US" dirty="0"/>
              <a:t>在</a:t>
            </a:r>
            <a:r>
              <a:rPr lang="en-US" altLang="zh-CN" dirty="0" err="1"/>
              <a:t>CubeMX</a:t>
            </a:r>
            <a:r>
              <a:rPr lang="zh-CN" altLang="en-US" dirty="0"/>
              <a:t>中生成</a:t>
            </a:r>
            <a:r>
              <a:rPr lang="en-US" altLang="zh-CN" dirty="0"/>
              <a:t>MDK-Arm</a:t>
            </a:r>
            <a:r>
              <a:rPr lang="zh-CN" altLang="en-US" dirty="0"/>
              <a:t>工程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Keil</a:t>
            </a:r>
            <a:r>
              <a:rPr lang="zh-CN" altLang="en-US" dirty="0"/>
              <a:t>中编译</a:t>
            </a:r>
            <a:endParaRPr lang="en-US" altLang="zh-CN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5B45F7F-CFA8-E3F8-B675-FA04643628AD}"/>
              </a:ext>
            </a:extLst>
          </p:cNvPr>
          <p:cNvSpPr txBox="1">
            <a:spLocks/>
          </p:cNvSpPr>
          <p:nvPr/>
        </p:nvSpPr>
        <p:spPr>
          <a:xfrm>
            <a:off x="6172202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ST</a:t>
            </a:r>
            <a:r>
              <a:rPr lang="zh-CN" altLang="en-US" dirty="0"/>
              <a:t>的服务器连接经常有问题，若下载错误需继续重试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899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FF632A-6201-6B06-B154-92D94C004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工具链组合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 err="1"/>
              <a:t>CubeMX+Clion+CubeCLT+OpenOCD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B6B625-51CC-21FE-38A1-F321F73C6B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 err="1"/>
              <a:t>CubeMX</a:t>
            </a:r>
            <a:endParaRPr lang="en-US" altLang="zh-CN" dirty="0"/>
          </a:p>
          <a:p>
            <a:r>
              <a:rPr lang="zh-CN" altLang="en-US" dirty="0"/>
              <a:t>解压</a:t>
            </a:r>
            <a:r>
              <a:rPr lang="en-US" altLang="zh-CN" dirty="0" err="1"/>
              <a:t>CubeCLT</a:t>
            </a:r>
            <a:endParaRPr lang="en-US" altLang="zh-CN" dirty="0"/>
          </a:p>
          <a:p>
            <a:r>
              <a:rPr lang="zh-CN" altLang="en-US" dirty="0"/>
              <a:t>配置</a:t>
            </a:r>
            <a:r>
              <a:rPr lang="en-US" altLang="zh-CN" dirty="0" err="1"/>
              <a:t>Clion</a:t>
            </a:r>
            <a:endParaRPr lang="en-US" altLang="zh-CN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A0CC28F-0CE9-39F8-F9B1-8752D4ED7942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需要使用</a:t>
            </a:r>
            <a:r>
              <a:rPr lang="en-US" altLang="zh-CN" dirty="0"/>
              <a:t>GitHub</a:t>
            </a:r>
            <a:r>
              <a:rPr lang="zh-CN" altLang="en-US" dirty="0"/>
              <a:t>学生权益包获取</a:t>
            </a:r>
            <a:r>
              <a:rPr lang="en-US" altLang="zh-CN" dirty="0" err="1"/>
              <a:t>Clion</a:t>
            </a:r>
            <a:r>
              <a:rPr lang="zh-CN" altLang="en-US" dirty="0"/>
              <a:t>免费使用资格</a:t>
            </a:r>
            <a:endParaRPr lang="en-US" altLang="zh-CN" dirty="0"/>
          </a:p>
          <a:p>
            <a:r>
              <a:rPr lang="zh-CN" altLang="en-US" dirty="0"/>
              <a:t>可参考中科大</a:t>
            </a:r>
            <a:r>
              <a:rPr lang="en-US" altLang="zh-CN" dirty="0"/>
              <a:t>RM</a:t>
            </a:r>
            <a:r>
              <a:rPr lang="zh-CN" altLang="en-US" dirty="0"/>
              <a:t>电控培训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【4.3】</a:t>
            </a:r>
            <a:r>
              <a:rPr lang="zh-CN" altLang="en-US" dirty="0"/>
              <a:t>开发工具篇</a:t>
            </a:r>
            <a:r>
              <a:rPr lang="en-US" altLang="zh-CN" dirty="0"/>
              <a:t>-</a:t>
            </a:r>
            <a:r>
              <a:rPr lang="en-US" altLang="zh-CN" dirty="0" err="1"/>
              <a:t>Clion</a:t>
            </a:r>
            <a:r>
              <a:rPr lang="zh-CN" altLang="en-US" dirty="0"/>
              <a:t>开发环境</a:t>
            </a:r>
          </a:p>
        </p:txBody>
      </p:sp>
    </p:spTree>
    <p:extLst>
      <p:ext uri="{BB962C8B-B14F-4D97-AF65-F5344CB8AC3E}">
        <p14:creationId xmlns:p14="http://schemas.microsoft.com/office/powerpoint/2010/main" val="2366742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0704E-F0F4-A126-17F7-A8454D154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开发板资料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82435A-671E-F6D6-DB8A-0F552C27D7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大疆</a:t>
            </a:r>
            <a:r>
              <a:rPr lang="en-US" altLang="zh-CN" dirty="0"/>
              <a:t>C</a:t>
            </a:r>
            <a:r>
              <a:rPr lang="zh-CN" altLang="en-US" dirty="0"/>
              <a:t>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https://www.robomaster.com/zh-CN/products/components/general/development-board-type-c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3E748E-A5B7-EDC1-BA57-464052DDA0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达妙</a:t>
            </a:r>
            <a:r>
              <a:rPr lang="en-US" altLang="zh-CN" dirty="0"/>
              <a:t>H7</a:t>
            </a:r>
            <a:r>
              <a:rPr lang="zh-CN" altLang="en-US" dirty="0"/>
              <a:t>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https://gitee.com/kit-miao/dm-mc02/tree/master/%E8%AF%B4%E6%98%8E%E4%B9%A6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5230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41A63-8688-8472-2282-9CA3BE067B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SG" dirty="0"/>
              <a:t>2.1 </a:t>
            </a:r>
            <a:r>
              <a:rPr lang="zh-CN" altLang="en-US" dirty="0"/>
              <a:t>程序执行流程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49D877-48D3-DED8-51CA-25003CB36A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SG" dirty="0"/>
              <a:t>To be continued……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365003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34ECE1-37CE-972F-14EE-0E336447AC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CN" dirty="0"/>
              <a:t>2.2 GPIO</a:t>
            </a:r>
            <a:r>
              <a:rPr lang="zh-CN" altLang="en-US" dirty="0"/>
              <a:t>输入输出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A5D391-BC4E-C51C-8E2D-F2D476DA2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/>
          <a:lstStyle/>
          <a:p>
            <a:r>
              <a:rPr lang="zh-CN" altLang="en-US" dirty="0"/>
              <a:t>要求：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了解</a:t>
            </a:r>
            <a:r>
              <a:rPr lang="en-US" altLang="zh-CN" dirty="0"/>
              <a:t>GPIO</a:t>
            </a:r>
            <a:r>
              <a:rPr lang="zh-CN" altLang="en-US" dirty="0"/>
              <a:t>的不同模式并配置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输入、模拟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外部中断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推挽</a:t>
            </a:r>
            <a:r>
              <a:rPr lang="en-US" altLang="zh-CN" dirty="0"/>
              <a:t>/</a:t>
            </a:r>
            <a:r>
              <a:rPr lang="zh-CN" altLang="en-US" dirty="0"/>
              <a:t>开漏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拉高</a:t>
            </a:r>
            <a:r>
              <a:rPr lang="en-US" altLang="zh-CN" dirty="0"/>
              <a:t>/</a:t>
            </a:r>
            <a:r>
              <a:rPr lang="zh-CN" altLang="en-US" dirty="0"/>
              <a:t>拉低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能使用相关</a:t>
            </a:r>
            <a:r>
              <a:rPr lang="en-US" altLang="zh-CN" dirty="0"/>
              <a:t>HAL</a:t>
            </a:r>
            <a:r>
              <a:rPr lang="zh-CN" altLang="en-US" dirty="0"/>
              <a:t>库函数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7464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BF91F-E52D-C6B1-B341-25E60B73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GPIO</a:t>
            </a:r>
            <a:r>
              <a:rPr lang="zh-CN" altLang="en-US" dirty="0"/>
              <a:t>：</a:t>
            </a:r>
            <a:r>
              <a:rPr lang="en-US" altLang="zh-CN" dirty="0"/>
              <a:t>General Purpose Input/Output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CDBD31-3E23-4C47-B417-842CAD189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GPIO_Input</a:t>
            </a:r>
            <a:r>
              <a:rPr lang="zh-CN" altLang="en-US" dirty="0"/>
              <a:t>：读取外部电平</a:t>
            </a:r>
            <a:endParaRPr lang="en-US" altLang="zh-CN" dirty="0"/>
          </a:p>
          <a:p>
            <a:r>
              <a:rPr lang="en-US" altLang="zh-CN" dirty="0" err="1"/>
              <a:t>GPIO_Output</a:t>
            </a:r>
            <a:r>
              <a:rPr lang="zh-CN" altLang="en-US" dirty="0"/>
              <a:t>：由 </a:t>
            </a:r>
            <a:r>
              <a:rPr lang="en-US" altLang="zh-CN" dirty="0"/>
              <a:t>MCU </a:t>
            </a:r>
            <a:r>
              <a:rPr lang="zh-CN" altLang="en-US" dirty="0"/>
              <a:t>主动输出高</a:t>
            </a:r>
            <a:r>
              <a:rPr lang="en-US" altLang="zh-CN" dirty="0"/>
              <a:t>/</a:t>
            </a:r>
            <a:r>
              <a:rPr lang="zh-CN" altLang="en-US" dirty="0"/>
              <a:t>低电平</a:t>
            </a:r>
            <a:endParaRPr lang="en-US" altLang="zh-CN" dirty="0"/>
          </a:p>
          <a:p>
            <a:r>
              <a:rPr lang="en-US" altLang="zh-CN" dirty="0"/>
              <a:t>Alternate Function</a:t>
            </a:r>
            <a:r>
              <a:rPr lang="zh-CN" altLang="en-US" dirty="0"/>
              <a:t>：交给外设使用，如 </a:t>
            </a:r>
            <a:r>
              <a:rPr lang="en-US" altLang="zh-CN" dirty="0"/>
              <a:t>UART</a:t>
            </a:r>
            <a:r>
              <a:rPr lang="zh-CN" altLang="en-US" dirty="0"/>
              <a:t>、</a:t>
            </a:r>
            <a:r>
              <a:rPr lang="en-US" altLang="zh-CN" dirty="0"/>
              <a:t>SPI</a:t>
            </a:r>
            <a:r>
              <a:rPr lang="zh-CN" altLang="en-US" dirty="0"/>
              <a:t>、</a:t>
            </a:r>
            <a:r>
              <a:rPr lang="en-US" altLang="zh-CN" dirty="0"/>
              <a:t>I2C</a:t>
            </a:r>
          </a:p>
          <a:p>
            <a:r>
              <a:rPr lang="en-US" altLang="zh-CN" dirty="0" err="1"/>
              <a:t>GPIO_Analog</a:t>
            </a:r>
            <a:r>
              <a:rPr lang="zh-CN" altLang="en-US" dirty="0"/>
              <a:t>：用于 </a:t>
            </a:r>
            <a:r>
              <a:rPr lang="en-US" altLang="zh-CN" dirty="0"/>
              <a:t>ADC</a:t>
            </a:r>
            <a:r>
              <a:rPr lang="zh-CN" altLang="en-US" dirty="0"/>
              <a:t>、</a:t>
            </a:r>
            <a:r>
              <a:rPr lang="en-US" altLang="zh-CN" dirty="0"/>
              <a:t>DAC</a:t>
            </a:r>
            <a:r>
              <a:rPr lang="zh-CN" altLang="en-US" dirty="0"/>
              <a:t>，或在空闲时降低功耗</a:t>
            </a:r>
            <a:endParaRPr lang="en-US" altLang="zh-CN" dirty="0"/>
          </a:p>
          <a:p>
            <a:pPr lvl="1"/>
            <a:r>
              <a:rPr lang="en-US" altLang="zh-CN" dirty="0"/>
              <a:t>Project Manager-Code Generator-HAL Settings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GPIO_EXTI</a:t>
            </a:r>
            <a:r>
              <a:rPr lang="zh-CN" altLang="en-US" dirty="0"/>
              <a:t>：输入电平变化触发中断或事件</a:t>
            </a:r>
            <a:endParaRPr lang="en-US" altLang="zh-CN" dirty="0"/>
          </a:p>
          <a:p>
            <a:pPr lvl="1"/>
            <a:r>
              <a:rPr lang="zh-CN" altLang="en-US" dirty="0"/>
              <a:t>注意中断号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077EC7-AD9C-BBF4-08D7-A73673816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179" y="1326848"/>
            <a:ext cx="1379621" cy="51660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E9610FA-F0E2-D6AD-BD2B-4CC3720F7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783" y="4251402"/>
            <a:ext cx="4420217" cy="2953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317E025-1076-6AF3-7801-9F69A2047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783" y="5563289"/>
            <a:ext cx="1733792" cy="2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45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1369F-E4BD-EB9B-C6BD-8D0C5C20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参考培训视频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CE8A58-8828-C967-FE6E-9C803E96D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【STM32CubeMX-GPIO</a:t>
            </a:r>
            <a:r>
              <a:rPr lang="zh-CN" altLang="en-US" dirty="0"/>
              <a:t>输出电压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dirty="0"/>
              <a:t>https://www.bilibili.com/video/BV1hQ4y167ri</a:t>
            </a:r>
          </a:p>
          <a:p>
            <a:pPr marL="0" indent="0">
              <a:buNone/>
            </a:pPr>
            <a:r>
              <a:rPr lang="en-US" altLang="zh-CN" dirty="0"/>
              <a:t>【STM32CubeMX-EXTI</a:t>
            </a:r>
            <a:r>
              <a:rPr lang="zh-CN" altLang="en-US" dirty="0"/>
              <a:t>外部中断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dirty="0"/>
              <a:t>https://www.bilibili.com/video/BV14T4y1Z7XF</a:t>
            </a:r>
          </a:p>
        </p:txBody>
      </p:sp>
    </p:spTree>
    <p:extLst>
      <p:ext uri="{BB962C8B-B14F-4D97-AF65-F5344CB8AC3E}">
        <p14:creationId xmlns:p14="http://schemas.microsoft.com/office/powerpoint/2010/main" val="2966400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771CF7-BD01-6BBD-EB1B-62D86208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2-1</a:t>
            </a:r>
            <a:r>
              <a:rPr lang="zh-CN" altLang="en-US" dirty="0"/>
              <a:t>（与</a:t>
            </a:r>
            <a:r>
              <a:rPr lang="en-US" altLang="zh-CN" dirty="0"/>
              <a:t>2-2</a:t>
            </a:r>
            <a:r>
              <a:rPr lang="zh-CN" altLang="en-US" dirty="0"/>
              <a:t>二选一）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24A74E-BB07-4410-C1BE-BDE14EA9B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花式点灯</a:t>
            </a:r>
            <a:endParaRPr lang="en-US" altLang="zh-CN" dirty="0"/>
          </a:p>
          <a:p>
            <a:r>
              <a:rPr lang="zh-CN" altLang="en-US" dirty="0"/>
              <a:t>通过按键改变模式</a:t>
            </a:r>
            <a:endParaRPr lang="en-US" altLang="zh-CN" dirty="0"/>
          </a:p>
          <a:p>
            <a:pPr lvl="1"/>
            <a:r>
              <a:rPr lang="zh-CN" altLang="en-US" dirty="0"/>
              <a:t>常亮、常灭</a:t>
            </a:r>
            <a:endParaRPr lang="en-US" altLang="zh-CN" dirty="0"/>
          </a:p>
          <a:p>
            <a:pPr lvl="1"/>
            <a:r>
              <a:rPr lang="zh-CN" altLang="en-US" dirty="0"/>
              <a:t>呼吸灯</a:t>
            </a:r>
            <a:endParaRPr lang="en-US" altLang="zh-CN" dirty="0"/>
          </a:p>
          <a:p>
            <a:pPr lvl="1"/>
            <a:r>
              <a:rPr lang="en-US" altLang="zh-CN" dirty="0"/>
              <a:t>SOS</a:t>
            </a:r>
            <a:r>
              <a:rPr lang="zh-CN" altLang="en-US" dirty="0"/>
              <a:t>信号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评价标准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  <a:p>
            <a:pPr lvl="1"/>
            <a:r>
              <a:rPr lang="en-US" altLang="zh-CN" dirty="0" err="1"/>
              <a:t>CubeMX</a:t>
            </a:r>
            <a:r>
              <a:rPr lang="zh-CN" altLang="en-US" dirty="0"/>
              <a:t>工程</a:t>
            </a:r>
            <a:endParaRPr lang="en-US" altLang="zh-CN" dirty="0"/>
          </a:p>
          <a:p>
            <a:pPr lvl="1"/>
            <a:r>
              <a:rPr lang="zh-CN" altLang="en-US" dirty="0"/>
              <a:t>用户代码</a:t>
            </a:r>
            <a:endParaRPr lang="en-US" altLang="zh-CN" dirty="0"/>
          </a:p>
          <a:p>
            <a:pPr lvl="1"/>
            <a:r>
              <a:rPr lang="zh-CN" altLang="en-US" dirty="0"/>
              <a:t>运行效果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0554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10E57-5697-B33B-135C-C1E639E2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Debug</a:t>
            </a:r>
            <a:r>
              <a:rPr lang="zh-CN" altLang="en-US" dirty="0"/>
              <a:t>思路参考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56B0D9-2E73-C2AE-1E61-A7D46335D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时钟配置</a:t>
            </a:r>
            <a:endParaRPr lang="en-US" altLang="zh-CN" dirty="0"/>
          </a:p>
          <a:p>
            <a:pPr lvl="1"/>
            <a:r>
              <a:rPr lang="zh-CN" altLang="en-US" dirty="0"/>
              <a:t>是否使用外部晶振？晶振频率？</a:t>
            </a:r>
            <a:endParaRPr lang="en-US" altLang="zh-CN" dirty="0"/>
          </a:p>
          <a:p>
            <a:pPr lvl="1"/>
            <a:r>
              <a:rPr lang="zh-CN" altLang="en-US" dirty="0"/>
              <a:t>定时器</a:t>
            </a:r>
            <a:r>
              <a:rPr lang="en-US" altLang="zh-CN" dirty="0"/>
              <a:t>APB</a:t>
            </a:r>
            <a:r>
              <a:rPr lang="zh-CN" altLang="en-US" dirty="0"/>
              <a:t>总线频率？</a:t>
            </a:r>
            <a:endParaRPr lang="en-US" altLang="zh-CN" dirty="0"/>
          </a:p>
          <a:p>
            <a:r>
              <a:rPr lang="zh-CN" altLang="en-US" dirty="0"/>
              <a:t>函数调用</a:t>
            </a:r>
            <a:endParaRPr lang="en-US" altLang="zh-CN" dirty="0"/>
          </a:p>
          <a:p>
            <a:pPr lvl="1"/>
            <a:r>
              <a:rPr lang="zh-CN" altLang="en-US" dirty="0"/>
              <a:t>调用时外设是否已经初始化？</a:t>
            </a:r>
            <a:endParaRPr lang="en-US" altLang="zh-CN" dirty="0"/>
          </a:p>
          <a:p>
            <a:pPr lvl="1"/>
            <a:r>
              <a:rPr lang="zh-CN" altLang="en-US" dirty="0"/>
              <a:t>是否在</a:t>
            </a:r>
            <a:r>
              <a:rPr lang="en-US" altLang="zh-CN" dirty="0" err="1"/>
              <a:t>CubeMX</a:t>
            </a:r>
            <a:r>
              <a:rPr lang="zh-CN" altLang="en-US" dirty="0"/>
              <a:t>的保护范围之外？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软件消抖</a:t>
            </a:r>
            <a:endParaRPr lang="en-US" altLang="zh-CN" dirty="0"/>
          </a:p>
          <a:p>
            <a:pPr lvl="1"/>
            <a:r>
              <a:rPr lang="zh-CN" altLang="en-US" dirty="0"/>
              <a:t>状态判断：消抖区间什么时候开始，什么时候结束？</a:t>
            </a:r>
            <a:endParaRPr lang="en-US" altLang="zh-SG" dirty="0"/>
          </a:p>
          <a:p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2379F8-5A20-61F9-86F2-3267D8E81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04" y="4415964"/>
            <a:ext cx="4448796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59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F4ED5-6584-61D8-2C0C-28FAD9595C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CN" dirty="0"/>
              <a:t>2.3 </a:t>
            </a:r>
            <a:r>
              <a:rPr lang="zh-CN" altLang="en-US" dirty="0"/>
              <a:t>定时器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EC6E6A-1DCE-D917-D4B0-55C9B67C0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>
            <a:normAutofit/>
          </a:bodyPr>
          <a:lstStyle/>
          <a:p>
            <a:r>
              <a:rPr lang="zh-CN" altLang="en-US" dirty="0"/>
              <a:t>要求：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配置定时器时钟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调节更新周期和占空比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使用定时器中断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输出</a:t>
            </a:r>
            <a:r>
              <a:rPr lang="en-US" altLang="zh-CN" dirty="0"/>
              <a:t>PWM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3561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20BBF-229E-5491-FD2A-71EE2166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/>
              <a:t>Timers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2B0CE0-39E8-DE77-B364-2D64D7447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5532436"/>
          </a:xfrm>
        </p:spPr>
        <p:txBody>
          <a:bodyPr>
            <a:normAutofit/>
          </a:bodyPr>
          <a:lstStyle/>
          <a:p>
            <a:r>
              <a:rPr lang="en-US" altLang="zh-CN" dirty="0"/>
              <a:t>Clock Source</a:t>
            </a:r>
            <a:r>
              <a:rPr lang="zh-CN" altLang="en-US" dirty="0"/>
              <a:t>：定时器的计数时钟来源，一般选内部总线时钟</a:t>
            </a:r>
            <a:endParaRPr lang="en-US" altLang="zh-CN" dirty="0"/>
          </a:p>
          <a:p>
            <a:pPr lvl="1"/>
            <a:r>
              <a:rPr lang="en-US" altLang="zh-CN" dirty="0"/>
              <a:t>APB</a:t>
            </a:r>
            <a:r>
              <a:rPr lang="zh-CN" altLang="en-US" dirty="0"/>
              <a:t>分频不为</a:t>
            </a:r>
            <a:r>
              <a:rPr lang="en-US" altLang="zh-CN" dirty="0"/>
              <a:t>1</a:t>
            </a:r>
            <a:r>
              <a:rPr lang="zh-CN" altLang="en-US" dirty="0"/>
              <a:t>时一般会自动倍频</a:t>
            </a:r>
            <a:endParaRPr lang="en-US" altLang="zh-CN" dirty="0"/>
          </a:p>
          <a:p>
            <a:r>
              <a:rPr lang="en-US" altLang="zh-CN" dirty="0" err="1"/>
              <a:t>Prescaler</a:t>
            </a:r>
            <a:r>
              <a:rPr lang="zh-CN" altLang="en-US" dirty="0"/>
              <a:t>：</a:t>
            </a:r>
            <a:r>
              <a:rPr lang="zh-SG" altLang="en-US" dirty="0"/>
              <a:t>预分频器</a:t>
            </a:r>
            <a:r>
              <a:rPr lang="zh-CN" altLang="en-US" dirty="0"/>
              <a:t>，使实际时钟频率低于输入时钟</a:t>
            </a:r>
            <a:endParaRPr lang="en-US" altLang="zh-CN" dirty="0"/>
          </a:p>
          <a:p>
            <a:r>
              <a:rPr lang="en-US" altLang="zh-CN" dirty="0"/>
              <a:t>Counter Mode</a:t>
            </a:r>
            <a:r>
              <a:rPr lang="zh-CN" altLang="en-US" dirty="0"/>
              <a:t>：计数模式</a:t>
            </a:r>
            <a:endParaRPr lang="en-US" altLang="zh-CN" dirty="0"/>
          </a:p>
          <a:p>
            <a:r>
              <a:rPr lang="en-US" altLang="zh-CN" dirty="0"/>
              <a:t>Counter Period</a:t>
            </a:r>
            <a:r>
              <a:rPr lang="zh-CN" altLang="en-US" dirty="0"/>
              <a:t>：</a:t>
            </a:r>
            <a:r>
              <a:rPr lang="en-US" altLang="zh-CN" dirty="0"/>
              <a:t>ARR</a:t>
            </a:r>
            <a:r>
              <a:rPr lang="zh-CN" altLang="en-US" dirty="0"/>
              <a:t>（</a:t>
            </a:r>
            <a:r>
              <a:rPr lang="en-US" altLang="zh-CN" dirty="0"/>
              <a:t>Auto-Reload Register</a:t>
            </a:r>
            <a:r>
              <a:rPr lang="zh-CN" altLang="en-US" dirty="0"/>
              <a:t>，自动重装载寄存器）值</a:t>
            </a:r>
            <a:endParaRPr lang="en-US" altLang="zh-CN" dirty="0"/>
          </a:p>
          <a:p>
            <a:pPr lvl="1"/>
            <a:r>
              <a:rPr lang="en-US" altLang="zh-CN" dirty="0"/>
              <a:t>Update Period = (</a:t>
            </a:r>
            <a:r>
              <a:rPr lang="en-US" altLang="zh-CN" dirty="0" err="1"/>
              <a:t>Prescaler</a:t>
            </a:r>
            <a:r>
              <a:rPr lang="en-US" altLang="zh-CN" dirty="0"/>
              <a:t> + 1) * (Counter Period + 1) / Timer Clock</a:t>
            </a:r>
          </a:p>
          <a:p>
            <a:r>
              <a:rPr lang="en-US" altLang="zh-CN" dirty="0"/>
              <a:t>Internal Clock Division</a:t>
            </a:r>
            <a:r>
              <a:rPr lang="zh-CN" altLang="en-US" dirty="0"/>
              <a:t>：内部时钟分频</a:t>
            </a:r>
            <a:endParaRPr lang="en-US" altLang="zh-CN" dirty="0"/>
          </a:p>
          <a:p>
            <a:r>
              <a:rPr lang="en-US" altLang="zh-CN" dirty="0"/>
              <a:t>Auto-reload preload</a:t>
            </a:r>
            <a:r>
              <a:rPr lang="zh-CN" altLang="en-US" dirty="0"/>
              <a:t>：预装载（</a:t>
            </a:r>
            <a:r>
              <a:rPr lang="en-US" altLang="zh-CN" dirty="0"/>
              <a:t>ARR</a:t>
            </a:r>
            <a:r>
              <a:rPr lang="zh-CN" altLang="en-US" dirty="0"/>
              <a:t>值修改到下次更新才生效）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1648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25830-E35A-961F-7DA1-B5E8918E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PWM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77BC73-3A93-5BED-D7A9-D8537F7EA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Mode</a:t>
            </a:r>
          </a:p>
          <a:p>
            <a:pPr lvl="1"/>
            <a:r>
              <a:rPr lang="en-US" altLang="zh-CN" dirty="0"/>
              <a:t>PWM mode 1</a:t>
            </a:r>
            <a:r>
              <a:rPr lang="zh-CN" altLang="en-US" dirty="0"/>
              <a:t>：</a:t>
            </a:r>
            <a:r>
              <a:rPr lang="zh-SG" altLang="en-US" dirty="0"/>
              <a:t>当 </a:t>
            </a:r>
            <a:r>
              <a:rPr lang="en-US" altLang="zh-CN" dirty="0"/>
              <a:t>CNT &lt; CCR </a:t>
            </a:r>
            <a:r>
              <a:rPr lang="zh-SG" altLang="en-US" dirty="0"/>
              <a:t>时输出有效电平</a:t>
            </a:r>
            <a:endParaRPr lang="en-US" altLang="zh-SG" dirty="0"/>
          </a:p>
          <a:p>
            <a:pPr lvl="1"/>
            <a:r>
              <a:rPr lang="en-US" altLang="zh-CN" dirty="0"/>
              <a:t>PWM mode 2</a:t>
            </a:r>
            <a:r>
              <a:rPr lang="zh-CN" altLang="en-US" dirty="0"/>
              <a:t>：</a:t>
            </a:r>
            <a:r>
              <a:rPr lang="zh-SG" altLang="en-US" dirty="0"/>
              <a:t>当 </a:t>
            </a:r>
            <a:r>
              <a:rPr lang="en-US" altLang="zh-CN" dirty="0"/>
              <a:t>CNT &lt; CCR </a:t>
            </a:r>
            <a:r>
              <a:rPr lang="zh-SG" altLang="en-US" dirty="0"/>
              <a:t>时输出无效电平</a:t>
            </a:r>
            <a:endParaRPr lang="en-US" altLang="zh-CN" dirty="0"/>
          </a:p>
          <a:p>
            <a:r>
              <a:rPr lang="en-US" altLang="zh-CN" dirty="0"/>
              <a:t>Pulse</a:t>
            </a:r>
            <a:r>
              <a:rPr lang="zh-CN" altLang="en-US" dirty="0"/>
              <a:t>：比较寄存器 </a:t>
            </a:r>
            <a:r>
              <a:rPr lang="en-US" altLang="zh-CN" dirty="0"/>
              <a:t>CCR </a:t>
            </a:r>
            <a:r>
              <a:rPr lang="zh-CN" altLang="en-US" dirty="0"/>
              <a:t>的初始值</a:t>
            </a:r>
            <a:endParaRPr lang="en-US" altLang="zh-CN" dirty="0"/>
          </a:p>
          <a:p>
            <a:r>
              <a:rPr lang="en-US" altLang="zh-CN" dirty="0"/>
              <a:t>Output compare preload</a:t>
            </a:r>
            <a:r>
              <a:rPr lang="zh-CN" altLang="en-US" dirty="0"/>
              <a:t>：</a:t>
            </a:r>
            <a:r>
              <a:rPr lang="en-US" altLang="zh-CN" dirty="0"/>
              <a:t>CCR </a:t>
            </a:r>
            <a:r>
              <a:rPr lang="zh-CN" altLang="en-US" dirty="0"/>
              <a:t>是否启用预装载（下次更新时才修改</a:t>
            </a:r>
            <a:r>
              <a:rPr lang="en-US" altLang="zh-CN" dirty="0"/>
              <a:t>CCR</a:t>
            </a:r>
            <a:r>
              <a:rPr lang="zh-CN" altLang="en-US" dirty="0"/>
              <a:t>值）</a:t>
            </a:r>
            <a:endParaRPr lang="en-US" altLang="zh-CN" dirty="0"/>
          </a:p>
          <a:p>
            <a:r>
              <a:rPr lang="en-US" altLang="zh-CN" dirty="0"/>
              <a:t>Fast Mode</a:t>
            </a:r>
            <a:r>
              <a:rPr lang="zh-CN" altLang="en-US" dirty="0"/>
              <a:t>：输出比较快速模式</a:t>
            </a:r>
            <a:endParaRPr lang="en-US" altLang="zh-CN" dirty="0"/>
          </a:p>
          <a:p>
            <a:r>
              <a:rPr lang="en-US" altLang="zh-CN" dirty="0"/>
              <a:t>CH Polarity</a:t>
            </a:r>
            <a:r>
              <a:rPr lang="zh-CN" altLang="en-US" dirty="0"/>
              <a:t>：通道输出极性（高电平有效或低电平有效）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084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CEF62-45B6-E53F-F642-9B72A7AA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参考培训视频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588DD-0464-1DBC-DAEE-B5ABA8DF0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【STM32CubeMX-TIM</a:t>
            </a:r>
            <a:r>
              <a:rPr lang="zh-CN" altLang="en-US" dirty="0"/>
              <a:t>定时器中断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dirty="0"/>
              <a:t>https://www.bilibili.com/video/BV1qQ4y167u9</a:t>
            </a:r>
          </a:p>
          <a:p>
            <a:pPr marL="0" indent="0">
              <a:buNone/>
            </a:pPr>
            <a:r>
              <a:rPr lang="en-US" altLang="zh-CN" dirty="0"/>
              <a:t>【STM32CubeMX-PWM</a:t>
            </a:r>
            <a:r>
              <a:rPr lang="zh-CN" altLang="en-US" dirty="0"/>
              <a:t>呼吸灯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dirty="0"/>
              <a:t>https://www.bilibili.com/video/BV1gR4y1H7XP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7164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92938D-BD20-16A6-BACE-481DA6D1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2-2</a:t>
            </a:r>
            <a:r>
              <a:rPr lang="zh-CN" altLang="en-US" dirty="0"/>
              <a:t>（与</a:t>
            </a:r>
            <a:r>
              <a:rPr lang="en-US" altLang="zh-CN" dirty="0"/>
              <a:t>2-1</a:t>
            </a:r>
            <a:r>
              <a:rPr lang="zh-CN" altLang="en-US" dirty="0"/>
              <a:t>二选一）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2AFE1D-9752-84CE-ABDE-CE5A0385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蜂鸣器唱歌</a:t>
            </a:r>
            <a:endParaRPr lang="en-US" altLang="zh-CN" dirty="0"/>
          </a:p>
          <a:p>
            <a:r>
              <a:rPr lang="zh-CN" altLang="en-US" dirty="0"/>
              <a:t>借助互联网搜索音符对应频率</a:t>
            </a:r>
            <a:endParaRPr lang="en-US" altLang="zh-CN" dirty="0"/>
          </a:p>
          <a:p>
            <a:r>
              <a:rPr lang="zh-CN" altLang="en-US" dirty="0"/>
              <a:t>通过</a:t>
            </a:r>
            <a:r>
              <a:rPr lang="en-US" altLang="zh-CN" dirty="0"/>
              <a:t>PWM</a:t>
            </a:r>
            <a:r>
              <a:rPr lang="zh-CN" altLang="en-US" dirty="0"/>
              <a:t>周期和占空比调节音调和响度</a:t>
            </a:r>
            <a:endParaRPr lang="en-US" altLang="zh-CN" dirty="0"/>
          </a:p>
          <a:p>
            <a:r>
              <a:rPr lang="zh-CN" altLang="en-US" dirty="0"/>
              <a:t>短按按钮切换播放</a:t>
            </a:r>
            <a:r>
              <a:rPr lang="en-US" altLang="zh-CN" dirty="0"/>
              <a:t>/</a:t>
            </a:r>
            <a:r>
              <a:rPr lang="zh-CN" altLang="en-US" dirty="0"/>
              <a:t>暂停，长按按钮切换是否单曲循环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3853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D1EA4-1ACC-43B4-4FBB-88E287B7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Debug</a:t>
            </a:r>
            <a:r>
              <a:rPr lang="zh-CN" altLang="en-US" dirty="0"/>
              <a:t>思路参考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609A5D-307D-B827-21EC-BE6CB2F0D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时钟源配置不正确？</a:t>
            </a:r>
            <a:endParaRPr lang="en-US" altLang="zh-CN" dirty="0"/>
          </a:p>
          <a:p>
            <a:r>
              <a:rPr lang="en-US" altLang="zh-CN" dirty="0"/>
              <a:t>PWM</a:t>
            </a:r>
            <a:r>
              <a:rPr lang="zh-CN" altLang="en-US" dirty="0"/>
              <a:t>输出未启动？</a:t>
            </a:r>
            <a:endParaRPr lang="en-US" altLang="zh-CN" dirty="0"/>
          </a:p>
          <a:p>
            <a:pPr lvl="1"/>
            <a:r>
              <a:rPr lang="en-GB" altLang="zh-SG" dirty="0"/>
              <a:t>https://sourcevu.sysprogs.com/stm32/HAL/symbols/HAL_TIM_PWM_Start</a:t>
            </a:r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一个很好用的</a:t>
            </a:r>
            <a:r>
              <a:rPr lang="en-US" altLang="zh-CN" dirty="0"/>
              <a:t>HAL</a:t>
            </a:r>
            <a:r>
              <a:rPr lang="zh-CN" altLang="en-US" dirty="0"/>
              <a:t>库</a:t>
            </a:r>
            <a:r>
              <a:rPr lang="en-US" altLang="zh-CN" dirty="0"/>
              <a:t>API</a:t>
            </a:r>
            <a:r>
              <a:rPr lang="zh-CN" altLang="en-US" dirty="0"/>
              <a:t>查询网站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512981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6AE59-FC0D-8896-151E-65966EAB33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SG" dirty="0"/>
              <a:t>2.4 </a:t>
            </a:r>
            <a:r>
              <a:rPr lang="en-US" altLang="zh-CN" dirty="0"/>
              <a:t>UART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9B7C7D-63FE-38B6-8F97-78E8F627D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3255962"/>
          </a:xfrm>
        </p:spPr>
        <p:txBody>
          <a:bodyPr>
            <a:normAutofit/>
          </a:bodyPr>
          <a:lstStyle/>
          <a:p>
            <a:r>
              <a:rPr lang="zh-CN" altLang="en-US" dirty="0"/>
              <a:t>要求：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根据需求配置波特率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区分数据位、停止位、校验位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处理</a:t>
            </a:r>
            <a:r>
              <a:rPr lang="en-US" altLang="zh-CN" dirty="0"/>
              <a:t>ORE</a:t>
            </a:r>
            <a:r>
              <a:rPr lang="zh-CN" altLang="en-US" dirty="0"/>
              <a:t>错误，避免接收中断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正确配置和使用</a:t>
            </a:r>
            <a:r>
              <a:rPr lang="en-US" altLang="zh-CN" dirty="0"/>
              <a:t>DMA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选择接收模式与数据结构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129332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D0232-D3A8-1A61-F3DF-54CA519D3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波特率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9B2E4D-092B-5AB8-17AE-04F16804C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UART</a:t>
            </a:r>
            <a:r>
              <a:rPr lang="zh-CN" altLang="en-US" dirty="0"/>
              <a:t>中无需在意比特率和波特率的差别（相等）</a:t>
            </a:r>
            <a:endParaRPr lang="en-US" altLang="zh-CN" dirty="0"/>
          </a:p>
          <a:p>
            <a:r>
              <a:rPr lang="zh-CN" altLang="en-US" dirty="0"/>
              <a:t>双方波特率相近即可正常通信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645998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DDE69-E4DC-9A5A-C847-6C5EF298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数据位、校验位、停止位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EB134E-FDC5-005B-7A7D-C853668BA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SG" altLang="en-US" dirty="0"/>
              <a:t>数据位</a:t>
            </a:r>
            <a:r>
              <a:rPr lang="zh-SG" altLang="en-GB" dirty="0"/>
              <a:t>：</a:t>
            </a:r>
            <a:r>
              <a:rPr lang="zh-SG" altLang="en-US" dirty="0"/>
              <a:t>有效数据</a:t>
            </a:r>
            <a:endParaRPr lang="en-US" altLang="zh-SG" dirty="0"/>
          </a:p>
          <a:p>
            <a:r>
              <a:rPr lang="zh-CN" altLang="en-US" dirty="0"/>
              <a:t>校验位：可选，用于奇偶校验</a:t>
            </a:r>
            <a:endParaRPr lang="en-US" altLang="zh-CN" dirty="0"/>
          </a:p>
          <a:p>
            <a:r>
              <a:rPr lang="zh-CN" altLang="en-US" dirty="0"/>
              <a:t>停止位：表示一帧结束，给接收端留出恢复时间</a:t>
            </a:r>
            <a:endParaRPr lang="en-US" altLang="zh-CN" dirty="0"/>
          </a:p>
          <a:p>
            <a:r>
              <a:rPr lang="zh-CN" altLang="en-US" dirty="0"/>
              <a:t>注意：</a:t>
            </a:r>
            <a:r>
              <a:rPr lang="en-US" altLang="zh-CN" dirty="0" err="1"/>
              <a:t>CubeMX</a:t>
            </a:r>
            <a:r>
              <a:rPr lang="zh-CN" altLang="en-US" dirty="0"/>
              <a:t>的</a:t>
            </a:r>
            <a:r>
              <a:rPr lang="en-US" altLang="zh-CN" dirty="0"/>
              <a:t>Word Length</a:t>
            </a:r>
            <a:r>
              <a:rPr lang="zh-CN" altLang="en-US" dirty="0"/>
              <a:t>项包含数据位和校验位</a:t>
            </a:r>
            <a:endParaRPr lang="en-US" altLang="zh-CN" dirty="0"/>
          </a:p>
          <a:p>
            <a:r>
              <a:rPr lang="zh-CN" altLang="en-US" dirty="0"/>
              <a:t>配置相同即可正常通信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4BAF62-D2E9-4731-B368-449C90DA4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147" y="4309802"/>
            <a:ext cx="7363853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57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88BA9-FDEE-D484-1F14-11596007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高级参数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6315EC-8155-BD16-1BC1-7DC774A90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532437"/>
          </a:xfrm>
        </p:spPr>
        <p:txBody>
          <a:bodyPr>
            <a:normAutofit/>
          </a:bodyPr>
          <a:lstStyle/>
          <a:p>
            <a:r>
              <a:rPr lang="en-GB" altLang="zh-SG" dirty="0"/>
              <a:t>Over Sampling</a:t>
            </a:r>
            <a:r>
              <a:rPr lang="zh-CN" altLang="en-US" dirty="0"/>
              <a:t>：</a:t>
            </a:r>
            <a:r>
              <a:rPr lang="zh-SG" altLang="en-US" dirty="0"/>
              <a:t>过采样倍数</a:t>
            </a:r>
            <a:endParaRPr lang="en-US" altLang="zh-SG" dirty="0"/>
          </a:p>
          <a:p>
            <a:pPr lvl="1"/>
            <a:r>
              <a:rPr lang="en-US" altLang="zh-SG" dirty="0"/>
              <a:t>16 </a:t>
            </a:r>
            <a:r>
              <a:rPr lang="en-GB" altLang="zh-SG" dirty="0"/>
              <a:t>Samples</a:t>
            </a:r>
            <a:r>
              <a:rPr lang="zh-CN" altLang="en-US" dirty="0"/>
              <a:t>更</a:t>
            </a:r>
            <a:r>
              <a:rPr lang="zh-SG" altLang="en-US" dirty="0"/>
              <a:t>抗干扰</a:t>
            </a:r>
            <a:endParaRPr lang="en-US" altLang="zh-SG" dirty="0"/>
          </a:p>
          <a:p>
            <a:r>
              <a:rPr lang="en-GB" altLang="zh-SG" dirty="0"/>
              <a:t>Single Sample</a:t>
            </a:r>
            <a:r>
              <a:rPr lang="zh-CN" altLang="en-US" dirty="0"/>
              <a:t>：</a:t>
            </a:r>
            <a:r>
              <a:rPr lang="zh-SG" altLang="en-US" dirty="0"/>
              <a:t>单采样模式</a:t>
            </a:r>
            <a:endParaRPr lang="en-US" altLang="zh-SG" dirty="0"/>
          </a:p>
          <a:p>
            <a:pPr lvl="1"/>
            <a:r>
              <a:rPr lang="zh-CN" altLang="en-US" dirty="0"/>
              <a:t>仅用</a:t>
            </a:r>
            <a:r>
              <a:rPr lang="zh-SG" altLang="en-US" dirty="0"/>
              <a:t>采样判断电平，一般保持 </a:t>
            </a:r>
            <a:r>
              <a:rPr lang="en-GB" altLang="zh-SG" dirty="0"/>
              <a:t>Disable</a:t>
            </a:r>
            <a:r>
              <a:rPr lang="zh-CN" altLang="en-US" dirty="0"/>
              <a:t>以抗</a:t>
            </a:r>
            <a:r>
              <a:rPr lang="zh-SG" altLang="en-US" dirty="0"/>
              <a:t>噪</a:t>
            </a:r>
            <a:endParaRPr lang="en-US" altLang="zh-SG" dirty="0"/>
          </a:p>
          <a:p>
            <a:r>
              <a:rPr lang="en-GB" altLang="zh-SG" dirty="0"/>
              <a:t>Clock </a:t>
            </a:r>
            <a:r>
              <a:rPr lang="en-GB" altLang="zh-SG" dirty="0" err="1"/>
              <a:t>Prescaler</a:t>
            </a:r>
            <a:r>
              <a:rPr lang="zh-CN" altLang="en-US" dirty="0"/>
              <a:t>：</a:t>
            </a:r>
            <a:r>
              <a:rPr lang="zh-SG" altLang="en-US" dirty="0"/>
              <a:t>外设时钟预分频</a:t>
            </a:r>
            <a:endParaRPr lang="en-US" altLang="zh-SG" dirty="0"/>
          </a:p>
          <a:p>
            <a:r>
              <a:rPr lang="en-GB" altLang="zh-SG" dirty="0" err="1"/>
              <a:t>Fifo</a:t>
            </a:r>
            <a:r>
              <a:rPr lang="en-GB" altLang="zh-SG" dirty="0"/>
              <a:t> Mode</a:t>
            </a:r>
            <a:r>
              <a:rPr lang="zh-CN" altLang="en-US" dirty="0"/>
              <a:t>：</a:t>
            </a:r>
            <a:r>
              <a:rPr lang="en-GB" altLang="zh-SG" dirty="0"/>
              <a:t>FIFO</a:t>
            </a:r>
            <a:r>
              <a:rPr lang="zh-SG" altLang="en-US" dirty="0"/>
              <a:t>缓冲模式</a:t>
            </a:r>
            <a:endParaRPr lang="en-US" altLang="zh-SG" dirty="0"/>
          </a:p>
          <a:p>
            <a:pPr lvl="1"/>
            <a:r>
              <a:rPr lang="zh-SG" altLang="en-US" dirty="0"/>
              <a:t>关闭时按传统单字节寄存器方式工作；开启后 </a:t>
            </a:r>
            <a:r>
              <a:rPr lang="en-GB" altLang="zh-SG" dirty="0"/>
              <a:t>TX/RX </a:t>
            </a:r>
            <a:r>
              <a:rPr lang="zh-SG" altLang="en-US" dirty="0"/>
              <a:t>有更深缓冲</a:t>
            </a:r>
            <a:endParaRPr lang="en-US" altLang="zh-SG" dirty="0"/>
          </a:p>
          <a:p>
            <a:r>
              <a:rPr lang="en-GB" altLang="zh-SG" dirty="0" err="1"/>
              <a:t>Txfifo</a:t>
            </a:r>
            <a:r>
              <a:rPr lang="en-GB" altLang="zh-SG" dirty="0"/>
              <a:t> Threshold</a:t>
            </a:r>
            <a:r>
              <a:rPr lang="zh-CN" altLang="en-US" dirty="0"/>
              <a:t>：</a:t>
            </a:r>
            <a:r>
              <a:rPr lang="zh-SG" altLang="en-US" dirty="0"/>
              <a:t>发送 </a:t>
            </a:r>
            <a:r>
              <a:rPr lang="en-GB" altLang="zh-SG" dirty="0"/>
              <a:t>FIFO </a:t>
            </a:r>
            <a:r>
              <a:rPr lang="zh-SG" altLang="en-US" dirty="0"/>
              <a:t>触发阈值</a:t>
            </a:r>
            <a:endParaRPr lang="en-US" altLang="zh-SG" dirty="0"/>
          </a:p>
          <a:p>
            <a:pPr lvl="1"/>
            <a:r>
              <a:rPr lang="zh-SG" altLang="en-US" dirty="0"/>
              <a:t>达到多少空位触发中断</a:t>
            </a:r>
            <a:r>
              <a:rPr lang="en-US" altLang="zh-SG" dirty="0"/>
              <a:t>/</a:t>
            </a:r>
            <a:r>
              <a:rPr lang="en-GB" altLang="zh-SG" dirty="0"/>
              <a:t>DMA</a:t>
            </a:r>
            <a:endParaRPr lang="en-US" altLang="zh-SG" dirty="0"/>
          </a:p>
          <a:p>
            <a:r>
              <a:rPr lang="en-GB" altLang="zh-SG" dirty="0" err="1"/>
              <a:t>Rxfifo</a:t>
            </a:r>
            <a:r>
              <a:rPr lang="en-GB" altLang="zh-SG" dirty="0"/>
              <a:t> Threshold</a:t>
            </a:r>
            <a:r>
              <a:rPr lang="zh-CN" altLang="en-US" dirty="0"/>
              <a:t>：</a:t>
            </a:r>
            <a:r>
              <a:rPr lang="zh-SG" altLang="en-US" dirty="0"/>
              <a:t>接收 </a:t>
            </a:r>
            <a:r>
              <a:rPr lang="en-GB" altLang="zh-SG" dirty="0"/>
              <a:t>FIFO </a:t>
            </a:r>
            <a:r>
              <a:rPr lang="zh-SG" altLang="en-US" dirty="0"/>
              <a:t>触发阈值</a:t>
            </a:r>
            <a:endParaRPr lang="en-US" altLang="zh-SG" dirty="0"/>
          </a:p>
          <a:p>
            <a:pPr lvl="1"/>
            <a:r>
              <a:rPr lang="zh-SG" altLang="en-US" dirty="0"/>
              <a:t>收到多少数据后触发中断</a:t>
            </a:r>
            <a:r>
              <a:rPr lang="en-US" altLang="zh-SG" dirty="0"/>
              <a:t>/</a:t>
            </a:r>
            <a:r>
              <a:rPr lang="en-GB" altLang="zh-SG" dirty="0"/>
              <a:t>DMA</a:t>
            </a:r>
            <a:endParaRPr lang="en-US" altLang="zh-SG" dirty="0"/>
          </a:p>
        </p:txBody>
      </p:sp>
    </p:spTree>
    <p:extLst>
      <p:ext uri="{BB962C8B-B14F-4D97-AF65-F5344CB8AC3E}">
        <p14:creationId xmlns:p14="http://schemas.microsoft.com/office/powerpoint/2010/main" val="3141025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C72AA-F7E5-42C4-408C-C9D2F347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633"/>
            <a:ext cx="10515600" cy="1325563"/>
          </a:xfrm>
        </p:spPr>
        <p:txBody>
          <a:bodyPr/>
          <a:lstStyle/>
          <a:p>
            <a:r>
              <a:rPr lang="zh-CN" altLang="en-US" dirty="0"/>
              <a:t>高级功能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968EA3-00A8-2290-EE2F-8413B95BE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930"/>
            <a:ext cx="10515600" cy="5543070"/>
          </a:xfrm>
        </p:spPr>
        <p:txBody>
          <a:bodyPr>
            <a:normAutofit/>
          </a:bodyPr>
          <a:lstStyle/>
          <a:p>
            <a:r>
              <a:rPr lang="en-GB" altLang="zh-SG" dirty="0"/>
              <a:t>Auto </a:t>
            </a:r>
            <a:r>
              <a:rPr lang="en-GB" altLang="zh-SG" dirty="0" err="1"/>
              <a:t>Baudrate</a:t>
            </a:r>
            <a:r>
              <a:rPr lang="zh-CN" altLang="en-US" dirty="0"/>
              <a:t>：</a:t>
            </a:r>
            <a:r>
              <a:rPr lang="zh-SG" altLang="en-US" dirty="0"/>
              <a:t>自动波特率检测</a:t>
            </a:r>
            <a:endParaRPr lang="en-US" altLang="zh-SG" dirty="0"/>
          </a:p>
          <a:p>
            <a:r>
              <a:rPr lang="en-GB" altLang="zh-SG" dirty="0"/>
              <a:t>TX Pin Active Level Inversion</a:t>
            </a:r>
            <a:r>
              <a:rPr lang="zh-CN" altLang="en-US" dirty="0"/>
              <a:t>：</a:t>
            </a:r>
            <a:r>
              <a:rPr lang="zh-SG" altLang="en-US" dirty="0"/>
              <a:t>反转</a:t>
            </a:r>
            <a:r>
              <a:rPr lang="en-GB" altLang="zh-SG" dirty="0"/>
              <a:t>TX</a:t>
            </a:r>
            <a:r>
              <a:rPr lang="zh-SG" altLang="en-US" dirty="0"/>
              <a:t>引脚电平逻辑</a:t>
            </a:r>
            <a:endParaRPr lang="en-US" altLang="zh-SG" dirty="0"/>
          </a:p>
          <a:p>
            <a:r>
              <a:rPr lang="en-GB" altLang="zh-SG" dirty="0"/>
              <a:t>RX Pin Active Level Inversion</a:t>
            </a:r>
            <a:r>
              <a:rPr lang="zh-CN" altLang="en-US" dirty="0"/>
              <a:t>：</a:t>
            </a:r>
            <a:r>
              <a:rPr lang="zh-SG" altLang="en-US" dirty="0"/>
              <a:t>反转 </a:t>
            </a:r>
            <a:r>
              <a:rPr lang="en-GB" altLang="zh-SG" dirty="0"/>
              <a:t>RX </a:t>
            </a:r>
            <a:r>
              <a:rPr lang="zh-SG" altLang="en-US" dirty="0"/>
              <a:t>引脚电平逻辑</a:t>
            </a:r>
            <a:endParaRPr lang="en-US" altLang="zh-SG" dirty="0"/>
          </a:p>
          <a:p>
            <a:r>
              <a:rPr lang="en-GB" altLang="zh-SG" dirty="0"/>
              <a:t>Data Inversion</a:t>
            </a:r>
            <a:r>
              <a:rPr lang="zh-CN" altLang="en-US" dirty="0"/>
              <a:t>：</a:t>
            </a:r>
            <a:r>
              <a:rPr lang="zh-SG" altLang="en-US" dirty="0"/>
              <a:t>反转数据</a:t>
            </a:r>
            <a:r>
              <a:rPr lang="en-GB" altLang="zh-SG" dirty="0"/>
              <a:t>bit</a:t>
            </a:r>
            <a:endParaRPr lang="en-US" altLang="zh-SG" dirty="0"/>
          </a:p>
          <a:p>
            <a:r>
              <a:rPr lang="en-GB" altLang="zh-SG" dirty="0"/>
              <a:t>TX and RX Pins Swapping</a:t>
            </a:r>
            <a:r>
              <a:rPr lang="zh-CN" altLang="en-US" dirty="0"/>
              <a:t>：</a:t>
            </a:r>
            <a:r>
              <a:rPr lang="zh-SG" altLang="en-US" dirty="0"/>
              <a:t>交换 </a:t>
            </a:r>
            <a:r>
              <a:rPr lang="en-GB" altLang="zh-SG" dirty="0"/>
              <a:t>TX/RX </a:t>
            </a:r>
            <a:r>
              <a:rPr lang="zh-SG" altLang="en-US" dirty="0"/>
              <a:t>引脚功能</a:t>
            </a:r>
            <a:endParaRPr lang="en-US" altLang="zh-SG" dirty="0"/>
          </a:p>
          <a:p>
            <a:r>
              <a:rPr lang="en-GB" altLang="zh-SG" dirty="0"/>
              <a:t>Overrun</a:t>
            </a:r>
            <a:r>
              <a:rPr lang="zh-CN" altLang="en-US" dirty="0"/>
              <a:t>：</a:t>
            </a:r>
            <a:r>
              <a:rPr lang="zh-SG" altLang="en-US" dirty="0"/>
              <a:t>接收溢出检测</a:t>
            </a:r>
            <a:endParaRPr lang="en-US" altLang="zh-SG" dirty="0"/>
          </a:p>
          <a:p>
            <a:pPr lvl="1"/>
            <a:r>
              <a:rPr lang="zh-SG" altLang="en-US" dirty="0"/>
              <a:t>如果数据没及时读走会产生溢出错误</a:t>
            </a:r>
            <a:endParaRPr lang="en-US" altLang="zh-SG" dirty="0"/>
          </a:p>
          <a:p>
            <a:r>
              <a:rPr lang="en-GB" altLang="zh-SG" dirty="0"/>
              <a:t>DMA on RX Error</a:t>
            </a:r>
            <a:r>
              <a:rPr lang="zh-CN" altLang="en-US" dirty="0"/>
              <a:t>：</a:t>
            </a:r>
            <a:r>
              <a:rPr lang="zh-SG" altLang="en-US" dirty="0"/>
              <a:t>接收错误时 </a:t>
            </a:r>
            <a:r>
              <a:rPr lang="en-GB" altLang="zh-SG" dirty="0"/>
              <a:t>DMA </a:t>
            </a:r>
            <a:r>
              <a:rPr lang="zh-SG" altLang="en-US" dirty="0"/>
              <a:t>行为控制</a:t>
            </a:r>
            <a:endParaRPr lang="en-US" altLang="zh-SG" dirty="0"/>
          </a:p>
          <a:p>
            <a:pPr lvl="1"/>
            <a:r>
              <a:rPr lang="zh-SG" altLang="en-US" dirty="0"/>
              <a:t>开启后 </a:t>
            </a:r>
            <a:r>
              <a:rPr lang="en-GB" altLang="zh-SG" dirty="0"/>
              <a:t>RX </a:t>
            </a:r>
            <a:r>
              <a:rPr lang="zh-SG" altLang="en-US" dirty="0"/>
              <a:t>错误相关处理会影响 </a:t>
            </a:r>
            <a:r>
              <a:rPr lang="en-GB" altLang="zh-SG" dirty="0"/>
              <a:t>DMA </a:t>
            </a:r>
            <a:r>
              <a:rPr lang="zh-SG" altLang="en-US" dirty="0"/>
              <a:t>接收流程</a:t>
            </a:r>
            <a:endParaRPr lang="en-US" altLang="zh-SG" dirty="0"/>
          </a:p>
          <a:p>
            <a:r>
              <a:rPr lang="en-GB" altLang="zh-SG" dirty="0"/>
              <a:t>MSB First</a:t>
            </a:r>
            <a:r>
              <a:rPr lang="zh-CN" altLang="en-US" dirty="0"/>
              <a:t>：</a:t>
            </a:r>
            <a:r>
              <a:rPr lang="zh-SG" altLang="en-US" dirty="0"/>
              <a:t>是否最高位先发送</a:t>
            </a:r>
            <a:endParaRPr lang="en-US" altLang="zh-SG" dirty="0"/>
          </a:p>
          <a:p>
            <a:pPr lvl="1"/>
            <a:r>
              <a:rPr lang="zh-SG" altLang="en-US" dirty="0"/>
              <a:t>普通 </a:t>
            </a:r>
            <a:r>
              <a:rPr lang="en-GB" altLang="zh-SG" dirty="0"/>
              <a:t>UART </a:t>
            </a:r>
            <a:r>
              <a:rPr lang="zh-SG" altLang="en-US" dirty="0"/>
              <a:t>默认低位先发</a:t>
            </a:r>
          </a:p>
          <a:p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746013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190A2-F953-B5EF-6295-05D43D10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DMA</a:t>
            </a:r>
            <a:r>
              <a:rPr lang="zh-CN" altLang="en-US" dirty="0"/>
              <a:t>接收缓冲区设计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DD1AF3-F444-4518-9BA8-0E813D028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循环</a:t>
            </a:r>
            <a:r>
              <a:rPr lang="en-US" altLang="zh-CN" dirty="0"/>
              <a:t>DMA+</a:t>
            </a:r>
            <a:r>
              <a:rPr lang="zh-CN" altLang="en-US" dirty="0"/>
              <a:t>固定缓冲区</a:t>
            </a:r>
            <a:endParaRPr lang="en-US" altLang="zh-CN" dirty="0"/>
          </a:p>
          <a:p>
            <a:r>
              <a:rPr lang="zh-CN" altLang="en-US" dirty="0"/>
              <a:t>单次使能</a:t>
            </a:r>
            <a:r>
              <a:rPr lang="en-US" altLang="zh-CN" dirty="0"/>
              <a:t>+</a:t>
            </a:r>
            <a:r>
              <a:rPr lang="zh-CN" altLang="en-US" dirty="0"/>
              <a:t>双缓冲区</a:t>
            </a:r>
            <a:endParaRPr lang="en-US" altLang="zh-CN" dirty="0"/>
          </a:p>
          <a:p>
            <a:r>
              <a:rPr lang="zh-CN" altLang="en-US" dirty="0"/>
              <a:t>单次使能</a:t>
            </a:r>
            <a:r>
              <a:rPr lang="en-US" altLang="zh-CN" dirty="0"/>
              <a:t>+</a:t>
            </a:r>
            <a:r>
              <a:rPr lang="zh-CN" altLang="en-US" dirty="0"/>
              <a:t>环形缓冲区</a:t>
            </a:r>
            <a:endParaRPr lang="en-US" altLang="zh-CN" dirty="0"/>
          </a:p>
          <a:p>
            <a:r>
              <a:rPr lang="zh-CN" altLang="en-US" dirty="0"/>
              <a:t>单次使能</a:t>
            </a:r>
            <a:r>
              <a:rPr lang="en-US" altLang="zh-CN" dirty="0"/>
              <a:t>+</a:t>
            </a:r>
            <a:r>
              <a:rPr lang="en-US" altLang="zh-CN" dirty="0" err="1"/>
              <a:t>Bip</a:t>
            </a:r>
            <a:r>
              <a:rPr lang="en-US" altLang="zh-CN" dirty="0"/>
              <a:t> Buffer</a:t>
            </a:r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A874E4-0BD4-843E-3231-FE63AAB97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4157919" cy="3429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41571D-5F2C-A434-0FD3-000AB56C4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459" y="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07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2BFE9-34B2-5268-8E65-2F8D03029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关闭</a:t>
            </a:r>
            <a:r>
              <a:rPr lang="en-US" altLang="zh-CN" dirty="0"/>
              <a:t>DMA</a:t>
            </a:r>
            <a:r>
              <a:rPr lang="zh-CN" altLang="en-US" dirty="0"/>
              <a:t>半满中断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761F7F-F8B1-D305-6F69-CF9ED68CE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H7</a:t>
            </a:r>
            <a:r>
              <a:rPr lang="zh-CN" altLang="en-US" dirty="0"/>
              <a:t>开启</a:t>
            </a:r>
            <a:r>
              <a:rPr lang="en-US" altLang="zh-CN" dirty="0"/>
              <a:t>DMA</a:t>
            </a:r>
            <a:r>
              <a:rPr lang="zh-CN" altLang="en-US" dirty="0"/>
              <a:t>空闲接收时会自动打开接收半满中断，接收到指定长度的一半时就会返回</a:t>
            </a:r>
            <a:endParaRPr lang="en-US" altLang="zh-CN" dirty="0"/>
          </a:p>
          <a:p>
            <a:r>
              <a:rPr lang="zh-CN" altLang="en-US" dirty="0"/>
              <a:t>可以在启动接收时手动关闭半满中断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002574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897C0-FA3A-821B-9940-0DE88BEF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处理</a:t>
            </a:r>
            <a:r>
              <a:rPr lang="en-US" altLang="zh-CN" dirty="0"/>
              <a:t>ORE</a:t>
            </a:r>
            <a:r>
              <a:rPr lang="zh-CN" altLang="en-US" dirty="0"/>
              <a:t>（</a:t>
            </a:r>
            <a:r>
              <a:rPr lang="en-US" altLang="zh-CN" dirty="0"/>
              <a:t>Overrun Error</a:t>
            </a:r>
            <a:r>
              <a:rPr lang="zh-CN" altLang="en-US" dirty="0"/>
              <a:t>溢出错误）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0F87DA-6FA8-3966-5893-8B0688B3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队长：上电之前先开遥控器，拨到急停档！</a:t>
            </a:r>
            <a:endParaRPr lang="en-US" altLang="zh-CN" dirty="0"/>
          </a:p>
          <a:p>
            <a:r>
              <a:rPr lang="en-US" altLang="zh-CN" dirty="0"/>
              <a:t>MCU</a:t>
            </a:r>
            <a:r>
              <a:rPr lang="zh-CN" altLang="en-US" dirty="0"/>
              <a:t>：我才刚上电，怎么就来了这么多数据？</a:t>
            </a:r>
            <a:endParaRPr lang="en-US" altLang="zh-CN" dirty="0"/>
          </a:p>
          <a:p>
            <a:r>
              <a:rPr lang="zh-CN" altLang="en-US" dirty="0"/>
              <a:t>当数据来不及被读取时又来了新数据，就会产生</a:t>
            </a:r>
            <a:r>
              <a:rPr lang="en-US" altLang="zh-CN" dirty="0"/>
              <a:t>ORE</a:t>
            </a:r>
          </a:p>
          <a:p>
            <a:r>
              <a:rPr lang="zh-CN" altLang="en-US" dirty="0"/>
              <a:t>此时会调用</a:t>
            </a:r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1B3A05-D8C9-7871-C807-B5DC447A3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25876"/>
            <a:ext cx="6096000" cy="1219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B7A30F-79D5-CCAA-0C81-E7CE6B3AB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125876"/>
            <a:ext cx="6096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58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C07E5-B809-9856-FF16-87376EBA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参考培训视频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215D91-A734-9A1B-2C32-DBE194C87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en-GB" altLang="zh-SG" dirty="0"/>
              <a:t>STM32CubeMX-UART</a:t>
            </a:r>
            <a:r>
              <a:rPr lang="zh-SG" altLang="en-US" dirty="0"/>
              <a:t>通信</a:t>
            </a:r>
            <a:r>
              <a:rPr lang="en-US" altLang="zh-CN" dirty="0"/>
              <a:t>】</a:t>
            </a:r>
            <a:endParaRPr lang="en-GB" altLang="zh-SG" dirty="0"/>
          </a:p>
          <a:p>
            <a:pPr marL="0" indent="0">
              <a:buNone/>
            </a:pPr>
            <a:r>
              <a:rPr lang="en-GB" altLang="zh-SG" dirty="0"/>
              <a:t>https://www.bilibili.com/video/BV1db4y1a7Xe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224169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4A5B1-1184-3761-C717-A9E9B3FA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2-3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2D1A34-FCAB-9D32-8B8E-94E0DD5D9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接收</a:t>
            </a:r>
            <a:r>
              <a:rPr lang="en-US" altLang="zh-CN" dirty="0"/>
              <a:t>DT7</a:t>
            </a:r>
            <a:r>
              <a:rPr lang="zh-CN" altLang="en-US" dirty="0"/>
              <a:t>数据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板和</a:t>
            </a:r>
            <a:r>
              <a:rPr lang="en-US" altLang="zh-CN" dirty="0"/>
              <a:t>H7</a:t>
            </a:r>
            <a:r>
              <a:rPr lang="zh-CN" altLang="en-US" dirty="0"/>
              <a:t>板提供带反相器的接口（见手册）</a:t>
            </a:r>
            <a:endParaRPr lang="en-US" altLang="zh-CN" dirty="0"/>
          </a:p>
          <a:p>
            <a:r>
              <a:rPr lang="zh-CN" altLang="en-US" dirty="0"/>
              <a:t>要求上电时和打断点恢复后都能继续接收数据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4218983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97EA0-A54D-A38C-DC4A-987A53CEB1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SG" dirty="0"/>
              <a:t>2.5 </a:t>
            </a:r>
            <a:r>
              <a:rPr lang="en-US" altLang="zh-CN" dirty="0"/>
              <a:t>CAN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411CD0-1B89-8CDE-192B-6A6D5C8F7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/>
          <a:lstStyle/>
          <a:p>
            <a:r>
              <a:rPr lang="zh-CN" altLang="en-US" dirty="0"/>
              <a:t>要求：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配置波特率和采样点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了解仲裁机制，合理设置</a:t>
            </a:r>
            <a:r>
              <a:rPr lang="en-US" altLang="zh-CN" dirty="0"/>
              <a:t>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配置</a:t>
            </a:r>
            <a:r>
              <a:rPr lang="en-US" altLang="zh-SG" dirty="0"/>
              <a:t>FDCAN</a:t>
            </a:r>
            <a:r>
              <a:rPr lang="zh-CN" altLang="en-US" dirty="0"/>
              <a:t>内存和</a:t>
            </a:r>
            <a:r>
              <a:rPr lang="en-US" altLang="zh-CN"/>
              <a:t>TDC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762299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94B794-A755-DD5B-60DA-923827982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基本参数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8C1324-D98E-9024-C370-0DB982F4F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5532436"/>
          </a:xfrm>
        </p:spPr>
        <p:txBody>
          <a:bodyPr>
            <a:normAutofit/>
          </a:bodyPr>
          <a:lstStyle/>
          <a:p>
            <a:r>
              <a:rPr lang="en-US" altLang="zh-CN" dirty="0"/>
              <a:t>Frame Format</a:t>
            </a:r>
            <a:r>
              <a:rPr lang="zh-CN" altLang="en-US" dirty="0"/>
              <a:t>：帧格式</a:t>
            </a:r>
            <a:endParaRPr lang="en-US" altLang="zh-CN" dirty="0"/>
          </a:p>
          <a:p>
            <a:pPr lvl="1"/>
            <a:r>
              <a:rPr lang="en-US" altLang="zh-CN" dirty="0"/>
              <a:t>CAN 2.0B</a:t>
            </a:r>
            <a:r>
              <a:rPr lang="zh-CN" altLang="en-US" dirty="0"/>
              <a:t>或</a:t>
            </a:r>
            <a:r>
              <a:rPr lang="en-US" altLang="zh-CN" dirty="0"/>
              <a:t>FDCAN</a:t>
            </a:r>
            <a:r>
              <a:rPr lang="zh-CN" altLang="en-US" dirty="0"/>
              <a:t>（是否可变波特率）</a:t>
            </a:r>
            <a:endParaRPr lang="en-US" altLang="zh-CN" dirty="0"/>
          </a:p>
          <a:p>
            <a:r>
              <a:rPr lang="en-US" altLang="zh-CN" dirty="0"/>
              <a:t>Mode</a:t>
            </a:r>
            <a:r>
              <a:rPr lang="zh-CN" altLang="en-US" dirty="0"/>
              <a:t>：</a:t>
            </a:r>
            <a:r>
              <a:rPr lang="en-US" altLang="zh-CN" dirty="0"/>
              <a:t>CAN</a:t>
            </a:r>
            <a:r>
              <a:rPr lang="zh-CN" altLang="en-US" dirty="0"/>
              <a:t>模式</a:t>
            </a:r>
            <a:endParaRPr lang="en-US" altLang="zh-CN" dirty="0"/>
          </a:p>
          <a:p>
            <a:pPr lvl="1"/>
            <a:r>
              <a:rPr lang="zh-CN" altLang="en-US" dirty="0"/>
              <a:t>总线监听模式可以分析总线</a:t>
            </a:r>
            <a:endParaRPr lang="en-US" altLang="zh-CN" dirty="0"/>
          </a:p>
          <a:p>
            <a:pPr lvl="1"/>
            <a:r>
              <a:rPr lang="zh-CN" altLang="en-US" dirty="0"/>
              <a:t>内部回环模式可以测试收发逻辑</a:t>
            </a:r>
            <a:endParaRPr lang="en-US" altLang="zh-CN" dirty="0"/>
          </a:p>
          <a:p>
            <a:pPr lvl="1"/>
            <a:r>
              <a:rPr lang="zh-CN" altLang="en-US" dirty="0"/>
              <a:t>外部回环模式可以测试收发器和线路</a:t>
            </a:r>
            <a:endParaRPr lang="en-US" altLang="zh-CN" dirty="0"/>
          </a:p>
          <a:p>
            <a:r>
              <a:rPr lang="en-US" altLang="zh-CN" dirty="0"/>
              <a:t>Auto Retransmission</a:t>
            </a:r>
            <a:r>
              <a:rPr lang="zh-CN" altLang="en-US" dirty="0"/>
              <a:t>自动重传</a:t>
            </a:r>
            <a:endParaRPr lang="en-US" altLang="zh-CN" dirty="0"/>
          </a:p>
          <a:p>
            <a:pPr lvl="1"/>
            <a:r>
              <a:rPr lang="zh-CN" altLang="en-US" dirty="0"/>
              <a:t>自动重发，避免仲裁失败、</a:t>
            </a:r>
            <a:r>
              <a:rPr lang="en-US" altLang="zh-CN" dirty="0"/>
              <a:t>ACK </a:t>
            </a:r>
            <a:r>
              <a:rPr lang="zh-CN" altLang="en-US" dirty="0"/>
              <a:t>错误、总线错误等导致发送失败</a:t>
            </a:r>
            <a:endParaRPr lang="en-US" altLang="zh-CN" dirty="0"/>
          </a:p>
          <a:p>
            <a:r>
              <a:rPr lang="en-US" altLang="zh-CN" dirty="0"/>
              <a:t>Transmit Pause</a:t>
            </a:r>
            <a:r>
              <a:rPr lang="zh-CN" altLang="en-US" dirty="0"/>
              <a:t>：传输暂停</a:t>
            </a:r>
            <a:endParaRPr lang="en-US" altLang="zh-CN" dirty="0"/>
          </a:p>
          <a:p>
            <a:pPr lvl="1"/>
            <a:r>
              <a:rPr lang="zh-CN" altLang="en-US" dirty="0"/>
              <a:t>两次发送之间插入暂停，避免一个节点长时间霸占总线</a:t>
            </a:r>
            <a:endParaRPr lang="en-US" altLang="zh-CN" dirty="0"/>
          </a:p>
          <a:p>
            <a:r>
              <a:rPr lang="en-US" altLang="zh-CN" dirty="0"/>
              <a:t>Protocol Exception</a:t>
            </a:r>
            <a:r>
              <a:rPr lang="zh-CN" altLang="en-US" dirty="0"/>
              <a:t>：协议异常处理</a:t>
            </a:r>
            <a:endParaRPr lang="en-US" altLang="zh-CN" dirty="0"/>
          </a:p>
          <a:p>
            <a:pPr lvl="1"/>
            <a:r>
              <a:rPr lang="zh-CN" altLang="en-US" dirty="0"/>
              <a:t>能够兼容更新的协议如</a:t>
            </a:r>
            <a:r>
              <a:rPr lang="en-US" altLang="zh-CN" dirty="0"/>
              <a:t>CANFD</a:t>
            </a:r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F43725-1EA9-A2CE-6481-54852DE77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571" y="1690688"/>
            <a:ext cx="5220429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58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BD051-D46F-55FF-FD48-9BFD63162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基本参数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9FD529-D7D8-148A-A1AD-F8C8D4DC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10515600" cy="5532437"/>
          </a:xfrm>
        </p:spPr>
        <p:txBody>
          <a:bodyPr/>
          <a:lstStyle/>
          <a:p>
            <a:r>
              <a:rPr lang="en-US" altLang="zh-CN" dirty="0"/>
              <a:t>Message Ram Offset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STM32 FDCAN </a:t>
            </a:r>
            <a:r>
              <a:rPr lang="zh-SG" altLang="en-US" dirty="0"/>
              <a:t>使用一块专门的 </a:t>
            </a:r>
            <a:r>
              <a:rPr lang="en-US" altLang="zh-CN" dirty="0"/>
              <a:t>Message RAM </a:t>
            </a:r>
            <a:r>
              <a:rPr lang="zh-SG" altLang="en-US" dirty="0"/>
              <a:t>存放过滤器、接收 </a:t>
            </a:r>
            <a:r>
              <a:rPr lang="en-US" altLang="zh-CN" dirty="0"/>
              <a:t>FIFO</a:t>
            </a:r>
            <a:r>
              <a:rPr lang="zh-CN" altLang="en-US" dirty="0"/>
              <a:t>、</a:t>
            </a:r>
            <a:r>
              <a:rPr lang="zh-SG" altLang="en-US" dirty="0"/>
              <a:t>发送 </a:t>
            </a:r>
            <a:r>
              <a:rPr lang="en-US" altLang="zh-CN" dirty="0"/>
              <a:t>FIFO </a:t>
            </a:r>
            <a:r>
              <a:rPr lang="zh-SG" altLang="en-US" dirty="0"/>
              <a:t>等结构</a:t>
            </a:r>
            <a:endParaRPr lang="en-US" altLang="zh-SG" dirty="0"/>
          </a:p>
          <a:p>
            <a:pPr lvl="1"/>
            <a:r>
              <a:rPr lang="en-US" altLang="zh-CN" dirty="0"/>
              <a:t>Std Filters </a:t>
            </a:r>
            <a:r>
              <a:rPr lang="en-US" altLang="zh-CN" dirty="0" err="1"/>
              <a:t>Nbr</a:t>
            </a:r>
            <a:r>
              <a:rPr lang="zh-CN" altLang="en-US" dirty="0"/>
              <a:t>：</a:t>
            </a:r>
            <a:r>
              <a:rPr lang="zh-SG" altLang="en-US" dirty="0"/>
              <a:t>标准帧</a:t>
            </a:r>
            <a:r>
              <a:rPr lang="en-US" altLang="zh-SG" dirty="0"/>
              <a:t>11-</a:t>
            </a:r>
            <a:r>
              <a:rPr lang="en-US" altLang="zh-CN" dirty="0"/>
              <a:t>bit ID</a:t>
            </a:r>
            <a:r>
              <a:rPr lang="zh-SG" altLang="en-US" dirty="0"/>
              <a:t>过滤器数量</a:t>
            </a:r>
            <a:endParaRPr lang="en-US" altLang="zh-SG" dirty="0"/>
          </a:p>
          <a:p>
            <a:pPr lvl="1"/>
            <a:r>
              <a:rPr lang="en-US" altLang="zh-CN" dirty="0"/>
              <a:t>Ext Filters </a:t>
            </a:r>
            <a:r>
              <a:rPr lang="en-US" altLang="zh-CN" dirty="0" err="1"/>
              <a:t>Nbr</a:t>
            </a:r>
            <a:r>
              <a:rPr lang="zh-CN" altLang="en-US" dirty="0"/>
              <a:t>：</a:t>
            </a:r>
            <a:r>
              <a:rPr lang="zh-SG" altLang="en-US" dirty="0"/>
              <a:t>扩展帧</a:t>
            </a:r>
            <a:r>
              <a:rPr lang="en-US" altLang="zh-SG" dirty="0"/>
              <a:t>29-</a:t>
            </a:r>
            <a:r>
              <a:rPr lang="en-US" altLang="zh-CN" dirty="0"/>
              <a:t>bit ID</a:t>
            </a:r>
            <a:r>
              <a:rPr lang="zh-SG" altLang="en-US" dirty="0"/>
              <a:t>过滤器数量</a:t>
            </a:r>
            <a:endParaRPr lang="en-US" altLang="zh-SG" dirty="0"/>
          </a:p>
          <a:p>
            <a:pPr lvl="1"/>
            <a:r>
              <a:rPr lang="en-US" altLang="zh-CN" dirty="0"/>
              <a:t>Rx Fifo0 </a:t>
            </a:r>
            <a:r>
              <a:rPr lang="en-US" altLang="zh-CN" dirty="0" err="1"/>
              <a:t>Elmts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r>
              <a:rPr lang="en-US" altLang="zh-CN" dirty="0"/>
              <a:t>Rx FIFO0</a:t>
            </a:r>
            <a:r>
              <a:rPr lang="zh-SG" altLang="en-US" dirty="0"/>
              <a:t>接收元素</a:t>
            </a:r>
            <a:r>
              <a:rPr lang="zh-CN" altLang="en-US" dirty="0"/>
              <a:t>数量</a:t>
            </a:r>
            <a:endParaRPr lang="en-US" altLang="zh-CN" dirty="0"/>
          </a:p>
          <a:p>
            <a:pPr lvl="1"/>
            <a:r>
              <a:rPr lang="en-US" altLang="zh-CN" dirty="0"/>
              <a:t>Rx Fifo0 </a:t>
            </a:r>
            <a:r>
              <a:rPr lang="en-US" altLang="zh-CN" dirty="0" err="1"/>
              <a:t>Elmt</a:t>
            </a:r>
            <a:r>
              <a:rPr lang="en-US" altLang="zh-CN" dirty="0"/>
              <a:t> Size</a:t>
            </a:r>
            <a:r>
              <a:rPr lang="zh-CN" altLang="en-US" dirty="0"/>
              <a:t>：</a:t>
            </a:r>
            <a:r>
              <a:rPr lang="en-US" altLang="zh-CN" dirty="0"/>
              <a:t>Rx FIFO0</a:t>
            </a:r>
            <a:r>
              <a:rPr lang="zh-SG" altLang="en-US" dirty="0"/>
              <a:t>每个元素</a:t>
            </a:r>
            <a:r>
              <a:rPr lang="zh-CN" altLang="en-US" dirty="0"/>
              <a:t>最大长度</a:t>
            </a:r>
            <a:endParaRPr lang="en-US" altLang="zh-CN" dirty="0"/>
          </a:p>
          <a:p>
            <a:pPr lvl="1"/>
            <a:r>
              <a:rPr lang="en-US" altLang="zh-CN" dirty="0"/>
              <a:t>Tx Events </a:t>
            </a:r>
            <a:r>
              <a:rPr lang="en-US" altLang="zh-CN" dirty="0" err="1"/>
              <a:t>Nbr</a:t>
            </a:r>
            <a:r>
              <a:rPr lang="zh-CN" altLang="en-US" dirty="0"/>
              <a:t>：</a:t>
            </a:r>
            <a:r>
              <a:rPr lang="zh-SG" altLang="en-US" dirty="0"/>
              <a:t>发送事件</a:t>
            </a:r>
            <a:r>
              <a:rPr lang="en-US" altLang="zh-CN" dirty="0"/>
              <a:t>FIFO</a:t>
            </a:r>
            <a:r>
              <a:rPr lang="zh-SG" altLang="en-US" dirty="0"/>
              <a:t>深度</a:t>
            </a:r>
            <a:endParaRPr lang="en-US" altLang="zh-SG" dirty="0"/>
          </a:p>
          <a:p>
            <a:pPr lvl="2"/>
            <a:r>
              <a:rPr lang="zh-SG" altLang="en-US" dirty="0"/>
              <a:t>用于记录发送完成事件</a:t>
            </a:r>
            <a:endParaRPr lang="en-US" altLang="zh-SG" dirty="0"/>
          </a:p>
          <a:p>
            <a:pPr lvl="1"/>
            <a:r>
              <a:rPr lang="en-US" altLang="zh-CN" dirty="0"/>
              <a:t>Tx </a:t>
            </a:r>
            <a:r>
              <a:rPr lang="en-US" altLang="zh-CN" dirty="0" err="1"/>
              <a:t>Fifo</a:t>
            </a:r>
            <a:r>
              <a:rPr lang="en-US" altLang="zh-CN" dirty="0"/>
              <a:t> Queue </a:t>
            </a:r>
            <a:r>
              <a:rPr lang="en-US" altLang="zh-CN" dirty="0" err="1"/>
              <a:t>Elmts</a:t>
            </a:r>
            <a:r>
              <a:rPr lang="en-US" altLang="zh-CN" dirty="0"/>
              <a:t> </a:t>
            </a:r>
            <a:r>
              <a:rPr lang="en-US" altLang="zh-CN" dirty="0" err="1"/>
              <a:t>Nbr</a:t>
            </a:r>
            <a:r>
              <a:rPr lang="zh-CN" altLang="en-US" dirty="0"/>
              <a:t>：</a:t>
            </a:r>
            <a:r>
              <a:rPr lang="en-US" altLang="zh-CN" dirty="0"/>
              <a:t>Tx FIFO/Queue</a:t>
            </a:r>
            <a:r>
              <a:rPr lang="zh-SG" altLang="en-US" dirty="0"/>
              <a:t>元素</a:t>
            </a:r>
            <a:r>
              <a:rPr lang="zh-CN" altLang="en-US" dirty="0"/>
              <a:t>数</a:t>
            </a:r>
            <a:endParaRPr lang="en-US" altLang="zh-CN" dirty="0"/>
          </a:p>
          <a:p>
            <a:pPr lvl="1"/>
            <a:r>
              <a:rPr lang="en-US" altLang="zh-CN" dirty="0"/>
              <a:t>Tx </a:t>
            </a:r>
            <a:r>
              <a:rPr lang="en-US" altLang="zh-CN" dirty="0" err="1"/>
              <a:t>Fifo</a:t>
            </a:r>
            <a:r>
              <a:rPr lang="en-US" altLang="zh-CN" dirty="0"/>
              <a:t> Queue Mode</a:t>
            </a:r>
            <a:r>
              <a:rPr lang="zh-CN" altLang="en-US" dirty="0"/>
              <a:t>：</a:t>
            </a:r>
            <a:r>
              <a:rPr lang="zh-SG" altLang="en-US" dirty="0"/>
              <a:t>发送</a:t>
            </a:r>
            <a:r>
              <a:rPr lang="zh-CN" altLang="en-US" dirty="0"/>
              <a:t>模式</a:t>
            </a:r>
            <a:endParaRPr lang="en-US" altLang="zh-CN" dirty="0"/>
          </a:p>
          <a:p>
            <a:pPr lvl="2"/>
            <a:r>
              <a:rPr lang="zh-SG" altLang="en-US" dirty="0"/>
              <a:t>按</a:t>
            </a:r>
            <a:r>
              <a:rPr lang="zh-CN" altLang="en-US" dirty="0"/>
              <a:t>先进先出还是优先级队列</a:t>
            </a:r>
            <a:r>
              <a:rPr lang="zh-SG" altLang="en-US" dirty="0"/>
              <a:t>处理</a:t>
            </a:r>
            <a:endParaRPr lang="en-US" altLang="zh-SG" dirty="0"/>
          </a:p>
          <a:p>
            <a:pPr lvl="1"/>
            <a:r>
              <a:rPr lang="en-US" altLang="zh-CN" dirty="0"/>
              <a:t>Tx </a:t>
            </a:r>
            <a:r>
              <a:rPr lang="en-US" altLang="zh-CN" dirty="0" err="1"/>
              <a:t>Elmt</a:t>
            </a:r>
            <a:r>
              <a:rPr lang="en-US" altLang="zh-CN" dirty="0"/>
              <a:t> Size</a:t>
            </a:r>
            <a:r>
              <a:rPr lang="zh-CN" altLang="en-US" dirty="0"/>
              <a:t>：发送元素最大长度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注意：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CubeMX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不会检查</a:t>
            </a:r>
            <a:r>
              <a:rPr lang="zh-CN" altLang="en-US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是否超容量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E6B87C8-8021-C431-EA16-478A98BE9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729" y="3429001"/>
            <a:ext cx="5022271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84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F22C5-984B-CAFD-EAE0-59473AF5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基本参数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EA267A-27A8-6F0B-4C63-965FA5C7A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SG" dirty="0"/>
              <a:t>Nominal Bit Timing</a:t>
            </a:r>
            <a:r>
              <a:rPr lang="zh-CN" altLang="en-US" dirty="0"/>
              <a:t>：仲裁位时序</a:t>
            </a:r>
            <a:endParaRPr lang="en-US" altLang="zh-CN" dirty="0"/>
          </a:p>
          <a:p>
            <a:pPr lvl="1"/>
            <a:r>
              <a:rPr lang="zh-CN" altLang="en-US" dirty="0"/>
              <a:t>经典</a:t>
            </a:r>
            <a:r>
              <a:rPr lang="en-US" altLang="zh-CN" dirty="0"/>
              <a:t>CAN</a:t>
            </a:r>
            <a:r>
              <a:rPr lang="zh-CN" altLang="en-US" dirty="0"/>
              <a:t>或非可变波特率的</a:t>
            </a:r>
            <a:r>
              <a:rPr lang="en-US" altLang="zh-CN" dirty="0"/>
              <a:t>FDCAN</a:t>
            </a:r>
            <a:r>
              <a:rPr lang="zh-CN" altLang="en-US" dirty="0"/>
              <a:t>只使用该配置</a:t>
            </a:r>
            <a:endParaRPr lang="en-GB" altLang="zh-SG" dirty="0"/>
          </a:p>
          <a:p>
            <a:r>
              <a:rPr lang="en-GB" altLang="zh-SG" dirty="0"/>
              <a:t>Data Bit Timing</a:t>
            </a:r>
            <a:r>
              <a:rPr lang="zh-CN" altLang="en-US" dirty="0"/>
              <a:t>：数据位时序</a:t>
            </a:r>
            <a:endParaRPr lang="en-US" altLang="zh-CN" dirty="0"/>
          </a:p>
          <a:p>
            <a:pPr lvl="1"/>
            <a:r>
              <a:rPr lang="zh-CN" altLang="en-US" dirty="0"/>
              <a:t>带</a:t>
            </a:r>
            <a:r>
              <a:rPr lang="en-US" altLang="zh-CN" dirty="0"/>
              <a:t>BRS</a:t>
            </a:r>
            <a:r>
              <a:rPr lang="zh-CN" altLang="en-US" dirty="0"/>
              <a:t>（</a:t>
            </a:r>
            <a:r>
              <a:rPr lang="en-US" altLang="zh-CN" dirty="0" err="1"/>
              <a:t>BitRate</a:t>
            </a:r>
            <a:r>
              <a:rPr lang="en-US" altLang="zh-CN" dirty="0"/>
              <a:t> Switching</a:t>
            </a:r>
            <a:r>
              <a:rPr lang="zh-CN" altLang="en-US" dirty="0"/>
              <a:t>，比特率切换）的</a:t>
            </a:r>
            <a:r>
              <a:rPr lang="en-US" altLang="zh-CN" dirty="0"/>
              <a:t>FDCAN</a:t>
            </a:r>
            <a:r>
              <a:rPr lang="zh-CN" altLang="en-US" dirty="0"/>
              <a:t>在数据域使用该配置</a:t>
            </a:r>
            <a:endParaRPr lang="zh-SG" altLang="en-US" dirty="0"/>
          </a:p>
          <a:p>
            <a:r>
              <a:rPr lang="en-US" altLang="zh-CN" dirty="0"/>
              <a:t>Clock Calibration Unit</a:t>
            </a:r>
            <a:r>
              <a:rPr lang="zh-CN" altLang="en-US" dirty="0"/>
              <a:t>：时钟校准单元</a:t>
            </a:r>
            <a:endParaRPr lang="en-US" altLang="zh-CN" dirty="0"/>
          </a:p>
          <a:p>
            <a:pPr lvl="1"/>
            <a:r>
              <a:rPr lang="zh-CN" altLang="en-US" dirty="0"/>
              <a:t>板子有晶振，波特率也高，无需在意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939618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26D2B-37EA-836D-2FB6-82584496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标准帧与拓展帧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283093-7D6C-272F-62B4-8980E675B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根据手册正确选择即</a:t>
            </a:r>
            <a:r>
              <a:rPr lang="zh-CN" altLang="en-US" dirty="0"/>
              <a:t>可</a:t>
            </a:r>
            <a:endParaRPr lang="en-US" altLang="zh-CN" dirty="0"/>
          </a:p>
          <a:p>
            <a:r>
              <a:rPr lang="zh-CN" altLang="en-US" dirty="0"/>
              <a:t>注意：不属于</a:t>
            </a:r>
            <a:r>
              <a:rPr lang="en-US" altLang="zh-CN" dirty="0" err="1"/>
              <a:t>CubeMX</a:t>
            </a:r>
            <a:r>
              <a:rPr lang="zh-CN" altLang="en-US" dirty="0"/>
              <a:t>设置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806061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0E91C-9D92-26F3-8AEB-659DCCD1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物理层要求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9B46B-2B1F-75D5-FA2B-181B1CD8E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终端电阻：头一个尾一个，各</a:t>
            </a:r>
            <a:r>
              <a:rPr lang="en-US" altLang="zh-CN" dirty="0"/>
              <a:t>120R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D1DD55-C08F-4181-E11D-33311D1A7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571750"/>
            <a:ext cx="10287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848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DD677-DFFD-8315-E7EF-81F2839A0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物理层要求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3CD8F-62DB-FB4D-EFAF-B6B97CD6C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根据比特率限制长度</a:t>
            </a:r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548235-5FC1-6C39-D3CE-C98E03E8D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572148"/>
            <a:ext cx="10287000" cy="17145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4854B6-4EF4-8E53-42F5-36923D1BC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62500"/>
            <a:ext cx="102870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6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5BF38-5AD9-EAAE-2D1D-D8A8180D6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物理层要求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02DBDB-4D7A-3086-7D91-2534B7B3C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减小残桩长度</a:t>
            </a:r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62D224-85B9-00B7-C2AB-B525C659B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366963"/>
            <a:ext cx="10287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098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E9E4A-1FBA-77B5-FA0F-FB390252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总线负载的计算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00339-EC94-0ED0-230E-8BFBA9978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总线带宽需满足全部设备的要求</a:t>
            </a:r>
            <a:endParaRPr lang="en-US" altLang="zh-CN" dirty="0"/>
          </a:p>
          <a:p>
            <a:r>
              <a:rPr lang="zh-CN" altLang="en-US" dirty="0"/>
              <a:t>思考：总线上平均每毫秒负载多大？（按位计算）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总线上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6020</a:t>
            </a:r>
            <a:r>
              <a:rPr lang="zh-CN" altLang="en-US" dirty="0"/>
              <a:t>电机，以</a:t>
            </a:r>
            <a:r>
              <a:rPr lang="en-US" altLang="zh-CN" dirty="0"/>
              <a:t>1kHz</a:t>
            </a:r>
            <a:r>
              <a:rPr lang="zh-CN" altLang="en-US" dirty="0"/>
              <a:t>频率主动上报；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主控板以</a:t>
            </a:r>
            <a:r>
              <a:rPr lang="en-US" altLang="zh-CN" dirty="0"/>
              <a:t>500Hz</a:t>
            </a:r>
            <a:r>
              <a:rPr lang="zh-CN" altLang="en-US" dirty="0"/>
              <a:t>频率发送一拖四控制帧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4.5*64</a:t>
            </a:r>
            <a:r>
              <a:rPr lang="zh-CN" altLang="en-US" dirty="0"/>
              <a:t>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77672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F9F92-F0DC-A537-7A50-A94B9CB2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</a:t>
            </a:r>
            <a:r>
              <a:rPr lang="zh-CN" altLang="en-US" dirty="0"/>
              <a:t>与仲裁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8DCA7-9580-4E0B-D29F-4FC582D0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共享总线势必需要仲裁</a:t>
            </a:r>
            <a:endParaRPr lang="en-US" altLang="zh-CN" dirty="0"/>
          </a:p>
          <a:p>
            <a:r>
              <a:rPr lang="zh-CN" altLang="en-US" dirty="0"/>
              <a:t>根据数据包</a:t>
            </a:r>
            <a:r>
              <a:rPr lang="en-US" altLang="zh-CN" dirty="0"/>
              <a:t>ID</a:t>
            </a:r>
            <a:r>
              <a:rPr lang="zh-CN" altLang="en-US" dirty="0"/>
              <a:t>仲裁，小</a:t>
            </a:r>
            <a:r>
              <a:rPr lang="en-US" altLang="zh-CN" dirty="0"/>
              <a:t>ID</a:t>
            </a:r>
            <a:r>
              <a:rPr lang="zh-CN" altLang="en-US" dirty="0"/>
              <a:t>优先</a:t>
            </a:r>
            <a:endParaRPr lang="en-US" altLang="zh-CN" dirty="0"/>
          </a:p>
          <a:p>
            <a:r>
              <a:rPr lang="zh-CN" altLang="en-US" dirty="0"/>
              <a:t>思考：右图所述现象的原因？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（主控发送的命令带</a:t>
            </a:r>
            <a:r>
              <a:rPr lang="en-US" altLang="zh-CN" dirty="0"/>
              <a:t>CAN ID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电机反馈帧带</a:t>
            </a:r>
            <a:r>
              <a:rPr lang="en-US" altLang="zh-CN" dirty="0"/>
              <a:t>Master ID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合理设置</a:t>
            </a:r>
            <a:r>
              <a:rPr lang="zh-CN" altLang="en-US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提高实时性与稳定性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D5D0B0-3FB3-3E62-4772-21286CC3A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600" y="2466363"/>
            <a:ext cx="5969400" cy="307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74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5472D-184F-FE1F-08EF-D4F31AB0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/>
              <a:t>TDC</a:t>
            </a:r>
            <a:r>
              <a:rPr lang="zh-CN" altLang="en-US" dirty="0"/>
              <a:t>：传输延迟补偿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E948F-2BCC-28DE-6328-0A4DE6AEF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r>
              <a:rPr lang="en-US" altLang="zh-CN" dirty="0"/>
              <a:t>FDCAN</a:t>
            </a:r>
            <a:r>
              <a:rPr lang="zh-CN" altLang="en-US" dirty="0"/>
              <a:t>的波特率更高，更容易产生位错误</a:t>
            </a:r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CA0B85-56AA-81F7-CD7B-59AF31131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470" y="1741156"/>
            <a:ext cx="8649060" cy="511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918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D354C-B611-2EEE-9056-F8FEF30A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TDC</a:t>
            </a:r>
            <a:r>
              <a:rPr lang="zh-CN" altLang="en-US" dirty="0"/>
              <a:t>：传输延时补偿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126FC8-CFBB-D4C1-767F-C3710A6A9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添加第二采样点（</a:t>
            </a:r>
            <a:r>
              <a:rPr lang="en-US" altLang="zh-CN" dirty="0"/>
              <a:t>SSP</a:t>
            </a:r>
            <a:r>
              <a:rPr lang="zh-CN" altLang="en-US" dirty="0"/>
              <a:t>），避免延迟带来的错误</a:t>
            </a:r>
            <a:endParaRPr lang="zh-SG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6D7068-EFC5-9907-7264-1329E2022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480733"/>
            <a:ext cx="6096000" cy="17102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2B71497-CA8B-ADB2-121D-2C6013EB6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4191000"/>
            <a:ext cx="6096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75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90D1A-D024-AEE5-BBA4-3B6D7324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TDC</a:t>
            </a:r>
            <a:r>
              <a:rPr lang="zh-CN" altLang="en-US" dirty="0"/>
              <a:t>：传输延时补偿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F71F8A-D48A-0857-8DA7-3A54A7560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TDC</a:t>
            </a:r>
            <a:endParaRPr lang="en-GB" altLang="zh-SG" dirty="0"/>
          </a:p>
          <a:p>
            <a:pPr marL="0" indent="0">
              <a:buNone/>
            </a:pPr>
            <a:r>
              <a:rPr lang="en-GB" altLang="zh-SG" dirty="0" err="1"/>
              <a:t>HAL_StatusTypeDef</a:t>
            </a:r>
            <a:r>
              <a:rPr lang="en-GB" altLang="zh-SG" dirty="0"/>
              <a:t> </a:t>
            </a:r>
            <a:r>
              <a:rPr lang="en-GB" altLang="zh-SG" dirty="0" err="1"/>
              <a:t>HAL_FDCAN_ConfigTxDelayCompensation</a:t>
            </a:r>
            <a:r>
              <a:rPr lang="en-GB" altLang="zh-SG" dirty="0"/>
              <a:t> (</a:t>
            </a:r>
            <a:r>
              <a:rPr lang="en-GB" altLang="zh-SG" dirty="0" err="1"/>
              <a:t>FDCAN_HandleTypeDef</a:t>
            </a:r>
            <a:r>
              <a:rPr lang="en-GB" altLang="zh-SG" dirty="0"/>
              <a:t> *</a:t>
            </a:r>
            <a:r>
              <a:rPr lang="en-GB" altLang="zh-SG" dirty="0" err="1"/>
              <a:t>hfdcan</a:t>
            </a:r>
            <a:r>
              <a:rPr lang="en-GB" altLang="zh-SG" dirty="0"/>
              <a:t>, uint32_t </a:t>
            </a:r>
            <a:r>
              <a:rPr lang="en-GB" altLang="zh-SG" dirty="0" err="1"/>
              <a:t>TdcOffset</a:t>
            </a:r>
            <a:r>
              <a:rPr lang="en-GB" altLang="zh-SG" dirty="0"/>
              <a:t>, uint32_t </a:t>
            </a:r>
            <a:r>
              <a:rPr lang="en-GB" altLang="zh-SG" dirty="0" err="1"/>
              <a:t>TdcFilter</a:t>
            </a:r>
            <a:r>
              <a:rPr lang="en-GB" altLang="zh-SG" dirty="0"/>
              <a:t>)</a:t>
            </a:r>
          </a:p>
          <a:p>
            <a:r>
              <a:rPr lang="zh-CN" altLang="en-US" dirty="0"/>
              <a:t>开启</a:t>
            </a:r>
            <a:r>
              <a:rPr lang="en-US" altLang="zh-CN" dirty="0"/>
              <a:t>TDC</a:t>
            </a:r>
            <a:endParaRPr lang="en-GB" altLang="zh-SG" dirty="0"/>
          </a:p>
          <a:p>
            <a:pPr marL="0" indent="0">
              <a:buNone/>
            </a:pPr>
            <a:r>
              <a:rPr lang="en-GB" altLang="zh-SG" dirty="0" err="1"/>
              <a:t>HAL_StatusTypeDef</a:t>
            </a:r>
            <a:r>
              <a:rPr lang="en-GB" altLang="zh-SG" dirty="0"/>
              <a:t> </a:t>
            </a:r>
            <a:r>
              <a:rPr lang="en-GB" altLang="zh-SG" dirty="0" err="1"/>
              <a:t>HAL_FDCAN_EnableTxDelayCompensation</a:t>
            </a:r>
            <a:r>
              <a:rPr lang="en-GB" altLang="zh-SG" dirty="0"/>
              <a:t> (</a:t>
            </a:r>
            <a:r>
              <a:rPr lang="en-GB" altLang="zh-SG" dirty="0" err="1"/>
              <a:t>FDCAN_HandleTypeDef</a:t>
            </a:r>
            <a:r>
              <a:rPr lang="en-GB" altLang="zh-SG" dirty="0"/>
              <a:t> *</a:t>
            </a:r>
            <a:r>
              <a:rPr lang="en-GB" altLang="zh-SG" dirty="0" err="1"/>
              <a:t>hfdcan</a:t>
            </a:r>
            <a:r>
              <a:rPr lang="en-GB" altLang="zh-SG" dirty="0"/>
              <a:t>)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8508606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D3551-A2ED-3AAE-1557-3A8B6E9CC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参考学习资源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A3FB9A-56CA-B15E-F2DA-4585DD7F4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SG" altLang="en-US" dirty="0"/>
              <a:t>小白也能看懂的</a:t>
            </a:r>
            <a:r>
              <a:rPr lang="en-US" altLang="zh-CN" dirty="0"/>
              <a:t>CAN</a:t>
            </a:r>
            <a:r>
              <a:rPr lang="zh-SG" altLang="en-US" dirty="0"/>
              <a:t>通信</a:t>
            </a:r>
            <a:r>
              <a:rPr lang="en-US" altLang="zh-SG" dirty="0"/>
              <a:t>+</a:t>
            </a:r>
            <a:r>
              <a:rPr lang="en-US" altLang="zh-CN" dirty="0"/>
              <a:t>STM32CubeMX</a:t>
            </a:r>
            <a:r>
              <a:rPr lang="zh-SG" altLang="en-US" dirty="0"/>
              <a:t>编程</a:t>
            </a:r>
            <a:r>
              <a:rPr lang="en-US" altLang="zh-CN" dirty="0"/>
              <a:t>】</a:t>
            </a:r>
          </a:p>
          <a:p>
            <a:pPr lvl="1"/>
            <a:r>
              <a:rPr lang="zh-CN" altLang="en-US" dirty="0"/>
              <a:t>看不懂也没关系，了解波特率、采样点、</a:t>
            </a:r>
            <a:r>
              <a:rPr lang="en-US" altLang="zh-CN" dirty="0"/>
              <a:t>ID</a:t>
            </a:r>
            <a:r>
              <a:rPr lang="zh-CN" altLang="en-US" dirty="0"/>
              <a:t>和仲裁即可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https://www.bilibili.com/video/BV1HY411D7Ar</a:t>
            </a:r>
          </a:p>
          <a:p>
            <a:r>
              <a:rPr lang="en-US" altLang="zh-CN" dirty="0"/>
              <a:t>【</a:t>
            </a:r>
            <a:r>
              <a:rPr lang="zh-SG" altLang="en-US" dirty="0"/>
              <a:t>实战</a:t>
            </a:r>
            <a:r>
              <a:rPr lang="en-US" altLang="zh-CN" dirty="0"/>
              <a:t>CAN FD -</a:t>
            </a:r>
            <a:r>
              <a:rPr lang="zh-SG" altLang="en-US" dirty="0"/>
              <a:t>基于</a:t>
            </a:r>
            <a:r>
              <a:rPr lang="en-US" altLang="zh-CN" dirty="0"/>
              <a:t>STM32H7】</a:t>
            </a:r>
          </a:p>
          <a:p>
            <a:pPr marL="0" indent="0">
              <a:buNone/>
            </a:pPr>
            <a:r>
              <a:rPr lang="en-US" altLang="zh-CN" dirty="0"/>
              <a:t>https://shequ.stmicroelectronics.cn/thread-635014-1-1.html</a:t>
            </a:r>
          </a:p>
          <a:p>
            <a:r>
              <a:rPr lang="en-US" altLang="zh-CN" dirty="0"/>
              <a:t>【CAN</a:t>
            </a:r>
            <a:r>
              <a:rPr lang="zh-CN" altLang="en-US" dirty="0"/>
              <a:t>总线负载计算器</a:t>
            </a:r>
            <a:r>
              <a:rPr lang="en-US" altLang="zh-CN" dirty="0"/>
              <a:t>】</a:t>
            </a:r>
            <a:endParaRPr lang="en-US" altLang="zh-SG" dirty="0"/>
          </a:p>
          <a:p>
            <a:pPr marL="0" indent="0">
              <a:buNone/>
            </a:pPr>
            <a:r>
              <a:rPr lang="en-GB" altLang="zh-SG" dirty="0"/>
              <a:t>https://github.com/lc6464/CANbus-Load-Calculator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5330313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BD4AC-FA41-F019-607A-6C8A5D753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2-4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C92DE0-114C-3605-6927-88542852F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532437"/>
          </a:xfrm>
        </p:spPr>
        <p:txBody>
          <a:bodyPr>
            <a:normAutofit/>
          </a:bodyPr>
          <a:lstStyle/>
          <a:p>
            <a:r>
              <a:rPr lang="zh-CN" altLang="en-US" dirty="0"/>
              <a:t>连接大疆电机，上电后读取电机主动上报帧，解析电机数据并记录总接收帧数</a:t>
            </a:r>
            <a:endParaRPr lang="en-US" altLang="zh-CN" dirty="0"/>
          </a:p>
          <a:p>
            <a:r>
              <a:rPr lang="en-US" altLang="zh-CN" dirty="0"/>
              <a:t>C620+3508</a:t>
            </a:r>
            <a:r>
              <a:rPr lang="zh-CN" altLang="en-US" dirty="0"/>
              <a:t>手册：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https://www.robomaster.com/zh-CN/products/components/general/M3508</a:t>
            </a:r>
          </a:p>
          <a:p>
            <a:r>
              <a:rPr lang="en-US" altLang="zh-CN" dirty="0"/>
              <a:t>C610+2006</a:t>
            </a:r>
            <a:r>
              <a:rPr lang="zh-CN" altLang="en-US" dirty="0"/>
              <a:t>手册：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https://www.robomaster.com/zh-CN/products/components/general/M2006</a:t>
            </a:r>
          </a:p>
          <a:p>
            <a:r>
              <a:rPr lang="en-US" altLang="zh-SG" dirty="0"/>
              <a:t>6020</a:t>
            </a:r>
            <a:r>
              <a:rPr lang="zh-CN" altLang="en-US" dirty="0"/>
              <a:t>手册：</a:t>
            </a:r>
            <a:endParaRPr lang="en-US" altLang="zh-CN" dirty="0"/>
          </a:p>
          <a:p>
            <a:pPr marL="0" indent="0">
              <a:buNone/>
            </a:pPr>
            <a:r>
              <a:rPr lang="en-GB" altLang="zh-SG" dirty="0"/>
              <a:t>https://www.robomaster.com/zh-CN/products/components/general/gm6020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4281417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90DB3-F24F-D0CD-19ED-032CBBA1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Debug</a:t>
            </a:r>
            <a:r>
              <a:rPr lang="zh-CN" altLang="en-US" dirty="0"/>
              <a:t>思路参考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53081-838E-3342-E608-8DF9A9D5D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H/L</a:t>
            </a:r>
            <a:r>
              <a:rPr lang="zh-CN" altLang="en-US" dirty="0"/>
              <a:t>是否连接正确？</a:t>
            </a:r>
            <a:endParaRPr lang="en-US" altLang="zh-CN" dirty="0"/>
          </a:p>
          <a:p>
            <a:r>
              <a:rPr lang="zh-CN" altLang="en-US" dirty="0"/>
              <a:t>终端电阻是否按要求连接？</a:t>
            </a:r>
            <a:endParaRPr lang="en-US" altLang="zh-CN" dirty="0"/>
          </a:p>
          <a:p>
            <a:r>
              <a:rPr lang="zh-CN" altLang="en-US" dirty="0"/>
              <a:t>帧格式、</a:t>
            </a:r>
            <a:r>
              <a:rPr lang="en-US" altLang="zh-CN" dirty="0"/>
              <a:t>ID</a:t>
            </a:r>
            <a:r>
              <a:rPr lang="zh-CN" altLang="en-US" dirty="0"/>
              <a:t>是否配置正确？</a:t>
            </a:r>
            <a:endParaRPr lang="en-US" altLang="zh-CN" dirty="0"/>
          </a:p>
          <a:p>
            <a:r>
              <a:rPr lang="zh-CN" altLang="en-US" dirty="0"/>
              <a:t>过滤器是否开启？</a:t>
            </a:r>
            <a:endParaRPr lang="en-US" altLang="zh-CN" dirty="0"/>
          </a:p>
          <a:p>
            <a:r>
              <a:rPr lang="en-US" altLang="zh-CN" dirty="0"/>
              <a:t>FDCAN</a:t>
            </a:r>
            <a:r>
              <a:rPr lang="zh-CN" altLang="en-US" dirty="0"/>
              <a:t>的</a:t>
            </a:r>
            <a:r>
              <a:rPr lang="en-US" altLang="zh-CN" dirty="0"/>
              <a:t>Message RAM</a:t>
            </a:r>
            <a:r>
              <a:rPr lang="zh-CN" altLang="en-US" dirty="0"/>
              <a:t>是否配置正确？</a:t>
            </a:r>
            <a:endParaRPr lang="en-US" altLang="zh-CN" dirty="0"/>
          </a:p>
          <a:p>
            <a:r>
              <a:rPr lang="zh-CN" altLang="en-US" dirty="0"/>
              <a:t>高比特率下有无</a:t>
            </a:r>
            <a:r>
              <a:rPr lang="en-US" altLang="zh-CN" dirty="0"/>
              <a:t>TDC</a:t>
            </a:r>
            <a:r>
              <a:rPr lang="zh-CN" altLang="en-US" dirty="0"/>
              <a:t>？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7304602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6A358-A691-325B-9F77-EDFA3030D7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SG" dirty="0"/>
              <a:t>2.6 </a:t>
            </a:r>
            <a:r>
              <a:rPr lang="en-US" altLang="zh-CN" dirty="0"/>
              <a:t>H7</a:t>
            </a:r>
            <a:r>
              <a:rPr lang="zh-CN" altLang="en-US" dirty="0"/>
              <a:t>内存与</a:t>
            </a:r>
            <a:r>
              <a:rPr lang="en-US" altLang="zh-CN" dirty="0"/>
              <a:t>Cache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407071-A286-A85A-D781-8E1EB4B605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要求：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区分不同区域的速度与总线可达性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配置</a:t>
            </a:r>
            <a:r>
              <a:rPr lang="en-US" altLang="zh-CN" dirty="0"/>
              <a:t>MPU</a:t>
            </a:r>
            <a:r>
              <a:rPr lang="zh-CN" altLang="en-US" dirty="0"/>
              <a:t>和</a:t>
            </a:r>
            <a:r>
              <a:rPr lang="en-US" altLang="zh-CN" dirty="0"/>
              <a:t>Cache</a:t>
            </a:r>
            <a:r>
              <a:rPr lang="zh-CN" altLang="en-US" dirty="0"/>
              <a:t>，解决数据一致性问题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17474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2887</Words>
  <PresentationFormat>宽屏</PresentationFormat>
  <Paragraphs>274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3" baseType="lpstr">
      <vt:lpstr>等线</vt:lpstr>
      <vt:lpstr>等线 Light</vt:lpstr>
      <vt:lpstr>Arial</vt:lpstr>
      <vt:lpstr>Office 主题​​</vt:lpstr>
      <vt:lpstr>2.0 工具链配置</vt:lpstr>
      <vt:lpstr>嵌入式工具链简介</vt:lpstr>
      <vt:lpstr>从代码到机器执行</vt:lpstr>
      <vt:lpstr>代码生成工具 CubeMX</vt:lpstr>
      <vt:lpstr>编辑器与集成开发环境</vt:lpstr>
      <vt:lpstr>编译器</vt:lpstr>
      <vt:lpstr>调试器与下载工具</vt:lpstr>
      <vt:lpstr>工具链组合1：CubeMX+AC6+Keil</vt:lpstr>
      <vt:lpstr>工具链组合2：CubeMX+Clion+CubeCLT+OpenOCD</vt:lpstr>
      <vt:lpstr>开发板资料</vt:lpstr>
      <vt:lpstr>2.1 程序执行流程</vt:lpstr>
      <vt:lpstr>2.2 GPIO输入输出</vt:lpstr>
      <vt:lpstr>GPIO：General Purpose Input/Output</vt:lpstr>
      <vt:lpstr>参考培训视频</vt:lpstr>
      <vt:lpstr>作业2-1（与2-2二选一）</vt:lpstr>
      <vt:lpstr>Debug思路参考</vt:lpstr>
      <vt:lpstr>2.3 定时器</vt:lpstr>
      <vt:lpstr>Timers</vt:lpstr>
      <vt:lpstr>PWM</vt:lpstr>
      <vt:lpstr>参考培训视频</vt:lpstr>
      <vt:lpstr>作业2-2（与2-1二选一）</vt:lpstr>
      <vt:lpstr>Debug思路参考</vt:lpstr>
      <vt:lpstr>2.4 UART</vt:lpstr>
      <vt:lpstr>波特率</vt:lpstr>
      <vt:lpstr>数据位、校验位、停止位</vt:lpstr>
      <vt:lpstr>高级参数</vt:lpstr>
      <vt:lpstr>高级功能</vt:lpstr>
      <vt:lpstr>DMA接收缓冲区设计</vt:lpstr>
      <vt:lpstr>关闭DMA半满中断</vt:lpstr>
      <vt:lpstr>处理ORE（Overrun Error溢出错误）</vt:lpstr>
      <vt:lpstr>参考培训视频</vt:lpstr>
      <vt:lpstr>作业2-3</vt:lpstr>
      <vt:lpstr>2.5 CAN</vt:lpstr>
      <vt:lpstr>基本参数</vt:lpstr>
      <vt:lpstr>基本参数</vt:lpstr>
      <vt:lpstr>基本参数</vt:lpstr>
      <vt:lpstr>标准帧与拓展帧</vt:lpstr>
      <vt:lpstr>物理层要求</vt:lpstr>
      <vt:lpstr>物理层要求</vt:lpstr>
      <vt:lpstr>物理层要求</vt:lpstr>
      <vt:lpstr>总线负载的计算</vt:lpstr>
      <vt:lpstr>ID与仲裁</vt:lpstr>
      <vt:lpstr>TDC：传输延迟补偿</vt:lpstr>
      <vt:lpstr>TDC：传输延时补偿</vt:lpstr>
      <vt:lpstr>TDC：传输延时补偿</vt:lpstr>
      <vt:lpstr>参考学习资源</vt:lpstr>
      <vt:lpstr>作业2-4</vt:lpstr>
      <vt:lpstr>Debug思路参考</vt:lpstr>
      <vt:lpstr>2.6 H7内存与Cache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2026-07-05T07:41:02Z</dcterms:created>
  <dcterms:modified xsi:type="dcterms:W3CDTF">2026-07-09T07:06:54Z</dcterms:modified>
</cp:coreProperties>
</file>