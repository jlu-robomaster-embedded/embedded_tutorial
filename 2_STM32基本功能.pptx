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5" r:id="rId2"/>
    <p:sldId id="257" r:id="rId3"/>
    <p:sldId id="258" r:id="rId4"/>
    <p:sldId id="259" r:id="rId5"/>
    <p:sldId id="260" r:id="rId6"/>
    <p:sldId id="262" r:id="rId7"/>
    <p:sldId id="261" r:id="rId8"/>
    <p:sldId id="263" r:id="rId9"/>
    <p:sldId id="264" r:id="rId10"/>
    <p:sldId id="273" r:id="rId11"/>
    <p:sldId id="278" r:id="rId12"/>
    <p:sldId id="266" r:id="rId13"/>
    <p:sldId id="270" r:id="rId14"/>
    <p:sldId id="268" r:id="rId15"/>
    <p:sldId id="271" r:id="rId16"/>
    <p:sldId id="276" r:id="rId17"/>
    <p:sldId id="267" r:id="rId18"/>
    <p:sldId id="274" r:id="rId19"/>
    <p:sldId id="275" r:id="rId20"/>
    <p:sldId id="269" r:id="rId21"/>
    <p:sldId id="272" r:id="rId22"/>
    <p:sldId id="277" r:id="rId2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0" d="100"/>
          <a:sy n="90" d="100"/>
        </p:scale>
        <p:origin x="147" y="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1925163-61B9-DB91-59D6-342AD8975F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86AEBC75-EAEA-4A80-0312-9252E58C9E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45F1810-F163-DFAD-B703-D8E577000F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4C0B81-5930-4B25-A903-A40C83326BB2}" type="datetimeFigureOut">
              <a:rPr lang="zh-CN" altLang="en-US" smtClean="0"/>
              <a:t>2026/7/7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C6D4C06-55A4-7163-B710-08357A0EAE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CB167B5-D87B-2949-A1F4-93DA6A7465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F54A74-6E32-4935-A06D-5C22E2A1D2B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301662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54C9C5-DCE9-1D8D-1E71-ADC933685F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939FE03-C7DB-9FBE-388E-1F51089B21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E8942A0-A4A5-C28B-41B5-5899B21956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4C0B81-5930-4B25-A903-A40C83326BB2}" type="datetimeFigureOut">
              <a:rPr lang="zh-CN" altLang="en-US" smtClean="0"/>
              <a:t>2026/7/7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C278CC5-575A-79F3-9463-976328EFC8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64A942C-7171-D1B3-CA93-C474C3BEC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F54A74-6E32-4935-A06D-5C22E2A1D2B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523422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7BE9FF1-D5B5-7BE7-6B96-BF11B5884D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199ACB7-6E74-CFCC-EB43-E929F99935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7C36026-C1CA-356B-F12B-3FA43BEB78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4C0B81-5930-4B25-A903-A40C83326BB2}" type="datetimeFigureOut">
              <a:rPr lang="zh-CN" altLang="en-US" smtClean="0"/>
              <a:t>2026/7/7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92ADEE3-2E57-49D0-99F4-369818DE34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DC0CCC1-208E-5CCE-9881-130D997241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F54A74-6E32-4935-A06D-5C22E2A1D2B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850221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224C58B-7B8C-31CB-AA67-A80434ABE8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54BC4EB-847D-59DF-645D-D1FE14FAA1A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0C95E5F7-0B80-138A-D388-F1EB512027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7E0D5B5-4953-5A6B-3528-7B5A56828F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4C0B81-5930-4B25-A903-A40C83326BB2}" type="datetimeFigureOut">
              <a:rPr lang="zh-CN" altLang="en-US" smtClean="0"/>
              <a:t>2026/7/7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E7E617C8-3F68-1104-F2AE-4DDE1F133C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49D6484-1B22-5068-A163-48B6AEC348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F54A74-6E32-4935-A06D-5C22E2A1D2B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839342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9D4A7D3-B288-406E-1015-BB760FB81F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D613F90-C048-C3E5-F9B5-26CCBC052D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4BF22A1B-135E-4B8C-2DE7-460EC402A8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2C429483-40D2-B02A-5ED3-5F1EE34BC61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FA75A5C8-E404-54DC-9B59-940A6A256A3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B576DCE4-CCC0-50A5-E49B-D0AF85847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4C0B81-5930-4B25-A903-A40C83326BB2}" type="datetimeFigureOut">
              <a:rPr lang="zh-CN" altLang="en-US" smtClean="0"/>
              <a:t>2026/7/7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AB77708F-6BF7-543A-8307-376F24E98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130EAD1C-7233-49F3-8663-1F522BF063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F54A74-6E32-4935-A06D-5C22E2A1D2B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971113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EE13EEA-450E-38F3-0161-AE1F3A66CF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BD08B3B0-1EEB-312B-762E-CD1BC767B5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4C0B81-5930-4B25-A903-A40C83326BB2}" type="datetimeFigureOut">
              <a:rPr lang="zh-CN" altLang="en-US" smtClean="0"/>
              <a:t>2026/7/7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1005A759-D679-00E6-DE03-92A301D28D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39572FE9-3D93-9A67-CB97-26CF3F0BEB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F54A74-6E32-4935-A06D-5C22E2A1D2B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378011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BD6382F7-7DAD-A3FC-F129-BBA6E4665E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4C0B81-5930-4B25-A903-A40C83326BB2}" type="datetimeFigureOut">
              <a:rPr lang="zh-CN" altLang="en-US" smtClean="0"/>
              <a:t>2026/7/7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3D3E5E47-5767-EEB9-9D69-786A80FB28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B641492-4D05-94FE-58BF-1A12C1D8A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F54A74-6E32-4935-A06D-5C22E2A1D2B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407106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8D2012C-59A5-370A-AD67-D061689820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E487906-82BD-AB08-3A2D-B57582551E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9F4C86D3-B5C7-0701-1492-41F5B8D63E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152B2EE6-9BDB-CD3C-DD5A-7BF1A65677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4C0B81-5930-4B25-A903-A40C83326BB2}" type="datetimeFigureOut">
              <a:rPr lang="zh-CN" altLang="en-US" smtClean="0"/>
              <a:t>2026/7/7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936D6F6F-3C06-440D-9A76-8D2355AC87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E49B0A3-A1FB-3065-F33E-8250DE139E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F54A74-6E32-4935-A06D-5C22E2A1D2B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363500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D382C24-250C-EE4A-F2C0-8258A28A7B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61DF8D08-4D28-DA17-BD8C-F3160683F49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29696273-4D7A-6BCB-2D9D-EF55B9A8B15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1127853-FB24-DFAC-D757-34C3AEAAA3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4C0B81-5930-4B25-A903-A40C83326BB2}" type="datetimeFigureOut">
              <a:rPr lang="zh-CN" altLang="en-US" smtClean="0"/>
              <a:t>2026/7/7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E731E05-2137-9750-6FA4-91FE99F3D6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9046AB7-5415-D4F4-A0A0-74CC2D5AA2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F54A74-6E32-4935-A06D-5C22E2A1D2B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613111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784C939-E7B8-4481-5DBC-694CB8831A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AC1C1192-3451-CC6A-20A3-FE9788556E2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9DB16C6-C65C-1402-ECCF-609D7B99FF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4C0B81-5930-4B25-A903-A40C83326BB2}" type="datetimeFigureOut">
              <a:rPr lang="zh-CN" altLang="en-US" smtClean="0"/>
              <a:t>2026/7/7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BEB2ECC-9FA1-EB40-712F-90ADC19661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40AD4BB-023D-3C9F-BEDD-55CF0EB77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F54A74-6E32-4935-A06D-5C22E2A1D2B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22062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8249B717-9DD6-DE1E-C3FB-FB95ED3AA01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3077C5DA-E329-7F3F-C948-81BB02C113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842BC81-7176-5BEA-8BB7-6659B76CBA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4C0B81-5930-4B25-A903-A40C83326BB2}" type="datetimeFigureOut">
              <a:rPr lang="zh-CN" altLang="en-US" smtClean="0"/>
              <a:t>2026/7/7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CFD00FF-C8B4-9CF1-86CB-7F96B0CC79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3D30C8C-1665-93DA-6C60-7781E12437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F54A74-6E32-4935-A06D-5C22E2A1D2B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855481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028184B7-2688-A959-F5A3-A215A39EE4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49B078F-E667-5857-EF5C-0ADE479B92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865B1AA-D7FF-D324-40B3-467E1714816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44C0B81-5930-4B25-A903-A40C83326BB2}" type="datetimeFigureOut">
              <a:rPr lang="zh-CN" altLang="en-US" smtClean="0"/>
              <a:t>2026/7/7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8A98930-1408-96E5-9E8C-21DC8EAA429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4A7E975-975A-56D3-C57D-7C75E110F7F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3F54A74-6E32-4935-A06D-5C22E2A1D2B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083311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66909BA-CD6C-F9BA-3CA0-5B3FF5D0DC8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anchor="ctr"/>
          <a:lstStyle/>
          <a:p>
            <a:r>
              <a:rPr lang="en-US" altLang="zh-CN" dirty="0"/>
              <a:t>2.0 </a:t>
            </a:r>
            <a:r>
              <a:rPr lang="zh-CN" altLang="en-US" dirty="0"/>
              <a:t>工具链配置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3021AE34-0CA2-039E-6601-76B5D202DD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3255962"/>
          </a:xfrm>
        </p:spPr>
        <p:txBody>
          <a:bodyPr/>
          <a:lstStyle/>
          <a:p>
            <a:r>
              <a:rPr lang="zh-CN" altLang="en-US" dirty="0"/>
              <a:t>要求：</a:t>
            </a:r>
            <a:endParaRPr lang="en-US" altLang="zh-CN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dirty="0"/>
              <a:t>能够配置</a:t>
            </a:r>
            <a:r>
              <a:rPr lang="en-US" altLang="zh-CN" dirty="0" err="1"/>
              <a:t>CubeMX</a:t>
            </a:r>
            <a:r>
              <a:rPr lang="zh-CN" altLang="en-US" dirty="0"/>
              <a:t>工程</a:t>
            </a:r>
            <a:endParaRPr lang="en-US" altLang="zh-CN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dirty="0"/>
              <a:t>能够生成代码并通过编译</a:t>
            </a:r>
          </a:p>
        </p:txBody>
      </p:sp>
    </p:spTree>
    <p:extLst>
      <p:ext uri="{BB962C8B-B14F-4D97-AF65-F5344CB8AC3E}">
        <p14:creationId xmlns:p14="http://schemas.microsoft.com/office/powerpoint/2010/main" val="20396244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CDDC6A5-3580-7299-D263-DFC83E3954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嵌入式工具链简介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4D8F58D-30C6-CCEF-AF41-6F809BD7C6B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zh-CN" altLang="en-US" dirty="0"/>
              <a:t>嵌入式开发工具链把开发者编写的 </a:t>
            </a:r>
            <a:r>
              <a:rPr lang="en-US" altLang="zh-CN" dirty="0"/>
              <a:t>C/C++ </a:t>
            </a:r>
            <a:r>
              <a:rPr lang="zh-CN" altLang="en-US" dirty="0"/>
              <a:t>代码，转换成芯片可以执行的机器指令，并把程序下载到目标板上进行调试和运行。</a:t>
            </a:r>
          </a:p>
          <a:p>
            <a:r>
              <a:rPr lang="zh-CN" altLang="en-US" dirty="0"/>
              <a:t>一个完整流程通常包括：代码编写、预处理、编译、汇编、链接、生成固件、下载程序和在线调试。</a:t>
            </a:r>
          </a:p>
        </p:txBody>
      </p:sp>
    </p:spTree>
    <p:extLst>
      <p:ext uri="{BB962C8B-B14F-4D97-AF65-F5344CB8AC3E}">
        <p14:creationId xmlns:p14="http://schemas.microsoft.com/office/powerpoint/2010/main" val="34996903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8EF18DC-14FE-CC7E-E06D-6A4BC297C2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zh-CN" altLang="en-US" dirty="0"/>
              <a:t>从代码到机器执行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1659B36-0DC8-B670-DA6A-35D58EFC0FB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0" y="1325564"/>
            <a:ext cx="12192000" cy="553243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CN" altLang="en-US" dirty="0"/>
              <a:t>源代码本身不能被 </a:t>
            </a:r>
            <a:r>
              <a:rPr lang="en-US" altLang="zh-CN" dirty="0"/>
              <a:t>MCU </a:t>
            </a:r>
            <a:r>
              <a:rPr lang="zh-CN" altLang="en-US" dirty="0"/>
              <a:t>直接执行，需要经过一系列转换。预处理阶段会处理 </a:t>
            </a:r>
            <a:r>
              <a:rPr lang="en-US" altLang="zh-CN" dirty="0"/>
              <a:t>#include</a:t>
            </a:r>
            <a:r>
              <a:rPr lang="zh-CN" altLang="en-US" dirty="0"/>
              <a:t>、</a:t>
            </a:r>
            <a:r>
              <a:rPr lang="en-US" altLang="zh-CN" dirty="0"/>
              <a:t>#define</a:t>
            </a:r>
            <a:r>
              <a:rPr lang="zh-CN" altLang="en-US" dirty="0"/>
              <a:t>、条件编译等内容。头文件会被展开，宏会被替换，不同配置下的代码分支也会在这一阶段被选择。编译阶段会把 </a:t>
            </a:r>
            <a:r>
              <a:rPr lang="en-US" altLang="zh-CN" dirty="0"/>
              <a:t>C/C++ </a:t>
            </a:r>
            <a:r>
              <a:rPr lang="zh-CN" altLang="en-US" dirty="0"/>
              <a:t>代码转换成更接近底层的汇编代码或中间表示。编译器会检查语法、类型、函数声明、变量作用域等问题，也会根据优化等级对代码进行优化。汇编阶段会把汇编指令转换成目标文件。目标文件中已经包含了机器指令，但其中的函数地址、全局变量地址等信息可能还没有完全确定。链接阶段会把多个目标文件、启动文件、库文件组合在一起，并根据链接脚本安排程序在 </a:t>
            </a:r>
            <a:r>
              <a:rPr lang="en-US" altLang="zh-CN" dirty="0"/>
              <a:t>Flash </a:t>
            </a:r>
            <a:r>
              <a:rPr lang="zh-CN" altLang="en-US" dirty="0"/>
              <a:t>和 </a:t>
            </a:r>
            <a:r>
              <a:rPr lang="en-US" altLang="zh-CN" dirty="0"/>
              <a:t>RAM </a:t>
            </a:r>
            <a:r>
              <a:rPr lang="zh-CN" altLang="en-US" dirty="0"/>
              <a:t>中的存放位置。比如代码段通常放在 </a:t>
            </a:r>
            <a:r>
              <a:rPr lang="en-US" altLang="zh-CN" dirty="0"/>
              <a:t>Flash </a:t>
            </a:r>
            <a:r>
              <a:rPr lang="zh-CN" altLang="en-US" dirty="0"/>
              <a:t>中，全局变量和栈空间会使用 </a:t>
            </a:r>
            <a:r>
              <a:rPr lang="en-US" altLang="zh-CN" dirty="0"/>
              <a:t>RAM</a:t>
            </a:r>
            <a:r>
              <a:rPr lang="zh-CN" altLang="en-US" dirty="0"/>
              <a:t>。链接完成后，会生成 </a:t>
            </a:r>
            <a:r>
              <a:rPr lang="en-US" altLang="zh-CN" dirty="0"/>
              <a:t>ELF </a:t>
            </a:r>
            <a:r>
              <a:rPr lang="zh-CN" altLang="en-US" dirty="0"/>
              <a:t>文件。</a:t>
            </a:r>
            <a:r>
              <a:rPr lang="en-US" altLang="zh-CN" dirty="0"/>
              <a:t>ELF </a:t>
            </a:r>
            <a:r>
              <a:rPr lang="zh-CN" altLang="en-US" dirty="0"/>
              <a:t>文件包含程序代码、符号信息、调试信息和内存布局信息。最后，工具可以从 </a:t>
            </a:r>
            <a:r>
              <a:rPr lang="en-US" altLang="zh-CN" dirty="0"/>
              <a:t>ELF </a:t>
            </a:r>
            <a:r>
              <a:rPr lang="zh-CN" altLang="en-US" dirty="0"/>
              <a:t>文件进一步生成 </a:t>
            </a:r>
            <a:r>
              <a:rPr lang="en-US" altLang="zh-CN" dirty="0"/>
              <a:t>BIN </a:t>
            </a:r>
            <a:r>
              <a:rPr lang="zh-CN" altLang="en-US" dirty="0"/>
              <a:t>或 </a:t>
            </a:r>
            <a:r>
              <a:rPr lang="en-US" altLang="zh-CN" dirty="0"/>
              <a:t>HEX </a:t>
            </a:r>
            <a:r>
              <a:rPr lang="zh-CN" altLang="en-US" dirty="0"/>
              <a:t>文件，用于烧录到芯片中。程序被写入 </a:t>
            </a:r>
            <a:r>
              <a:rPr lang="en-US" altLang="zh-CN" dirty="0"/>
              <a:t>Flash </a:t>
            </a:r>
            <a:r>
              <a:rPr lang="zh-CN" altLang="en-US" dirty="0"/>
              <a:t>后，芯片复位启动，</a:t>
            </a:r>
            <a:r>
              <a:rPr lang="en-US" altLang="zh-CN" dirty="0"/>
              <a:t>CPU </a:t>
            </a:r>
            <a:r>
              <a:rPr lang="zh-CN" altLang="en-US" dirty="0"/>
              <a:t>从启动地址开始取指令执行。</a:t>
            </a:r>
          </a:p>
        </p:txBody>
      </p:sp>
    </p:spTree>
    <p:extLst>
      <p:ext uri="{BB962C8B-B14F-4D97-AF65-F5344CB8AC3E}">
        <p14:creationId xmlns:p14="http://schemas.microsoft.com/office/powerpoint/2010/main" val="11299240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A71D681-8C28-CDFC-CBCA-FCF1578ADA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zh-CN" altLang="en-US" dirty="0"/>
              <a:t>代码生成工具 </a:t>
            </a:r>
            <a:r>
              <a:rPr lang="en-US" altLang="zh-CN" dirty="0" err="1"/>
              <a:t>CubeMX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C293D2B-CE2A-EE77-840B-AF0A224E49E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zh-CN" altLang="en-US" dirty="0"/>
              <a:t>主要用于完成 </a:t>
            </a:r>
            <a:r>
              <a:rPr lang="en-US" altLang="zh-CN" dirty="0"/>
              <a:t>STM32 </a:t>
            </a:r>
            <a:r>
              <a:rPr lang="zh-CN" altLang="en-US" dirty="0"/>
              <a:t>芯片的基础配置，并生成初始化代码和工程框架。在 </a:t>
            </a:r>
            <a:r>
              <a:rPr lang="en-US" altLang="zh-CN" dirty="0" err="1"/>
              <a:t>CubeMX</a:t>
            </a:r>
            <a:r>
              <a:rPr lang="en-US" altLang="zh-CN" dirty="0"/>
              <a:t> </a:t>
            </a:r>
            <a:r>
              <a:rPr lang="zh-CN" altLang="en-US" dirty="0"/>
              <a:t>中，开发者可以选择芯片型号，配置时钟树，分配引脚功能，启用 </a:t>
            </a:r>
            <a:r>
              <a:rPr lang="en-US" altLang="zh-CN" dirty="0"/>
              <a:t>GPIO</a:t>
            </a:r>
            <a:r>
              <a:rPr lang="zh-CN" altLang="en-US" dirty="0"/>
              <a:t>、</a:t>
            </a:r>
            <a:r>
              <a:rPr lang="en-US" altLang="zh-CN" dirty="0"/>
              <a:t>UART</a:t>
            </a:r>
            <a:r>
              <a:rPr lang="zh-CN" altLang="en-US" dirty="0"/>
              <a:t>、</a:t>
            </a:r>
            <a:r>
              <a:rPr lang="en-US" altLang="zh-CN" dirty="0"/>
              <a:t>SPI</a:t>
            </a:r>
            <a:r>
              <a:rPr lang="zh-CN" altLang="en-US" dirty="0"/>
              <a:t>、</a:t>
            </a:r>
            <a:r>
              <a:rPr lang="en-US" altLang="zh-CN" dirty="0"/>
              <a:t>I2C</a:t>
            </a:r>
            <a:r>
              <a:rPr lang="zh-CN" altLang="en-US" dirty="0"/>
              <a:t>、</a:t>
            </a:r>
            <a:r>
              <a:rPr lang="en-US" altLang="zh-CN" dirty="0"/>
              <a:t>ADC</a:t>
            </a:r>
            <a:r>
              <a:rPr lang="zh-CN" altLang="en-US" dirty="0"/>
              <a:t>、定时器、</a:t>
            </a:r>
            <a:r>
              <a:rPr lang="en-US" altLang="zh-CN" dirty="0"/>
              <a:t>DMA</a:t>
            </a:r>
            <a:r>
              <a:rPr lang="zh-CN" altLang="en-US" dirty="0"/>
              <a:t>、中断等外设资源。对于一些常用中间件，例如 </a:t>
            </a:r>
            <a:r>
              <a:rPr lang="en-US" altLang="zh-CN" dirty="0" err="1"/>
              <a:t>FreeRTOS</a:t>
            </a:r>
            <a:r>
              <a:rPr lang="zh-CN" altLang="en-US" dirty="0"/>
              <a:t>、</a:t>
            </a:r>
            <a:r>
              <a:rPr lang="en-US" altLang="zh-CN" dirty="0"/>
              <a:t>USB</a:t>
            </a:r>
            <a:r>
              <a:rPr lang="zh-CN" altLang="en-US" dirty="0"/>
              <a:t>、</a:t>
            </a:r>
            <a:r>
              <a:rPr lang="en-US" altLang="zh-CN" dirty="0" err="1"/>
              <a:t>FatFs</a:t>
            </a:r>
            <a:r>
              <a:rPr lang="zh-CN" altLang="en-US" dirty="0"/>
              <a:t>、</a:t>
            </a:r>
            <a:r>
              <a:rPr lang="en-US" altLang="zh-CN" dirty="0"/>
              <a:t>LWIP</a:t>
            </a:r>
            <a:r>
              <a:rPr lang="zh-CN" altLang="en-US" dirty="0"/>
              <a:t>，也可以通过 </a:t>
            </a:r>
            <a:r>
              <a:rPr lang="en-US" altLang="zh-CN" dirty="0" err="1"/>
              <a:t>CubeMX</a:t>
            </a:r>
            <a:r>
              <a:rPr lang="en-US" altLang="zh-CN" dirty="0"/>
              <a:t> </a:t>
            </a:r>
            <a:r>
              <a:rPr lang="zh-CN" altLang="en-US" dirty="0"/>
              <a:t>进行基础配置。</a:t>
            </a:r>
            <a:r>
              <a:rPr lang="en-US" altLang="zh-CN" dirty="0" err="1"/>
              <a:t>CubeMX</a:t>
            </a:r>
            <a:r>
              <a:rPr lang="en-US" altLang="zh-CN" dirty="0"/>
              <a:t> </a:t>
            </a:r>
            <a:r>
              <a:rPr lang="zh-CN" altLang="en-US" dirty="0"/>
              <a:t>生成的代码通常包括启动工程、时钟初始化、</a:t>
            </a:r>
            <a:r>
              <a:rPr lang="en-US" altLang="zh-CN" dirty="0"/>
              <a:t>GPIO </a:t>
            </a:r>
            <a:r>
              <a:rPr lang="zh-CN" altLang="en-US" dirty="0"/>
              <a:t>初始化、外设初始化、中断入口、</a:t>
            </a:r>
            <a:r>
              <a:rPr lang="en-US" altLang="zh-CN" dirty="0"/>
              <a:t>HAL </a:t>
            </a:r>
            <a:r>
              <a:rPr lang="zh-CN" altLang="en-US" dirty="0"/>
              <a:t>或 </a:t>
            </a:r>
            <a:r>
              <a:rPr lang="en-US" altLang="zh-CN" dirty="0"/>
              <a:t>LL </a:t>
            </a:r>
            <a:r>
              <a:rPr lang="zh-CN" altLang="en-US" dirty="0"/>
              <a:t>驱动调用等内容。这些代码帮助开发者快速完成芯片上电后的基础准备工作。在教学中，</a:t>
            </a:r>
            <a:r>
              <a:rPr lang="en-US" altLang="zh-CN" dirty="0" err="1"/>
              <a:t>CubeMX</a:t>
            </a:r>
            <a:r>
              <a:rPr lang="en-US" altLang="zh-CN" dirty="0"/>
              <a:t> </a:t>
            </a:r>
            <a:r>
              <a:rPr lang="zh-CN" altLang="en-US" dirty="0"/>
              <a:t>很适合用来展示“芯片资源如何变成软件配置”。例如一个串口功能，从引脚复用、外设时钟、波特率、中断，到最终生成初始化函数，都可以在 </a:t>
            </a:r>
            <a:r>
              <a:rPr lang="en-US" altLang="zh-CN" dirty="0" err="1"/>
              <a:t>CubeMX</a:t>
            </a:r>
            <a:r>
              <a:rPr lang="en-US" altLang="zh-CN" dirty="0"/>
              <a:t> </a:t>
            </a:r>
            <a:r>
              <a:rPr lang="zh-CN" altLang="en-US" dirty="0"/>
              <a:t>中看到清晰的配置过程。使用 </a:t>
            </a:r>
            <a:r>
              <a:rPr lang="en-US" altLang="zh-CN" dirty="0" err="1"/>
              <a:t>CubeMX</a:t>
            </a:r>
            <a:r>
              <a:rPr lang="en-US" altLang="zh-CN" dirty="0"/>
              <a:t> </a:t>
            </a:r>
            <a:r>
              <a:rPr lang="zh-CN" altLang="en-US" dirty="0"/>
              <a:t>时需要注意代码结构。应用层逻辑最好放在独立文件中，自动生成文件里只保留必要的初始化和接口调用。这样在重新生成代码时，工程更容易维护。</a:t>
            </a:r>
          </a:p>
        </p:txBody>
      </p:sp>
    </p:spTree>
    <p:extLst>
      <p:ext uri="{BB962C8B-B14F-4D97-AF65-F5344CB8AC3E}">
        <p14:creationId xmlns:p14="http://schemas.microsoft.com/office/powerpoint/2010/main" val="5491647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ABD0B9B-EA2C-B160-79FB-8E6057C4F5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编辑器与集成开发环境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E2FB2CD-410C-7634-10D0-8A6A052218E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CN" altLang="en-US" dirty="0"/>
              <a:t>编辑器或 </a:t>
            </a:r>
            <a:r>
              <a:rPr lang="en-US" altLang="zh-CN" dirty="0"/>
              <a:t>IDE </a:t>
            </a:r>
            <a:r>
              <a:rPr lang="zh-CN" altLang="en-US" dirty="0"/>
              <a:t>是开发者主要编写和管理代码的地方。</a:t>
            </a:r>
            <a:r>
              <a:rPr lang="en-US" altLang="zh-CN" dirty="0"/>
              <a:t>Keil </a:t>
            </a:r>
            <a:r>
              <a:rPr lang="en-US" altLang="zh-CN" dirty="0" err="1"/>
              <a:t>uVision</a:t>
            </a:r>
            <a:r>
              <a:rPr lang="en-US" altLang="zh-CN" dirty="0"/>
              <a:t> </a:t>
            </a:r>
            <a:r>
              <a:rPr lang="zh-CN" altLang="en-US" dirty="0"/>
              <a:t>是传统嵌入式开发中常用的集成开发环境。它集成了工程管理、代码编辑、编译、下载和调试功能。开发者可以在一个软件中完成大部分操作，使用方式直观，适合课堂演示、外设实验和初学阶段。</a:t>
            </a:r>
            <a:r>
              <a:rPr lang="en-US" altLang="zh-CN" dirty="0" err="1"/>
              <a:t>VSCode</a:t>
            </a:r>
            <a:r>
              <a:rPr lang="en-US" altLang="zh-CN" dirty="0"/>
              <a:t> </a:t>
            </a:r>
            <a:r>
              <a:rPr lang="zh-CN" altLang="en-US" dirty="0"/>
              <a:t>是通用代码编辑器，本身不绑定具体芯片或编译器。它通常通过插件、</a:t>
            </a:r>
            <a:r>
              <a:rPr lang="en-US" altLang="zh-CN" dirty="0" err="1"/>
              <a:t>CMake</a:t>
            </a:r>
            <a:r>
              <a:rPr lang="zh-CN" altLang="en-US" dirty="0"/>
              <a:t>、任务配置和调试配置来组织嵌入式工程。</a:t>
            </a:r>
            <a:r>
              <a:rPr lang="en-US" altLang="zh-CN" dirty="0" err="1"/>
              <a:t>VSCode</a:t>
            </a:r>
            <a:r>
              <a:rPr lang="en-US" altLang="zh-CN" dirty="0"/>
              <a:t> </a:t>
            </a:r>
            <a:r>
              <a:rPr lang="zh-CN" altLang="en-US" dirty="0"/>
              <a:t>的特点是灵活，适合配合命令行工具、版本管理、代码格式化和自动化构建使用。</a:t>
            </a:r>
          </a:p>
        </p:txBody>
      </p:sp>
    </p:spTree>
    <p:extLst>
      <p:ext uri="{BB962C8B-B14F-4D97-AF65-F5344CB8AC3E}">
        <p14:creationId xmlns:p14="http://schemas.microsoft.com/office/powerpoint/2010/main" val="41010241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AF5501C-FCD7-3BA1-ED99-514DE6AC8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编译器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7E7312D-901C-BCE4-A85A-3260A3979E8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10515599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CN" dirty="0"/>
              <a:t>AC6 </a:t>
            </a:r>
            <a:r>
              <a:rPr lang="zh-CN" altLang="en-US" dirty="0"/>
              <a:t>与 </a:t>
            </a:r>
            <a:r>
              <a:rPr lang="en-US" altLang="zh-CN" dirty="0"/>
              <a:t>Clang</a:t>
            </a:r>
            <a:r>
              <a:rPr lang="zh-CN" altLang="en-US" dirty="0"/>
              <a:t>编译器负责把 </a:t>
            </a:r>
            <a:r>
              <a:rPr lang="en-US" altLang="zh-CN" dirty="0"/>
              <a:t>C/C++ </a:t>
            </a:r>
            <a:r>
              <a:rPr lang="zh-CN" altLang="en-US" dirty="0"/>
              <a:t>源代码转换成目标平台可以执行的机器代码。</a:t>
            </a:r>
            <a:r>
              <a:rPr lang="en-US" altLang="zh-CN" dirty="0"/>
              <a:t>Keil </a:t>
            </a:r>
            <a:r>
              <a:rPr lang="zh-CN" altLang="en-US" dirty="0"/>
              <a:t>中常用的 </a:t>
            </a:r>
            <a:r>
              <a:rPr lang="en-US" altLang="zh-CN" dirty="0"/>
              <a:t>AC6</a:t>
            </a:r>
            <a:r>
              <a:rPr lang="zh-CN" altLang="en-US" dirty="0"/>
              <a:t>，也就是 </a:t>
            </a:r>
            <a:r>
              <a:rPr lang="en-US" altLang="zh-CN" dirty="0"/>
              <a:t>Arm Compiler 6</a:t>
            </a:r>
            <a:r>
              <a:rPr lang="zh-CN" altLang="en-US" dirty="0"/>
              <a:t>，基于 </a:t>
            </a:r>
            <a:r>
              <a:rPr lang="en-US" altLang="zh-CN" dirty="0"/>
              <a:t>LLVM/Clang </a:t>
            </a:r>
            <a:r>
              <a:rPr lang="zh-CN" altLang="en-US" dirty="0"/>
              <a:t>技术，面向 </a:t>
            </a:r>
            <a:r>
              <a:rPr lang="en-US" altLang="zh-CN" dirty="0"/>
              <a:t>Arm </a:t>
            </a:r>
            <a:r>
              <a:rPr lang="zh-CN" altLang="en-US" dirty="0"/>
              <a:t>架构做了配套支持。它通常和 </a:t>
            </a:r>
            <a:r>
              <a:rPr lang="en-US" altLang="zh-CN" dirty="0"/>
              <a:t>Keil </a:t>
            </a:r>
            <a:r>
              <a:rPr lang="zh-CN" altLang="en-US" dirty="0"/>
              <a:t>工程、芯片包、启动文件、运行时库一起使用，能够生成适合 </a:t>
            </a:r>
            <a:r>
              <a:rPr lang="en-US" altLang="zh-CN" dirty="0"/>
              <a:t>Cortex-M </a:t>
            </a:r>
            <a:r>
              <a:rPr lang="zh-CN" altLang="en-US" dirty="0"/>
              <a:t>芯片运行的目标代码。</a:t>
            </a:r>
            <a:r>
              <a:rPr lang="en-US" altLang="zh-CN" dirty="0"/>
              <a:t>Clang </a:t>
            </a:r>
            <a:r>
              <a:rPr lang="zh-CN" altLang="en-US" dirty="0"/>
              <a:t>是 </a:t>
            </a:r>
            <a:r>
              <a:rPr lang="en-US" altLang="zh-CN" dirty="0"/>
              <a:t>LLVM </a:t>
            </a:r>
            <a:r>
              <a:rPr lang="zh-CN" altLang="en-US" dirty="0"/>
              <a:t>项目中的编译器前端，也可以用于嵌入式 </a:t>
            </a:r>
            <a:r>
              <a:rPr lang="en-US" altLang="zh-CN" dirty="0"/>
              <a:t>C/C++ </a:t>
            </a:r>
            <a:r>
              <a:rPr lang="zh-CN" altLang="en-US" dirty="0"/>
              <a:t>工程。配合 </a:t>
            </a:r>
            <a:r>
              <a:rPr lang="en-US" altLang="zh-CN" dirty="0"/>
              <a:t>Arm </a:t>
            </a:r>
            <a:r>
              <a:rPr lang="zh-CN" altLang="en-US" dirty="0"/>
              <a:t>目标架构参数、启动文件、链接脚本和运行时库，</a:t>
            </a:r>
            <a:r>
              <a:rPr lang="en-US" altLang="zh-CN" dirty="0"/>
              <a:t>Clang </a:t>
            </a:r>
            <a:r>
              <a:rPr lang="zh-CN" altLang="en-US" dirty="0"/>
              <a:t>可以生成 </a:t>
            </a:r>
            <a:r>
              <a:rPr lang="en-US" altLang="zh-CN" dirty="0"/>
              <a:t>STM32 </a:t>
            </a:r>
            <a:r>
              <a:rPr lang="zh-CN" altLang="en-US" dirty="0"/>
              <a:t>等 </a:t>
            </a:r>
            <a:r>
              <a:rPr lang="en-US" altLang="zh-CN" dirty="0"/>
              <a:t>Cortex-M MCU </a:t>
            </a:r>
            <a:r>
              <a:rPr lang="zh-CN" altLang="en-US" dirty="0"/>
              <a:t>可以运行的固件。无论使用 </a:t>
            </a:r>
            <a:r>
              <a:rPr lang="en-US" altLang="zh-CN" dirty="0"/>
              <a:t>AC6 </a:t>
            </a:r>
            <a:r>
              <a:rPr lang="zh-CN" altLang="en-US" dirty="0"/>
              <a:t>还是 </a:t>
            </a:r>
            <a:r>
              <a:rPr lang="en-US" altLang="zh-CN" dirty="0"/>
              <a:t>Clang</a:t>
            </a:r>
            <a:r>
              <a:rPr lang="zh-CN" altLang="en-US" dirty="0"/>
              <a:t>，编译器都承担类似的核心任务：检查代码、生成目标文件、执行优化，并为后续链接提供输入。编译器的参数会影响代码体积、运行速度、调试体验和警告检查效果。</a:t>
            </a:r>
          </a:p>
          <a:p>
            <a:pPr marL="0" indent="0">
              <a:buNone/>
            </a:pP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7682819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3FDCE1B-AD38-C862-61E7-FBB61D6D9E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调试器与下载工具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6A0BA2F-3FE7-5F84-E8B7-F9884CC09C2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4"/>
            <a:ext cx="10515599" cy="5032375"/>
          </a:xfrm>
        </p:spPr>
        <p:txBody>
          <a:bodyPr/>
          <a:lstStyle/>
          <a:p>
            <a:pPr marL="0" indent="0">
              <a:buNone/>
            </a:pPr>
            <a:r>
              <a:rPr lang="zh-CN" altLang="en-US" dirty="0"/>
              <a:t>调试工具负责把程序下载到芯片，并帮助开发者观察程序运行状态。在 </a:t>
            </a:r>
            <a:r>
              <a:rPr lang="en-US" altLang="zh-CN" dirty="0"/>
              <a:t>Keil </a:t>
            </a:r>
            <a:r>
              <a:rPr lang="zh-CN" altLang="en-US" dirty="0"/>
              <a:t>工具链中，</a:t>
            </a:r>
            <a:r>
              <a:rPr lang="en-US" altLang="zh-CN" dirty="0"/>
              <a:t>Keil </a:t>
            </a:r>
            <a:r>
              <a:rPr lang="zh-CN" altLang="en-US" dirty="0"/>
              <a:t>可以直接配合 </a:t>
            </a:r>
            <a:r>
              <a:rPr lang="en-US" altLang="zh-CN" dirty="0"/>
              <a:t>ST-Link</a:t>
            </a:r>
            <a:r>
              <a:rPr lang="zh-CN" altLang="en-US" dirty="0"/>
              <a:t>、</a:t>
            </a:r>
            <a:r>
              <a:rPr lang="en-US" altLang="zh-CN" dirty="0"/>
              <a:t>J-Link </a:t>
            </a:r>
            <a:r>
              <a:rPr lang="zh-CN" altLang="en-US" dirty="0"/>
              <a:t>等调试器完成下载和在线调试。开发者可以设置断点、单步运行、查看变量、查看寄存器、观察内存，也可以分析程序是否进入 </a:t>
            </a:r>
            <a:r>
              <a:rPr lang="en-US" altLang="zh-CN" dirty="0" err="1"/>
              <a:t>HardFault</a:t>
            </a:r>
            <a:r>
              <a:rPr lang="en-US" altLang="zh-CN" dirty="0"/>
              <a:t> </a:t>
            </a:r>
            <a:r>
              <a:rPr lang="zh-CN" altLang="en-US" dirty="0"/>
              <a:t>或卡在某个中断中。在 </a:t>
            </a:r>
            <a:r>
              <a:rPr lang="en-US" altLang="zh-CN" dirty="0" err="1"/>
              <a:t>VSCode</a:t>
            </a:r>
            <a:r>
              <a:rPr lang="en-US" altLang="zh-CN" dirty="0"/>
              <a:t> </a:t>
            </a:r>
            <a:r>
              <a:rPr lang="zh-CN" altLang="en-US" dirty="0"/>
              <a:t>工具链中，</a:t>
            </a:r>
            <a:r>
              <a:rPr lang="en-US" altLang="zh-CN" dirty="0" err="1"/>
              <a:t>OpenOCD</a:t>
            </a:r>
            <a:r>
              <a:rPr lang="en-US" altLang="zh-CN" dirty="0"/>
              <a:t> </a:t>
            </a:r>
            <a:r>
              <a:rPr lang="zh-CN" altLang="en-US" dirty="0"/>
              <a:t>常用于连接调试器和目标芯片。</a:t>
            </a:r>
            <a:r>
              <a:rPr lang="en-US" altLang="zh-CN" dirty="0" err="1"/>
              <a:t>OpenOCD</a:t>
            </a:r>
            <a:r>
              <a:rPr lang="en-US" altLang="zh-CN" dirty="0"/>
              <a:t> </a:t>
            </a:r>
            <a:r>
              <a:rPr lang="zh-CN" altLang="en-US" dirty="0"/>
              <a:t>通过 </a:t>
            </a:r>
            <a:r>
              <a:rPr lang="en-US" altLang="zh-CN" dirty="0"/>
              <a:t>ST-Link</a:t>
            </a:r>
            <a:r>
              <a:rPr lang="zh-CN" altLang="en-US" dirty="0"/>
              <a:t>、</a:t>
            </a:r>
            <a:r>
              <a:rPr lang="en-US" altLang="zh-CN" dirty="0"/>
              <a:t>J-Link</a:t>
            </a:r>
            <a:r>
              <a:rPr lang="zh-CN" altLang="en-US" dirty="0"/>
              <a:t>、</a:t>
            </a:r>
            <a:r>
              <a:rPr lang="en-US" altLang="zh-CN" dirty="0"/>
              <a:t>CMSIS-DAP </a:t>
            </a:r>
            <a:r>
              <a:rPr lang="zh-CN" altLang="en-US" dirty="0"/>
              <a:t>等硬件接口访问芯片的 </a:t>
            </a:r>
            <a:r>
              <a:rPr lang="en-US" altLang="zh-CN" dirty="0"/>
              <a:t>SWD </a:t>
            </a:r>
            <a:r>
              <a:rPr lang="zh-CN" altLang="en-US" dirty="0"/>
              <a:t>或 </a:t>
            </a:r>
            <a:r>
              <a:rPr lang="en-US" altLang="zh-CN" dirty="0"/>
              <a:t>JTAG </a:t>
            </a:r>
            <a:r>
              <a:rPr lang="zh-CN" altLang="en-US" dirty="0"/>
              <a:t>调试接口。</a:t>
            </a:r>
            <a:r>
              <a:rPr lang="en-US" altLang="zh-CN" dirty="0"/>
              <a:t>GDB </a:t>
            </a:r>
            <a:r>
              <a:rPr lang="zh-CN" altLang="en-US" dirty="0"/>
              <a:t>连接到 </a:t>
            </a:r>
            <a:r>
              <a:rPr lang="en-US" altLang="zh-CN" dirty="0" err="1"/>
              <a:t>OpenOCD</a:t>
            </a:r>
            <a:r>
              <a:rPr lang="en-US" altLang="zh-CN" dirty="0"/>
              <a:t> </a:t>
            </a:r>
            <a:r>
              <a:rPr lang="zh-CN" altLang="en-US" dirty="0"/>
              <a:t>后，就可以控制目标芯片运行，实现断点、单步、变量查看、寄存器查看和程序下载。这里可以把 </a:t>
            </a:r>
            <a:r>
              <a:rPr lang="en-US" altLang="zh-CN" dirty="0" err="1"/>
              <a:t>OpenOCD</a:t>
            </a:r>
            <a:r>
              <a:rPr lang="en-US" altLang="zh-CN" dirty="0"/>
              <a:t> </a:t>
            </a:r>
            <a:r>
              <a:rPr lang="zh-CN" altLang="en-US" dirty="0"/>
              <a:t>理解为“调试服务器”。它一边和电脑上的 </a:t>
            </a:r>
            <a:r>
              <a:rPr lang="en-US" altLang="zh-CN" dirty="0"/>
              <a:t>GDB </a:t>
            </a:r>
            <a:r>
              <a:rPr lang="zh-CN" altLang="en-US" dirty="0"/>
              <a:t>通信，一边和开发板上的 </a:t>
            </a:r>
            <a:r>
              <a:rPr lang="en-US" altLang="zh-CN" dirty="0"/>
              <a:t>MCU </a:t>
            </a:r>
            <a:r>
              <a:rPr lang="zh-CN" altLang="en-US" dirty="0"/>
              <a:t>通信，把调试命令转换成对芯片的实际操作。</a:t>
            </a:r>
          </a:p>
        </p:txBody>
      </p:sp>
    </p:spTree>
    <p:extLst>
      <p:ext uri="{BB962C8B-B14F-4D97-AF65-F5344CB8AC3E}">
        <p14:creationId xmlns:p14="http://schemas.microsoft.com/office/powerpoint/2010/main" val="42755978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640841D-5DF6-5D45-7602-122C51CC58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工具链组合</a:t>
            </a:r>
            <a:r>
              <a:rPr lang="en-US" altLang="zh-CN" dirty="0"/>
              <a:t>1</a:t>
            </a:r>
            <a:r>
              <a:rPr lang="zh-CN" altLang="en-US" dirty="0"/>
              <a:t>：</a:t>
            </a:r>
            <a:r>
              <a:rPr lang="en-US" altLang="zh-CN" dirty="0"/>
              <a:t>CubeMX+AC6+Keil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19449B8-81E5-AE14-8294-A0C2207CA02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zh-CN" altLang="en-US" dirty="0"/>
              <a:t>安装</a:t>
            </a:r>
            <a:r>
              <a:rPr lang="en-US" altLang="zh-CN" dirty="0" err="1"/>
              <a:t>CubeMX</a:t>
            </a:r>
            <a:endParaRPr lang="en-US" altLang="zh-CN" dirty="0"/>
          </a:p>
          <a:p>
            <a:r>
              <a:rPr lang="zh-CN" altLang="en-US" dirty="0"/>
              <a:t>安装</a:t>
            </a:r>
            <a:r>
              <a:rPr lang="en-US" altLang="zh-CN" dirty="0"/>
              <a:t>Keil</a:t>
            </a:r>
          </a:p>
          <a:p>
            <a:r>
              <a:rPr lang="zh-CN" altLang="en-US" dirty="0"/>
              <a:t>在</a:t>
            </a:r>
            <a:r>
              <a:rPr lang="en-US" altLang="zh-CN" dirty="0" err="1"/>
              <a:t>CubeMX</a:t>
            </a:r>
            <a:r>
              <a:rPr lang="zh-CN" altLang="en-US" dirty="0"/>
              <a:t>中生成</a:t>
            </a:r>
            <a:r>
              <a:rPr lang="en-US" altLang="zh-CN" dirty="0"/>
              <a:t>MDK-Arm</a:t>
            </a:r>
            <a:r>
              <a:rPr lang="zh-CN" altLang="en-US" dirty="0"/>
              <a:t>工程</a:t>
            </a:r>
            <a:endParaRPr lang="en-US" altLang="zh-CN" dirty="0"/>
          </a:p>
          <a:p>
            <a:r>
              <a:rPr lang="zh-CN" altLang="en-US" dirty="0"/>
              <a:t>在</a:t>
            </a:r>
            <a:r>
              <a:rPr lang="en-US" altLang="zh-CN" dirty="0"/>
              <a:t>Keil</a:t>
            </a:r>
            <a:r>
              <a:rPr lang="zh-CN" altLang="en-US" dirty="0"/>
              <a:t>中编译</a:t>
            </a:r>
            <a:endParaRPr lang="en-US" altLang="zh-CN" dirty="0"/>
          </a:p>
        </p:txBody>
      </p:sp>
      <p:sp>
        <p:nvSpPr>
          <p:cNvPr id="7" name="内容占位符 2">
            <a:extLst>
              <a:ext uri="{FF2B5EF4-FFF2-40B4-BE49-F238E27FC236}">
                <a16:creationId xmlns:a16="http://schemas.microsoft.com/office/drawing/2014/main" id="{95B45F7F-CFA8-E3F8-B675-FA04643628AD}"/>
              </a:ext>
            </a:extLst>
          </p:cNvPr>
          <p:cNvSpPr txBox="1">
            <a:spLocks/>
          </p:cNvSpPr>
          <p:nvPr/>
        </p:nvSpPr>
        <p:spPr>
          <a:xfrm>
            <a:off x="6172202" y="1825625"/>
            <a:ext cx="5181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dirty="0"/>
              <a:t>ST</a:t>
            </a:r>
            <a:r>
              <a:rPr lang="zh-CN" altLang="en-US" dirty="0"/>
              <a:t>的服务器连接经常有问题，若下载错误需继续重试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37789945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AFF632A-6201-6B06-B154-92D94C0046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工具链组合</a:t>
            </a:r>
            <a:r>
              <a:rPr lang="en-US" altLang="zh-CN" dirty="0"/>
              <a:t>2</a:t>
            </a:r>
            <a:r>
              <a:rPr lang="zh-CN" altLang="en-US" dirty="0"/>
              <a:t>：</a:t>
            </a:r>
            <a:r>
              <a:rPr lang="en-US" altLang="zh-CN" dirty="0" err="1"/>
              <a:t>CubeMX+Clion+CubeCLT+OpenOCD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2B6B625-51CC-21FE-38A1-F321F73C6BA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zh-CN" altLang="en-US" dirty="0"/>
              <a:t>安装</a:t>
            </a:r>
            <a:r>
              <a:rPr lang="en-US" altLang="zh-CN" dirty="0" err="1"/>
              <a:t>CubeMX</a:t>
            </a:r>
            <a:endParaRPr lang="en-US" altLang="zh-CN" dirty="0"/>
          </a:p>
          <a:p>
            <a:r>
              <a:rPr lang="zh-CN" altLang="en-US" dirty="0"/>
              <a:t>解压</a:t>
            </a:r>
            <a:r>
              <a:rPr lang="en-US" altLang="zh-CN" dirty="0" err="1"/>
              <a:t>CubeCLT</a:t>
            </a:r>
            <a:endParaRPr lang="en-US" altLang="zh-CN" dirty="0"/>
          </a:p>
          <a:p>
            <a:r>
              <a:rPr lang="zh-CN" altLang="en-US" dirty="0"/>
              <a:t>配置</a:t>
            </a:r>
            <a:r>
              <a:rPr lang="en-US" altLang="zh-CN" dirty="0" err="1"/>
              <a:t>Clion</a:t>
            </a:r>
            <a:endParaRPr lang="en-US" altLang="zh-CN" dirty="0"/>
          </a:p>
        </p:txBody>
      </p:sp>
      <p:sp>
        <p:nvSpPr>
          <p:cNvPr id="7" name="内容占位符 2">
            <a:extLst>
              <a:ext uri="{FF2B5EF4-FFF2-40B4-BE49-F238E27FC236}">
                <a16:creationId xmlns:a16="http://schemas.microsoft.com/office/drawing/2014/main" id="{6A0CC28F-0CE9-39F8-F9B1-8752D4ED7942}"/>
              </a:ext>
            </a:extLst>
          </p:cNvPr>
          <p:cNvSpPr txBox="1">
            <a:spLocks/>
          </p:cNvSpPr>
          <p:nvPr/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dirty="0"/>
              <a:t>需要使用</a:t>
            </a:r>
            <a:r>
              <a:rPr lang="en-US" altLang="zh-CN" dirty="0"/>
              <a:t>GitHub</a:t>
            </a:r>
            <a:r>
              <a:rPr lang="zh-CN" altLang="en-US" dirty="0"/>
              <a:t>学生权益包获取</a:t>
            </a:r>
            <a:r>
              <a:rPr lang="en-US" altLang="zh-CN" dirty="0" err="1"/>
              <a:t>Clion</a:t>
            </a:r>
            <a:r>
              <a:rPr lang="zh-CN" altLang="en-US" dirty="0"/>
              <a:t>免费使用资格</a:t>
            </a:r>
            <a:endParaRPr lang="en-US" altLang="zh-CN" dirty="0"/>
          </a:p>
          <a:p>
            <a:r>
              <a:rPr lang="zh-CN" altLang="en-US" dirty="0"/>
              <a:t>可参考中科大</a:t>
            </a:r>
            <a:r>
              <a:rPr lang="en-US" altLang="zh-CN" dirty="0"/>
              <a:t>RM</a:t>
            </a:r>
            <a:r>
              <a:rPr lang="zh-CN" altLang="en-US" dirty="0"/>
              <a:t>电控培训</a:t>
            </a:r>
            <a:endParaRPr lang="en-US" altLang="zh-CN" dirty="0"/>
          </a:p>
          <a:p>
            <a:pPr marL="0" indent="0">
              <a:buNone/>
            </a:pPr>
            <a:r>
              <a:rPr lang="en-US" altLang="zh-CN" dirty="0"/>
              <a:t>【4.3】</a:t>
            </a:r>
            <a:r>
              <a:rPr lang="zh-CN" altLang="en-US" dirty="0"/>
              <a:t>开发工具篇</a:t>
            </a:r>
            <a:r>
              <a:rPr lang="en-US" altLang="zh-CN" dirty="0"/>
              <a:t>-</a:t>
            </a:r>
            <a:r>
              <a:rPr lang="en-US" altLang="zh-CN" dirty="0" err="1"/>
              <a:t>Clion</a:t>
            </a:r>
            <a:r>
              <a:rPr lang="zh-CN" altLang="en-US" dirty="0"/>
              <a:t>开发环境</a:t>
            </a:r>
          </a:p>
        </p:txBody>
      </p:sp>
    </p:spTree>
    <p:extLst>
      <p:ext uri="{BB962C8B-B14F-4D97-AF65-F5344CB8AC3E}">
        <p14:creationId xmlns:p14="http://schemas.microsoft.com/office/powerpoint/2010/main" val="23667424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620704E-F0F4-A126-17F7-A8454D1544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开发板资料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782435A-671E-F6D6-DB8A-0F552C27D77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zh-CN" altLang="en-US" dirty="0"/>
              <a:t>大疆</a:t>
            </a:r>
            <a:r>
              <a:rPr lang="en-US" altLang="zh-CN" dirty="0"/>
              <a:t>C</a:t>
            </a:r>
            <a:r>
              <a:rPr lang="zh-CN" altLang="en-US" dirty="0"/>
              <a:t>板</a:t>
            </a:r>
            <a:endParaRPr lang="en-US" altLang="zh-CN" dirty="0"/>
          </a:p>
          <a:p>
            <a:pPr marL="0" indent="0">
              <a:buNone/>
            </a:pPr>
            <a:r>
              <a:rPr lang="en-US" altLang="zh-CN" dirty="0"/>
              <a:t>https://www.robomaster.com/zh-CN/products/components/general/development-board-type-c</a:t>
            </a:r>
            <a:endParaRPr lang="zh-CN" altLang="en-US" dirty="0"/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A13E748E-A5B7-EDC1-BA57-464052DDA01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zh-CN" altLang="en-US" dirty="0"/>
              <a:t>达妙</a:t>
            </a:r>
            <a:r>
              <a:rPr lang="en-US" altLang="zh-CN" dirty="0"/>
              <a:t>H7</a:t>
            </a:r>
            <a:r>
              <a:rPr lang="zh-CN" altLang="en-US" dirty="0"/>
              <a:t>板</a:t>
            </a:r>
            <a:endParaRPr lang="en-US" altLang="zh-CN" dirty="0"/>
          </a:p>
          <a:p>
            <a:pPr marL="0" indent="0">
              <a:buNone/>
            </a:pPr>
            <a:r>
              <a:rPr lang="en-US" altLang="zh-CN" dirty="0"/>
              <a:t>https://gitee.com/kit-miao/dm-mc02/tree/master/%E8%AF%B4%E6%98%8E%E4%B9%A6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87523047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241A63-8688-8472-2282-9CA3BE067B0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anchor="ctr"/>
          <a:lstStyle/>
          <a:p>
            <a:r>
              <a:rPr lang="en-US" altLang="zh-SG" dirty="0"/>
              <a:t>2.1 </a:t>
            </a:r>
            <a:r>
              <a:rPr lang="zh-CN" altLang="en-US" dirty="0"/>
              <a:t>程序执行流程</a:t>
            </a:r>
            <a:endParaRPr lang="zh-SG" altLang="en-US" dirty="0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F549D877-48D3-DED8-51CA-25003CB36A6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zh-SG" dirty="0"/>
              <a:t>To be continued……</a:t>
            </a:r>
            <a:endParaRPr lang="zh-SG" altLang="en-US" dirty="0"/>
          </a:p>
        </p:txBody>
      </p:sp>
    </p:spTree>
    <p:extLst>
      <p:ext uri="{BB962C8B-B14F-4D97-AF65-F5344CB8AC3E}">
        <p14:creationId xmlns:p14="http://schemas.microsoft.com/office/powerpoint/2010/main" val="13650030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834ECE1-37CE-972F-14EE-0E336447AC2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anchor="ctr"/>
          <a:lstStyle/>
          <a:p>
            <a:r>
              <a:rPr lang="en-US" altLang="zh-CN" dirty="0"/>
              <a:t>2.2 GPIO</a:t>
            </a:r>
            <a:r>
              <a:rPr lang="zh-CN" altLang="en-US" dirty="0"/>
              <a:t>输入输出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22A5D391-BC4E-C51C-8E2D-F2D476DA27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3255962"/>
          </a:xfrm>
        </p:spPr>
        <p:txBody>
          <a:bodyPr/>
          <a:lstStyle/>
          <a:p>
            <a:r>
              <a:rPr lang="zh-CN" altLang="en-US" dirty="0"/>
              <a:t>要求：</a:t>
            </a:r>
            <a:endParaRPr lang="en-US" altLang="zh-CN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dirty="0"/>
              <a:t>了解</a:t>
            </a:r>
            <a:r>
              <a:rPr lang="en-US" altLang="zh-CN" dirty="0"/>
              <a:t>GPIO</a:t>
            </a:r>
            <a:r>
              <a:rPr lang="zh-CN" altLang="en-US" dirty="0"/>
              <a:t>的不同模式并配置</a:t>
            </a:r>
            <a:endParaRPr lang="en-US" altLang="zh-CN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zh-CN" altLang="en-US" dirty="0"/>
              <a:t>输入、模拟</a:t>
            </a:r>
            <a:endParaRPr lang="en-US" altLang="zh-CN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zh-CN" altLang="en-US" dirty="0"/>
              <a:t>外部中断</a:t>
            </a:r>
            <a:endParaRPr lang="en-US" altLang="zh-CN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zh-CN" altLang="en-US" dirty="0"/>
              <a:t>推挽</a:t>
            </a:r>
            <a:r>
              <a:rPr lang="en-US" altLang="zh-CN" dirty="0"/>
              <a:t>/</a:t>
            </a:r>
            <a:r>
              <a:rPr lang="zh-CN" altLang="en-US" dirty="0"/>
              <a:t>开漏</a:t>
            </a:r>
            <a:endParaRPr lang="en-US" altLang="zh-CN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zh-CN" altLang="en-US" dirty="0"/>
              <a:t>拉高</a:t>
            </a:r>
            <a:r>
              <a:rPr lang="en-US" altLang="zh-CN" dirty="0"/>
              <a:t>/</a:t>
            </a:r>
            <a:r>
              <a:rPr lang="zh-CN" altLang="en-US" dirty="0"/>
              <a:t>拉低</a:t>
            </a:r>
            <a:endParaRPr lang="en-US" altLang="zh-CN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dirty="0"/>
              <a:t>能使用相关</a:t>
            </a:r>
            <a:r>
              <a:rPr lang="en-US" altLang="zh-CN" dirty="0"/>
              <a:t>HAL</a:t>
            </a:r>
            <a:r>
              <a:rPr lang="zh-CN" altLang="en-US" dirty="0"/>
              <a:t>库函数</a:t>
            </a:r>
            <a:endParaRPr lang="en-US" altLang="zh-CN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25746435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71BF91F-E52D-C6B1-B341-25E60B73BB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GPIO</a:t>
            </a:r>
            <a:r>
              <a:rPr lang="zh-CN" altLang="en-US" dirty="0"/>
              <a:t>：</a:t>
            </a:r>
            <a:r>
              <a:rPr lang="en-US" altLang="zh-CN" dirty="0"/>
              <a:t>General Purpose Input/Output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9CDBD31-3E23-4C47-B417-842CAD189E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 err="1"/>
              <a:t>GPIO_Input</a:t>
            </a:r>
            <a:r>
              <a:rPr lang="zh-CN" altLang="en-US" dirty="0"/>
              <a:t>：读取外部电平</a:t>
            </a:r>
            <a:endParaRPr lang="en-US" altLang="zh-CN" dirty="0"/>
          </a:p>
          <a:p>
            <a:r>
              <a:rPr lang="en-US" altLang="zh-CN" dirty="0" err="1"/>
              <a:t>GPIO_Output</a:t>
            </a:r>
            <a:r>
              <a:rPr lang="zh-CN" altLang="en-US" dirty="0"/>
              <a:t>：由 </a:t>
            </a:r>
            <a:r>
              <a:rPr lang="en-US" altLang="zh-CN" dirty="0"/>
              <a:t>MCU </a:t>
            </a:r>
            <a:r>
              <a:rPr lang="zh-CN" altLang="en-US" dirty="0"/>
              <a:t>主动输出高</a:t>
            </a:r>
            <a:r>
              <a:rPr lang="en-US" altLang="zh-CN" dirty="0"/>
              <a:t>/</a:t>
            </a:r>
            <a:r>
              <a:rPr lang="zh-CN" altLang="en-US" dirty="0"/>
              <a:t>低电平</a:t>
            </a:r>
            <a:endParaRPr lang="en-US" altLang="zh-CN" dirty="0"/>
          </a:p>
          <a:p>
            <a:r>
              <a:rPr lang="en-US" altLang="zh-CN" dirty="0"/>
              <a:t>Alternate Function</a:t>
            </a:r>
            <a:r>
              <a:rPr lang="zh-CN" altLang="en-US" dirty="0"/>
              <a:t>：交给外设使用，如 </a:t>
            </a:r>
            <a:r>
              <a:rPr lang="en-US" altLang="zh-CN" dirty="0"/>
              <a:t>UART</a:t>
            </a:r>
            <a:r>
              <a:rPr lang="zh-CN" altLang="en-US" dirty="0"/>
              <a:t>、</a:t>
            </a:r>
            <a:r>
              <a:rPr lang="en-US" altLang="zh-CN" dirty="0"/>
              <a:t>SPI</a:t>
            </a:r>
            <a:r>
              <a:rPr lang="zh-CN" altLang="en-US" dirty="0"/>
              <a:t>、</a:t>
            </a:r>
            <a:r>
              <a:rPr lang="en-US" altLang="zh-CN" dirty="0"/>
              <a:t>I2C</a:t>
            </a:r>
          </a:p>
          <a:p>
            <a:r>
              <a:rPr lang="en-US" altLang="zh-CN" dirty="0" err="1"/>
              <a:t>GPIO_Analog</a:t>
            </a:r>
            <a:r>
              <a:rPr lang="zh-CN" altLang="en-US" dirty="0"/>
              <a:t>：用于 </a:t>
            </a:r>
            <a:r>
              <a:rPr lang="en-US" altLang="zh-CN" dirty="0"/>
              <a:t>ADC</a:t>
            </a:r>
            <a:r>
              <a:rPr lang="zh-CN" altLang="en-US" dirty="0"/>
              <a:t>、</a:t>
            </a:r>
            <a:r>
              <a:rPr lang="en-US" altLang="zh-CN" dirty="0"/>
              <a:t>DAC</a:t>
            </a:r>
            <a:r>
              <a:rPr lang="zh-CN" altLang="en-US" dirty="0"/>
              <a:t>，或在空闲时降低功耗</a:t>
            </a:r>
            <a:endParaRPr lang="en-US" altLang="zh-CN" dirty="0"/>
          </a:p>
          <a:p>
            <a:pPr lvl="1"/>
            <a:r>
              <a:rPr lang="en-US" altLang="zh-CN" dirty="0"/>
              <a:t>Project Manager-Code Generator-HAL Settings</a:t>
            </a:r>
          </a:p>
          <a:p>
            <a:pPr lvl="1"/>
            <a:endParaRPr lang="en-US" altLang="zh-CN" dirty="0"/>
          </a:p>
          <a:p>
            <a:r>
              <a:rPr lang="en-US" altLang="zh-CN" dirty="0"/>
              <a:t>GPIO_EXTI</a:t>
            </a:r>
            <a:r>
              <a:rPr lang="zh-CN" altLang="en-US" dirty="0"/>
              <a:t>：输入电平变化触发中断或事件</a:t>
            </a:r>
            <a:endParaRPr lang="en-US" altLang="zh-CN" dirty="0"/>
          </a:p>
          <a:p>
            <a:pPr lvl="1"/>
            <a:r>
              <a:rPr lang="zh-CN" altLang="en-US" dirty="0"/>
              <a:t>注意中断号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9B077EC7-AD9C-BBF4-08D7-A736738169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74179" y="1326848"/>
            <a:ext cx="1379621" cy="5166027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BE9610FA-F0E2-D6AD-BD2B-4CC3720F74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5783" y="4251402"/>
            <a:ext cx="4420217" cy="295316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5317E025-1076-6AF3-7801-9F69A2047E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75783" y="5563289"/>
            <a:ext cx="1733792" cy="2000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54566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141369F-E4BD-EB9B-C6BD-8D0C5C2025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参考培训视频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ECE8A58-8828-C967-FE6E-9C803E96DA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CN" dirty="0"/>
              <a:t>【STM32CubeMX-GPIO</a:t>
            </a:r>
            <a:r>
              <a:rPr lang="zh-CN" altLang="en-US" dirty="0"/>
              <a:t>输出电压</a:t>
            </a:r>
            <a:r>
              <a:rPr lang="en-US" altLang="zh-CN" dirty="0"/>
              <a:t>】</a:t>
            </a:r>
          </a:p>
          <a:p>
            <a:pPr marL="0" indent="0">
              <a:buNone/>
            </a:pPr>
            <a:r>
              <a:rPr lang="en-US" altLang="zh-CN" dirty="0"/>
              <a:t>https://www.bilibili.com/video/BV1hQ4y167ri</a:t>
            </a:r>
          </a:p>
          <a:p>
            <a:pPr marL="0" indent="0">
              <a:buNone/>
            </a:pPr>
            <a:r>
              <a:rPr lang="en-US" altLang="zh-CN" dirty="0"/>
              <a:t>【STM32CubeMX-EXTI</a:t>
            </a:r>
            <a:r>
              <a:rPr lang="zh-CN" altLang="en-US" dirty="0"/>
              <a:t>外部中断</a:t>
            </a:r>
            <a:r>
              <a:rPr lang="en-US" altLang="zh-CN" dirty="0"/>
              <a:t>】</a:t>
            </a:r>
          </a:p>
          <a:p>
            <a:pPr marL="0" indent="0">
              <a:buNone/>
            </a:pPr>
            <a:r>
              <a:rPr lang="en-US" altLang="zh-CN" dirty="0"/>
              <a:t>https://www.bilibili.com/video/BV14T4y1Z7XF</a:t>
            </a:r>
          </a:p>
        </p:txBody>
      </p:sp>
    </p:spTree>
    <p:extLst>
      <p:ext uri="{BB962C8B-B14F-4D97-AF65-F5344CB8AC3E}">
        <p14:creationId xmlns:p14="http://schemas.microsoft.com/office/powerpoint/2010/main" val="296640013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4771CF7-BD01-6BBD-EB1B-62D8620877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作业</a:t>
            </a:r>
            <a:r>
              <a:rPr lang="en-US" altLang="zh-CN" dirty="0"/>
              <a:t>2-1</a:t>
            </a:r>
            <a:r>
              <a:rPr lang="zh-CN" altLang="en-US" dirty="0"/>
              <a:t>（与</a:t>
            </a:r>
            <a:r>
              <a:rPr lang="en-US" altLang="zh-CN" dirty="0"/>
              <a:t>2-2</a:t>
            </a:r>
            <a:r>
              <a:rPr lang="zh-CN" altLang="en-US" dirty="0"/>
              <a:t>二选一）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F24A74E-BB07-4410-C1BE-BDE14EA9B7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花式点灯</a:t>
            </a:r>
            <a:endParaRPr lang="en-US" altLang="zh-CN" dirty="0"/>
          </a:p>
          <a:p>
            <a:r>
              <a:rPr lang="zh-CN" altLang="en-US" dirty="0"/>
              <a:t>通过按键改变模式</a:t>
            </a:r>
            <a:endParaRPr lang="en-US" altLang="zh-CN" dirty="0"/>
          </a:p>
          <a:p>
            <a:pPr lvl="1"/>
            <a:r>
              <a:rPr lang="zh-CN" altLang="en-US" dirty="0"/>
              <a:t>常亮、常灭</a:t>
            </a:r>
            <a:endParaRPr lang="en-US" altLang="zh-CN" dirty="0"/>
          </a:p>
          <a:p>
            <a:pPr lvl="1"/>
            <a:r>
              <a:rPr lang="zh-CN" altLang="en-US" dirty="0"/>
              <a:t>呼吸灯</a:t>
            </a:r>
            <a:endParaRPr lang="en-US" altLang="zh-CN" dirty="0"/>
          </a:p>
          <a:p>
            <a:pPr lvl="1"/>
            <a:r>
              <a:rPr lang="en-US" altLang="zh-CN" dirty="0"/>
              <a:t>SOS</a:t>
            </a:r>
            <a:r>
              <a:rPr lang="zh-CN" altLang="en-US" dirty="0"/>
              <a:t>信号</a:t>
            </a:r>
            <a:endParaRPr lang="en-US" altLang="zh-CN" dirty="0"/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t>评价标准</a:t>
            </a:r>
            <a:endParaRPr kumimoji="0" lang="en-US" altLang="zh-CN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  <a:p>
            <a:pPr lvl="1"/>
            <a:r>
              <a:rPr lang="en-US" altLang="zh-CN" dirty="0" err="1"/>
              <a:t>CubeMX</a:t>
            </a:r>
            <a:r>
              <a:rPr lang="zh-CN" altLang="en-US" dirty="0"/>
              <a:t>工程</a:t>
            </a:r>
            <a:endParaRPr lang="en-US" altLang="zh-CN" dirty="0"/>
          </a:p>
          <a:p>
            <a:pPr lvl="1"/>
            <a:r>
              <a:rPr lang="zh-CN" altLang="en-US" dirty="0"/>
              <a:t>用户代码</a:t>
            </a:r>
            <a:endParaRPr lang="en-US" altLang="zh-CN" dirty="0"/>
          </a:p>
          <a:p>
            <a:pPr lvl="1"/>
            <a:r>
              <a:rPr lang="zh-CN" altLang="en-US" dirty="0"/>
              <a:t>运行效果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56055459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3E10E57-5697-B33B-135C-C1E639E292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Debug</a:t>
            </a:r>
            <a:r>
              <a:rPr lang="zh-CN" altLang="en-US" dirty="0"/>
              <a:t>思路参考</a:t>
            </a:r>
            <a:endParaRPr lang="zh-SG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056B0D9-2E73-C2AE-1E61-A7D46335DC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时钟配置</a:t>
            </a:r>
            <a:endParaRPr lang="en-US" altLang="zh-CN" dirty="0"/>
          </a:p>
          <a:p>
            <a:pPr lvl="1"/>
            <a:r>
              <a:rPr lang="zh-CN" altLang="en-US" dirty="0"/>
              <a:t>是否使用外部晶振？晶振频率？</a:t>
            </a:r>
            <a:endParaRPr lang="en-US" altLang="zh-CN" dirty="0"/>
          </a:p>
          <a:p>
            <a:pPr lvl="1"/>
            <a:r>
              <a:rPr lang="zh-CN" altLang="en-US" dirty="0"/>
              <a:t>定时器</a:t>
            </a:r>
            <a:r>
              <a:rPr lang="en-US" altLang="zh-CN" dirty="0"/>
              <a:t>APB</a:t>
            </a:r>
            <a:r>
              <a:rPr lang="zh-CN" altLang="en-US" dirty="0"/>
              <a:t>总线频率？</a:t>
            </a:r>
            <a:endParaRPr lang="en-US" altLang="zh-CN" dirty="0"/>
          </a:p>
          <a:p>
            <a:r>
              <a:rPr lang="zh-CN" altLang="en-US" dirty="0"/>
              <a:t>函数调用</a:t>
            </a:r>
            <a:endParaRPr lang="en-US" altLang="zh-CN" dirty="0"/>
          </a:p>
          <a:p>
            <a:pPr lvl="1"/>
            <a:r>
              <a:rPr lang="zh-CN" altLang="en-US" dirty="0"/>
              <a:t>调用时外设是否已经初始化？</a:t>
            </a:r>
            <a:endParaRPr lang="en-US" altLang="zh-CN" dirty="0"/>
          </a:p>
          <a:p>
            <a:pPr lvl="1"/>
            <a:r>
              <a:rPr lang="zh-CN" altLang="en-US" dirty="0"/>
              <a:t>是否在</a:t>
            </a:r>
            <a:r>
              <a:rPr lang="en-US" altLang="zh-CN" dirty="0" err="1"/>
              <a:t>CubeMX</a:t>
            </a:r>
            <a:r>
              <a:rPr lang="zh-CN" altLang="en-US" dirty="0"/>
              <a:t>的保护范围之外？</a:t>
            </a:r>
            <a:endParaRPr lang="en-US" altLang="zh-CN" dirty="0"/>
          </a:p>
          <a:p>
            <a:pPr lvl="1"/>
            <a:endParaRPr lang="en-US" altLang="zh-CN" dirty="0"/>
          </a:p>
          <a:p>
            <a:r>
              <a:rPr lang="zh-CN" altLang="en-US" dirty="0"/>
              <a:t>软件消抖</a:t>
            </a:r>
            <a:endParaRPr lang="en-US" altLang="zh-CN" dirty="0"/>
          </a:p>
          <a:p>
            <a:pPr lvl="1"/>
            <a:r>
              <a:rPr lang="zh-CN" altLang="en-US" dirty="0"/>
              <a:t>状态判断：消抖区间什么时候开始，什么时候结束？</a:t>
            </a:r>
            <a:endParaRPr lang="en-US" altLang="zh-SG" dirty="0"/>
          </a:p>
          <a:p>
            <a:endParaRPr lang="zh-SG" alt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442379F8-5A20-61F9-86F2-3267D8E81C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7204" y="4415964"/>
            <a:ext cx="4448796" cy="4001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945978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95F4ED5-6584-61D8-2C0C-28FAD9595C7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anchor="ctr"/>
          <a:lstStyle/>
          <a:p>
            <a:r>
              <a:rPr lang="en-US" altLang="zh-CN" dirty="0"/>
              <a:t>2.3 </a:t>
            </a:r>
            <a:r>
              <a:rPr lang="zh-CN" altLang="en-US" dirty="0"/>
              <a:t>定时器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30EC6E6A-1DCE-D917-D4B0-55C9B67C0F7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3255962"/>
          </a:xfrm>
        </p:spPr>
        <p:txBody>
          <a:bodyPr>
            <a:normAutofit/>
          </a:bodyPr>
          <a:lstStyle/>
          <a:p>
            <a:r>
              <a:rPr lang="zh-CN" altLang="en-US" dirty="0"/>
              <a:t>要求：</a:t>
            </a:r>
            <a:endParaRPr lang="en-US" altLang="zh-CN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dirty="0"/>
              <a:t>配置定时器时钟</a:t>
            </a:r>
            <a:endParaRPr lang="en-US" altLang="zh-CN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dirty="0"/>
              <a:t>调节更新周期和占空比</a:t>
            </a:r>
            <a:endParaRPr lang="en-US" altLang="zh-CN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dirty="0"/>
              <a:t>使用定时器中断</a:t>
            </a:r>
            <a:endParaRPr lang="en-US" altLang="zh-CN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dirty="0"/>
              <a:t>输出</a:t>
            </a:r>
            <a:r>
              <a:rPr lang="en-US" altLang="zh-CN" dirty="0"/>
              <a:t>PWM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20356137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EE20BBF-229E-5491-FD2A-71EE216630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US" altLang="zh-CN" dirty="0"/>
              <a:t>Timers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32B0CE0-39E8-DE77-B364-2D64D7447F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5564"/>
            <a:ext cx="10515600" cy="5532436"/>
          </a:xfrm>
        </p:spPr>
        <p:txBody>
          <a:bodyPr>
            <a:normAutofit/>
          </a:bodyPr>
          <a:lstStyle/>
          <a:p>
            <a:r>
              <a:rPr lang="en-US" altLang="zh-CN" dirty="0"/>
              <a:t>Clock Source</a:t>
            </a:r>
            <a:r>
              <a:rPr lang="zh-CN" altLang="en-US" dirty="0"/>
              <a:t>：定时器的计数时钟来源，一般选内部总线时钟</a:t>
            </a:r>
            <a:endParaRPr lang="en-US" altLang="zh-CN" dirty="0"/>
          </a:p>
          <a:p>
            <a:pPr lvl="1"/>
            <a:r>
              <a:rPr lang="en-US" altLang="zh-CN" dirty="0"/>
              <a:t>APB</a:t>
            </a:r>
            <a:r>
              <a:rPr lang="zh-CN" altLang="en-US" dirty="0"/>
              <a:t>分频不为</a:t>
            </a:r>
            <a:r>
              <a:rPr lang="en-US" altLang="zh-CN" dirty="0"/>
              <a:t>1</a:t>
            </a:r>
            <a:r>
              <a:rPr lang="zh-CN" altLang="en-US" dirty="0"/>
              <a:t>时一般会自动倍频</a:t>
            </a:r>
            <a:endParaRPr lang="en-US" altLang="zh-CN" dirty="0"/>
          </a:p>
          <a:p>
            <a:r>
              <a:rPr lang="en-US" altLang="zh-CN" dirty="0" err="1"/>
              <a:t>Prescaler</a:t>
            </a:r>
            <a:r>
              <a:rPr lang="zh-CN" altLang="en-US" dirty="0"/>
              <a:t>：</a:t>
            </a:r>
            <a:r>
              <a:rPr lang="zh-SG" altLang="en-US" dirty="0"/>
              <a:t>预分频器</a:t>
            </a:r>
            <a:r>
              <a:rPr lang="zh-CN" altLang="en-US" dirty="0"/>
              <a:t>，使实际时钟频率低于输入时钟</a:t>
            </a:r>
            <a:endParaRPr lang="en-US" altLang="zh-CN" dirty="0"/>
          </a:p>
          <a:p>
            <a:r>
              <a:rPr lang="en-US" altLang="zh-CN" dirty="0"/>
              <a:t>Counter Mode</a:t>
            </a:r>
            <a:r>
              <a:rPr lang="zh-CN" altLang="en-US" dirty="0"/>
              <a:t>：计数模式</a:t>
            </a:r>
            <a:endParaRPr lang="en-US" altLang="zh-CN" dirty="0"/>
          </a:p>
          <a:p>
            <a:r>
              <a:rPr lang="en-US" altLang="zh-CN" dirty="0"/>
              <a:t>Counter Period</a:t>
            </a:r>
            <a:r>
              <a:rPr lang="zh-CN" altLang="en-US" dirty="0"/>
              <a:t>：</a:t>
            </a:r>
            <a:r>
              <a:rPr lang="en-US" altLang="zh-CN" dirty="0"/>
              <a:t>ARR</a:t>
            </a:r>
            <a:r>
              <a:rPr lang="zh-CN" altLang="en-US" dirty="0"/>
              <a:t>（</a:t>
            </a:r>
            <a:r>
              <a:rPr lang="en-US" altLang="zh-CN" dirty="0"/>
              <a:t>Auto-Reload Register</a:t>
            </a:r>
            <a:r>
              <a:rPr lang="zh-CN" altLang="en-US" dirty="0"/>
              <a:t>，自动重装载寄存器）值</a:t>
            </a:r>
            <a:endParaRPr lang="en-US" altLang="zh-CN" dirty="0"/>
          </a:p>
          <a:p>
            <a:pPr lvl="1"/>
            <a:r>
              <a:rPr lang="en-US" altLang="zh-CN" dirty="0"/>
              <a:t>Update Period = (</a:t>
            </a:r>
            <a:r>
              <a:rPr lang="en-US" altLang="zh-CN" dirty="0" err="1"/>
              <a:t>Prescaler</a:t>
            </a:r>
            <a:r>
              <a:rPr lang="en-US" altLang="zh-CN" dirty="0"/>
              <a:t> + 1) * (Counter Period + 1) / Timer Clock</a:t>
            </a:r>
          </a:p>
          <a:p>
            <a:r>
              <a:rPr lang="en-US" altLang="zh-CN" dirty="0"/>
              <a:t>Internal Clock Division</a:t>
            </a:r>
            <a:r>
              <a:rPr lang="zh-CN" altLang="en-US" dirty="0"/>
              <a:t>：内部时钟分频</a:t>
            </a:r>
            <a:endParaRPr lang="en-US" altLang="zh-CN" dirty="0"/>
          </a:p>
          <a:p>
            <a:r>
              <a:rPr lang="en-US" altLang="zh-CN" dirty="0"/>
              <a:t>Auto-reload preload</a:t>
            </a:r>
            <a:r>
              <a:rPr lang="zh-CN" altLang="en-US" dirty="0"/>
              <a:t>：预装载（</a:t>
            </a:r>
            <a:r>
              <a:rPr lang="en-US" altLang="zh-CN" dirty="0"/>
              <a:t>ARR</a:t>
            </a:r>
            <a:r>
              <a:rPr lang="zh-CN" altLang="en-US" dirty="0"/>
              <a:t>值修改到下次更新才生效）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4164895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CA25830-E35A-961F-7DA1-B5E8918E1C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PWM</a:t>
            </a:r>
            <a:endParaRPr lang="zh-SG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C77BC73-3A93-5BED-D7A9-D8537F7EAF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Mode</a:t>
            </a:r>
          </a:p>
          <a:p>
            <a:pPr lvl="1"/>
            <a:r>
              <a:rPr lang="en-US" altLang="zh-CN" dirty="0"/>
              <a:t>PWM mode 1</a:t>
            </a:r>
            <a:r>
              <a:rPr lang="zh-CN" altLang="en-US" dirty="0"/>
              <a:t>：</a:t>
            </a:r>
            <a:r>
              <a:rPr lang="zh-SG" altLang="en-US" dirty="0"/>
              <a:t>当 </a:t>
            </a:r>
            <a:r>
              <a:rPr lang="en-US" altLang="zh-CN" dirty="0"/>
              <a:t>CNT &lt; CCR </a:t>
            </a:r>
            <a:r>
              <a:rPr lang="zh-SG" altLang="en-US" dirty="0"/>
              <a:t>时输出有效电平</a:t>
            </a:r>
            <a:endParaRPr lang="en-US" altLang="zh-SG" dirty="0"/>
          </a:p>
          <a:p>
            <a:pPr lvl="1"/>
            <a:r>
              <a:rPr lang="en-US" altLang="zh-CN" dirty="0"/>
              <a:t>PWM mode 2</a:t>
            </a:r>
            <a:r>
              <a:rPr lang="zh-CN" altLang="en-US" dirty="0"/>
              <a:t>：</a:t>
            </a:r>
            <a:r>
              <a:rPr lang="zh-SG" altLang="en-US" dirty="0"/>
              <a:t>当 </a:t>
            </a:r>
            <a:r>
              <a:rPr lang="en-US" altLang="zh-CN" dirty="0"/>
              <a:t>CNT &lt; CCR </a:t>
            </a:r>
            <a:r>
              <a:rPr lang="zh-SG" altLang="en-US" dirty="0"/>
              <a:t>时输出无效电平</a:t>
            </a:r>
            <a:endParaRPr lang="en-US" altLang="zh-CN" dirty="0"/>
          </a:p>
          <a:p>
            <a:r>
              <a:rPr lang="en-US" altLang="zh-CN" dirty="0"/>
              <a:t>Pulse</a:t>
            </a:r>
            <a:r>
              <a:rPr lang="zh-CN" altLang="en-US" dirty="0"/>
              <a:t>：比较寄存器 </a:t>
            </a:r>
            <a:r>
              <a:rPr lang="en-US" altLang="zh-CN" dirty="0"/>
              <a:t>CCR </a:t>
            </a:r>
            <a:r>
              <a:rPr lang="zh-CN" altLang="en-US" dirty="0"/>
              <a:t>的初始值</a:t>
            </a:r>
            <a:endParaRPr lang="en-US" altLang="zh-CN" dirty="0"/>
          </a:p>
          <a:p>
            <a:r>
              <a:rPr lang="en-US" altLang="zh-CN" dirty="0"/>
              <a:t>Output compare preload</a:t>
            </a:r>
            <a:r>
              <a:rPr lang="zh-CN" altLang="en-US" dirty="0"/>
              <a:t>：</a:t>
            </a:r>
            <a:r>
              <a:rPr lang="en-US" altLang="zh-CN" dirty="0"/>
              <a:t>CCR </a:t>
            </a:r>
            <a:r>
              <a:rPr lang="zh-CN" altLang="en-US" dirty="0"/>
              <a:t>是否启用预装载（下次更新时才修改</a:t>
            </a:r>
            <a:r>
              <a:rPr lang="en-US" altLang="zh-CN" dirty="0"/>
              <a:t>CCR</a:t>
            </a:r>
            <a:r>
              <a:rPr lang="zh-CN" altLang="en-US" dirty="0"/>
              <a:t>值）</a:t>
            </a:r>
            <a:endParaRPr lang="en-US" altLang="zh-CN" dirty="0"/>
          </a:p>
          <a:p>
            <a:r>
              <a:rPr lang="en-US" altLang="zh-CN" dirty="0"/>
              <a:t>Fast Mode</a:t>
            </a:r>
            <a:r>
              <a:rPr lang="zh-CN" altLang="en-US" dirty="0"/>
              <a:t>：输出比较快速模式</a:t>
            </a:r>
            <a:endParaRPr lang="en-US" altLang="zh-CN" dirty="0"/>
          </a:p>
          <a:p>
            <a:r>
              <a:rPr lang="en-US" altLang="zh-CN" dirty="0"/>
              <a:t>CH Polarity</a:t>
            </a:r>
            <a:r>
              <a:rPr lang="zh-CN" altLang="en-US" dirty="0"/>
              <a:t>：通道输出极性（高电平有效或低电平有效）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1808433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E1CEF62-45B6-E53F-F642-9B72A7AA13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参考培训视频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4D588DD-0464-1DBC-DAEE-B5ABA8DF04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CN" dirty="0"/>
              <a:t>【STM32CubeMX-TIM</a:t>
            </a:r>
            <a:r>
              <a:rPr lang="zh-CN" altLang="en-US" dirty="0"/>
              <a:t>定时器中断</a:t>
            </a:r>
            <a:r>
              <a:rPr lang="en-US" altLang="zh-CN" dirty="0"/>
              <a:t>】</a:t>
            </a:r>
          </a:p>
          <a:p>
            <a:pPr marL="0" indent="0">
              <a:buNone/>
            </a:pPr>
            <a:r>
              <a:rPr lang="en-US" altLang="zh-CN" dirty="0"/>
              <a:t>https://www.bilibili.com/video/BV1qQ4y167u9</a:t>
            </a:r>
          </a:p>
          <a:p>
            <a:pPr marL="0" indent="0">
              <a:buNone/>
            </a:pPr>
            <a:r>
              <a:rPr lang="en-US" altLang="zh-CN" dirty="0"/>
              <a:t>【STM32CubeMX-PWM</a:t>
            </a:r>
            <a:r>
              <a:rPr lang="zh-CN" altLang="en-US" dirty="0"/>
              <a:t>呼吸灯</a:t>
            </a:r>
            <a:r>
              <a:rPr lang="en-US" altLang="zh-CN" dirty="0"/>
              <a:t>】</a:t>
            </a:r>
          </a:p>
          <a:p>
            <a:pPr marL="0" indent="0">
              <a:buNone/>
            </a:pPr>
            <a:r>
              <a:rPr lang="en-US" altLang="zh-CN" dirty="0"/>
              <a:t>https://www.bilibili.com/video/BV1gR4y1H7XP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17716445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492938D-BD20-16A6-BACE-481DA6D117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作业</a:t>
            </a:r>
            <a:r>
              <a:rPr lang="en-US" altLang="zh-CN" dirty="0"/>
              <a:t>2-2</a:t>
            </a:r>
            <a:r>
              <a:rPr lang="zh-CN" altLang="en-US" dirty="0"/>
              <a:t>（与</a:t>
            </a:r>
            <a:r>
              <a:rPr lang="en-US" altLang="zh-CN" dirty="0"/>
              <a:t>2-1</a:t>
            </a:r>
            <a:r>
              <a:rPr lang="zh-CN" altLang="en-US" dirty="0"/>
              <a:t>二选一）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12AFE1D-9752-84CE-ABDE-CE5A0385FB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蜂鸣器唱歌</a:t>
            </a:r>
            <a:endParaRPr lang="en-US" altLang="zh-CN" dirty="0"/>
          </a:p>
          <a:p>
            <a:r>
              <a:rPr lang="zh-CN" altLang="en-US" dirty="0"/>
              <a:t>借助互联网搜索音符对应频率</a:t>
            </a:r>
            <a:endParaRPr lang="en-US" altLang="zh-CN" dirty="0"/>
          </a:p>
          <a:p>
            <a:r>
              <a:rPr lang="zh-CN" altLang="en-US" dirty="0"/>
              <a:t>通过</a:t>
            </a:r>
            <a:r>
              <a:rPr lang="en-US" altLang="zh-CN" dirty="0"/>
              <a:t>PWM</a:t>
            </a:r>
            <a:r>
              <a:rPr lang="zh-CN" altLang="en-US" dirty="0"/>
              <a:t>周期和占空比调节音调和响度</a:t>
            </a:r>
            <a:endParaRPr lang="en-US" altLang="zh-CN" dirty="0"/>
          </a:p>
          <a:p>
            <a:r>
              <a:rPr lang="zh-CN" altLang="en-US" dirty="0"/>
              <a:t>短按按钮切换播放</a:t>
            </a:r>
            <a:r>
              <a:rPr lang="en-US" altLang="zh-CN" dirty="0"/>
              <a:t>/</a:t>
            </a:r>
            <a:r>
              <a:rPr lang="zh-CN" altLang="en-US" dirty="0"/>
              <a:t>暂停，长按按钮切换是否单曲循环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12385388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EAD1EA4-1ACC-43B4-4FBB-88E287B767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Debug</a:t>
            </a:r>
            <a:r>
              <a:rPr lang="zh-CN" altLang="en-US" dirty="0"/>
              <a:t>思路参考</a:t>
            </a:r>
            <a:endParaRPr lang="zh-SG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6609A5D-307D-B827-21EC-BE6CB2F0D8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时钟源配置不正确？</a:t>
            </a:r>
            <a:endParaRPr lang="en-US" altLang="zh-CN" dirty="0"/>
          </a:p>
          <a:p>
            <a:r>
              <a:rPr lang="en-US" altLang="zh-CN" dirty="0"/>
              <a:t>PWM</a:t>
            </a:r>
            <a:r>
              <a:rPr lang="zh-CN" altLang="en-US" dirty="0"/>
              <a:t>输出未启动？</a:t>
            </a:r>
            <a:endParaRPr lang="en-US" altLang="zh-CN" dirty="0"/>
          </a:p>
          <a:p>
            <a:pPr lvl="1"/>
            <a:r>
              <a:rPr lang="en-GB" altLang="zh-SG" dirty="0"/>
              <a:t>https://sourcevu.sysprogs.com/stm32/HAL/symbols/HAL_TIM_PWM_Start</a:t>
            </a:r>
          </a:p>
          <a:p>
            <a:pPr marL="457200" lvl="1" indent="0">
              <a:buNone/>
            </a:pPr>
            <a:r>
              <a:rPr lang="en-US" altLang="zh-CN" dirty="0"/>
              <a:t>	</a:t>
            </a:r>
            <a:r>
              <a:rPr lang="zh-CN" altLang="en-US" dirty="0"/>
              <a:t>一个很好用的</a:t>
            </a:r>
            <a:r>
              <a:rPr lang="en-US" altLang="zh-CN" dirty="0"/>
              <a:t>HAL</a:t>
            </a:r>
            <a:r>
              <a:rPr lang="zh-CN" altLang="en-US" dirty="0"/>
              <a:t>库</a:t>
            </a:r>
            <a:r>
              <a:rPr lang="en-US" altLang="zh-CN" dirty="0"/>
              <a:t>API</a:t>
            </a:r>
            <a:r>
              <a:rPr lang="zh-CN" altLang="en-US" dirty="0"/>
              <a:t>查询网站</a:t>
            </a:r>
            <a:endParaRPr lang="zh-SG" altLang="en-US" dirty="0"/>
          </a:p>
        </p:txBody>
      </p:sp>
    </p:spTree>
    <p:extLst>
      <p:ext uri="{BB962C8B-B14F-4D97-AF65-F5344CB8AC3E}">
        <p14:creationId xmlns:p14="http://schemas.microsoft.com/office/powerpoint/2010/main" val="25129813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484</TotalTime>
  <Words>1697</Words>
  <PresentationFormat>宽屏</PresentationFormat>
  <Paragraphs>117</Paragraphs>
  <Slides>22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22</vt:i4>
      </vt:variant>
    </vt:vector>
  </HeadingPairs>
  <TitlesOfParts>
    <vt:vector size="26" baseType="lpstr">
      <vt:lpstr>等线</vt:lpstr>
      <vt:lpstr>等线 Light</vt:lpstr>
      <vt:lpstr>Arial</vt:lpstr>
      <vt:lpstr>Office 主题​​</vt:lpstr>
      <vt:lpstr>2.0 工具链配置</vt:lpstr>
      <vt:lpstr>嵌入式工具链简介</vt:lpstr>
      <vt:lpstr>从代码到机器执行</vt:lpstr>
      <vt:lpstr>代码生成工具 CubeMX</vt:lpstr>
      <vt:lpstr>编辑器与集成开发环境</vt:lpstr>
      <vt:lpstr>编译器</vt:lpstr>
      <vt:lpstr>调试器与下载工具</vt:lpstr>
      <vt:lpstr>工具链组合1：CubeMX+AC6+Keil</vt:lpstr>
      <vt:lpstr>工具链组合2：CubeMX+Clion+CubeCLT+OpenOCD</vt:lpstr>
      <vt:lpstr>开发板资料</vt:lpstr>
      <vt:lpstr>2.1 程序执行流程</vt:lpstr>
      <vt:lpstr>2.2 GPIO输入输出</vt:lpstr>
      <vt:lpstr>GPIO：General Purpose Input/Output</vt:lpstr>
      <vt:lpstr>参考培训视频</vt:lpstr>
      <vt:lpstr>作业2-1（与2-2二选一）</vt:lpstr>
      <vt:lpstr>Debug思路参考</vt:lpstr>
      <vt:lpstr>2.3 定时器</vt:lpstr>
      <vt:lpstr>Timers</vt:lpstr>
      <vt:lpstr>PWM</vt:lpstr>
      <vt:lpstr>参考培训视频</vt:lpstr>
      <vt:lpstr>作业2-2（与2-1二选一）</vt:lpstr>
      <vt:lpstr>Debug思路参考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terms:created xsi:type="dcterms:W3CDTF">2026-07-05T07:41:02Z</dcterms:created>
  <dcterms:modified xsi:type="dcterms:W3CDTF">2026-07-07T06:44:56Z</dcterms:modified>
</cp:coreProperties>
</file>