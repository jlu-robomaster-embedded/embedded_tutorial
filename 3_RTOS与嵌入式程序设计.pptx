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5" r:id="rId8"/>
    <p:sldId id="276" r:id="rId9"/>
    <p:sldId id="277" r:id="rId10"/>
    <p:sldId id="278" r:id="rId11"/>
    <p:sldId id="273" r:id="rId12"/>
    <p:sldId id="283" r:id="rId13"/>
    <p:sldId id="284" r:id="rId14"/>
    <p:sldId id="285" r:id="rId15"/>
    <p:sldId id="279" r:id="rId16"/>
    <p:sldId id="286" r:id="rId17"/>
    <p:sldId id="262" r:id="rId18"/>
    <p:sldId id="263" r:id="rId19"/>
    <p:sldId id="288" r:id="rId20"/>
    <p:sldId id="275" r:id="rId21"/>
    <p:sldId id="282" r:id="rId22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E2020-2E11-15EB-59FA-F656F8B29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3D70AA-00E2-6E08-ECB8-E44B9009B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CEDA7-F65C-6558-23C1-91144EA6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EE2CDC-B6B8-174D-CF46-A2A2FD04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6CF8BF-C4D8-DF86-56A3-6837215E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1156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3FE30-BA52-8DE4-EA74-9CD74E45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EFEE2-14BE-410B-49FA-75BA30F92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4C7E6-FA1D-1EE4-26E0-71B8BEE5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EE52E5-4366-C5EE-C500-45CE5080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56EEC9-AE4B-4D98-62ED-C3B53FD7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584392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01812-89F8-4A88-68BB-AA4C308D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611D7E-4D48-EE98-812E-DA9D5BDF1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992AC-F899-B66A-F24D-6966BE9A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C5FF06-DD9B-DEE4-0BA4-A7F19A0F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641C5-B34B-95ED-549D-9D08CFE2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5548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35B4F-119F-3FAA-D3F5-FB60B87E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6B0A92-D1EC-AA3F-9495-5135DB395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BC09D9-7A44-3CF9-9E0E-72232071D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A8F59C-16BC-CF0D-8265-DD95D2EE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895D14-A5EE-9301-36F6-55ACEDB6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F55732-58B9-2273-66B0-BCABBBE6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98737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5C338-A538-C7B4-E980-CE5E2F32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C90863-B63E-B1D9-E3CA-961BA848B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8806E3-5F7A-8D0F-41B9-DA7B566F8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E9E535-8F6E-F91E-7E62-BA09087B4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D08481-E4BD-8623-61D4-92D4D203B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80CC15-A0CC-705D-556E-A2F00A93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FD36D5-F2DE-7552-B1F4-B50F1DF4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8598B8-70C1-FF60-C3BF-67C18B44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8612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41C7B-2EA1-2A49-84AD-73F28611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343FB5-78A8-58D6-788C-A1EE8863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CE9DE9-F6C8-AD1E-8CE6-84406A52F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CAEE22-2E05-7C43-E8D7-FB65034C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1752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D562B-EB21-7BF8-2C05-62186DA8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66EAF5-0ABB-6F27-371D-A0197820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F58C77-CAF2-628F-D98D-6B313480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2885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4A438-2332-0916-CAF7-9173B76A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FC80AF-FD55-DDD2-6E27-6023CFAAC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F756AE-E37E-F8E5-1E10-19F5EECE8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64BBD9-6AE3-3FD8-00B6-C8AF7000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ACA004-4EC8-47EC-368B-16555A3C6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93C144-F356-C5B1-33B8-44D79E83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90683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F539D-DF45-C511-4561-D289DC0FA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912798-E5E5-3AC8-A74E-39D0ABFC2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C78894-C4F3-5A84-C008-7DCC355A4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CB8B6A-02BF-9E10-B22A-79672EE2C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A94222-2FE1-9047-E909-90372937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ADBFFF-A96B-408E-2AE1-28F71DE6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6334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1C14F-65C1-2AE6-4E38-E1FFD385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1B36B-DFE7-D458-7579-CCE1B9D31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320E2B-8BEB-5746-857D-E2376194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C46711-9BFE-3710-E03C-4EB7DA96A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15FDFF-4AE2-9C3B-CB0F-46648533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61883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2ABF02-2D0D-4D87-7D4F-0BF90F29D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E6A512-4C45-B264-BCA7-A2C3B1787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34BF3B-5298-98F4-0E9C-303D6CC8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892272-7E97-592D-FB9D-E1F76ABC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0CB532-25F6-87E1-32F8-D235786C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10859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1799F2-1B4A-0981-C92E-D733B327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98CBEF-DD2A-EBF2-1DC1-7152C5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C8B663-8190-EA90-4B0E-08D97B8B4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C1FC0-184B-423F-A6A0-E4853DE7D68D}" type="datetimeFigureOut">
              <a:rPr lang="zh-SG" altLang="en-US" smtClean="0"/>
              <a:t>2026/07/12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BDA5E-5C72-F32E-5E72-3AD2CF9C3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BF15D-C749-5B1B-8C1F-799167888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D7618-7BB0-4A69-B7B5-3568B8CB323D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83498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9711C-D1B8-55F9-1B71-29C18CF98A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SG" dirty="0"/>
              <a:t>3.1 </a:t>
            </a:r>
            <a:r>
              <a:rPr lang="en-US" altLang="zh-CN" dirty="0" err="1"/>
              <a:t>FreeRTOS</a:t>
            </a:r>
            <a:r>
              <a:rPr lang="zh-CN" altLang="en-US" dirty="0"/>
              <a:t>简介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9C9206-43B0-2FF2-2BF6-518CEB28B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/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了解任务调度机制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合理分配任务堆栈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合理分配任务优先级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70647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1D100-FDC2-E966-2DD7-DD5474B1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F78CF6-8CE6-0BCB-6D3D-9566C4BA8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zh-CN" altLang="en-US" dirty="0"/>
              <a:t>每个任务在自己的上下文中执行，不会碰巧依赖于系统内的其他任务或</a:t>
            </a:r>
            <a:r>
              <a:rPr lang="en-US" altLang="zh-CN" dirty="0"/>
              <a:t>RTOS</a:t>
            </a:r>
            <a:r>
              <a:rPr lang="zh-CN" altLang="en-US" dirty="0"/>
              <a:t>调度器本身。在任何时间点，应用程序中只能执行一个任务，实时</a:t>
            </a:r>
            <a:r>
              <a:rPr lang="en-US" altLang="zh-CN" dirty="0"/>
              <a:t>RTOS</a:t>
            </a:r>
            <a:r>
              <a:rPr lang="zh-CN" altLang="en-US" dirty="0"/>
              <a:t>调度器负责决定应该执行哪个任务。因此 </a:t>
            </a:r>
            <a:r>
              <a:rPr lang="en-US" altLang="zh-CN" dirty="0"/>
              <a:t>RTOS </a:t>
            </a:r>
            <a:r>
              <a:rPr lang="zh-CN" altLang="en-US" dirty="0"/>
              <a:t>调度器可能在应用程序执行过程中反复启动并停止每个任务（换入并换出每个任务）。由于任务不了解</a:t>
            </a:r>
            <a:r>
              <a:rPr lang="en-US" altLang="zh-CN" dirty="0"/>
              <a:t>RTOS</a:t>
            </a:r>
            <a:r>
              <a:rPr lang="zh-CN" altLang="en-US" dirty="0"/>
              <a:t>调度器的情况，实时</a:t>
            </a:r>
            <a:r>
              <a:rPr lang="en-US" altLang="zh-CN" dirty="0"/>
              <a:t>RTOS</a:t>
            </a:r>
            <a:r>
              <a:rPr lang="zh-CN" altLang="en-US" dirty="0"/>
              <a:t>调度器须确保换入任务时，处理器的上下文（寄存器 值、堆栈内容等）与换出该任务时完全相同。 为实现这一点，每个任务都分配有自己的堆栈。换出任务时，执行上下文被保存到该任务的堆栈中，以便以后再换入相同的任务时可以准确地恢复其执行上下文。</a:t>
            </a:r>
            <a:endParaRPr lang="en-US" altLang="zh-CN" dirty="0"/>
          </a:p>
          <a:p>
            <a:pPr marL="457200" lvl="1" indent="0">
              <a:buNone/>
            </a:pPr>
            <a:r>
              <a:rPr lang="en-GB" altLang="zh-SG" dirty="0"/>
              <a:t>https://www.freertos.org/zh-cn-cmn-s/Documentation/02-Kernel/02-Kernel-features/01-Tasks-and-co-routines/00-Tasks-and-co-routines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36089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1287E-BB63-CEA1-1D2D-0D1B4D8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任务的状态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22F12-451B-577A-1554-6727A696B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2"/>
            <a:ext cx="8477250" cy="5532437"/>
          </a:xfrm>
        </p:spPr>
        <p:txBody>
          <a:bodyPr/>
          <a:lstStyle/>
          <a:p>
            <a:r>
              <a:rPr lang="zh-CN" altLang="en-US" dirty="0"/>
              <a:t>运行</a:t>
            </a:r>
            <a:endParaRPr lang="en-US" altLang="zh-CN" dirty="0"/>
          </a:p>
          <a:p>
            <a:pPr lvl="1"/>
            <a:r>
              <a:rPr lang="zh-CN" altLang="en-US" dirty="0"/>
              <a:t>任务当前正在占用</a:t>
            </a:r>
            <a:r>
              <a:rPr lang="en-US" altLang="zh-CN" dirty="0"/>
              <a:t>CPU</a:t>
            </a:r>
            <a:r>
              <a:rPr lang="zh-CN" altLang="en-US" dirty="0"/>
              <a:t>。 如果运行</a:t>
            </a:r>
            <a:r>
              <a:rPr lang="en-US" altLang="zh-CN" dirty="0"/>
              <a:t>RTOS</a:t>
            </a:r>
            <a:r>
              <a:rPr lang="zh-CN" altLang="en-US" dirty="0"/>
              <a:t>的处理器只有一个内核，那么只能有一个任务处于运行状态。</a:t>
            </a:r>
            <a:endParaRPr lang="en-US" altLang="zh-CN" dirty="0"/>
          </a:p>
          <a:p>
            <a:r>
              <a:rPr lang="zh-CN" altLang="en-US" dirty="0"/>
              <a:t>就绪</a:t>
            </a:r>
            <a:endParaRPr lang="en-US" altLang="zh-CN" dirty="0"/>
          </a:p>
          <a:p>
            <a:pPr lvl="1"/>
            <a:r>
              <a:rPr lang="zh-CN" altLang="en-US" dirty="0"/>
              <a:t>任务不处于阻塞或挂起状态，能够执行但目前没有执行， 因为同等或更高优先级的不同任务已经处于运行状态。</a:t>
            </a:r>
            <a:endParaRPr lang="en-US" altLang="zh-CN" dirty="0"/>
          </a:p>
          <a:p>
            <a:r>
              <a:rPr lang="zh-CN" altLang="en-US" dirty="0"/>
              <a:t>阻塞</a:t>
            </a:r>
            <a:endParaRPr lang="en-US" altLang="zh-CN" dirty="0"/>
          </a:p>
          <a:p>
            <a:pPr lvl="1"/>
            <a:r>
              <a:rPr lang="zh-CN" altLang="en-US" dirty="0"/>
              <a:t>任务等待时间或外部事件，不占用</a:t>
            </a:r>
            <a:r>
              <a:rPr lang="en-US" altLang="zh-CN" dirty="0"/>
              <a:t>CPU</a:t>
            </a:r>
            <a:r>
              <a:rPr lang="zh-CN" altLang="en-US" dirty="0"/>
              <a:t>，不能进入运行状态。通常有超时设置， 超时后任务将被解除阻塞， 即使该任务所等待的事件没有发生。</a:t>
            </a:r>
            <a:endParaRPr lang="en-US" altLang="zh-CN" dirty="0"/>
          </a:p>
          <a:p>
            <a:r>
              <a:rPr lang="zh-CN" altLang="en-US" dirty="0"/>
              <a:t>挂起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API</a:t>
            </a:r>
            <a:r>
              <a:rPr lang="zh-CN" altLang="en-US" dirty="0"/>
              <a:t>主动调用进入和离开，期间不能进入运行状态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6F5F75-0DCD-2B86-F2EF-D770FF31F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250" y="1690688"/>
            <a:ext cx="3714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6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00DE4-E48C-9599-2625-D9784939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任务调度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FC53A-08BB-822D-AAB4-0047433E0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FreeRTOS</a:t>
            </a:r>
            <a:r>
              <a:rPr lang="zh-CN" altLang="en-US" dirty="0"/>
              <a:t>默认使用固定优先级的抢占式调度策略，对同等优先级的任务执行时间切片轮询调度</a:t>
            </a:r>
            <a:endParaRPr lang="en-US" altLang="zh-CN" dirty="0"/>
          </a:p>
          <a:p>
            <a:r>
              <a:rPr lang="zh-CN" altLang="en-US" dirty="0"/>
              <a:t>“固定优先级”指调度器不会永久更改任务的优先级，但可能因优先级继承而暂时提高任务的优先级</a:t>
            </a:r>
            <a:endParaRPr lang="en-US" altLang="zh-CN" dirty="0"/>
          </a:p>
          <a:p>
            <a:r>
              <a:rPr lang="zh-CN" altLang="en-US" dirty="0"/>
              <a:t>“抢占式”是指调度器始终运行优先级最高且可运行的</a:t>
            </a:r>
            <a:r>
              <a:rPr lang="en-US" altLang="zh-CN" dirty="0"/>
              <a:t>RTOS</a:t>
            </a:r>
            <a:r>
              <a:rPr lang="zh-CN" altLang="en-US" dirty="0"/>
              <a:t>任务，调度器会停止当前正在运行的低优先级任务并启动高优先级任务，即高优先级任务 “抢占”了低优先级任务，即使在同一个时间片内</a:t>
            </a:r>
          </a:p>
          <a:p>
            <a:r>
              <a:rPr lang="zh-CN" altLang="en-US" dirty="0"/>
              <a:t>“轮询调度”是指具有相同优先级的任务轮流进入运行状态</a:t>
            </a:r>
          </a:p>
          <a:p>
            <a:r>
              <a:rPr lang="zh-CN" altLang="en-US" dirty="0"/>
              <a:t>“时间切片”是指调度器会在每个</a:t>
            </a:r>
            <a:r>
              <a:rPr lang="en-US" altLang="zh-CN" dirty="0"/>
              <a:t>tick</a:t>
            </a:r>
            <a:r>
              <a:rPr lang="zh-CN" altLang="en-US" dirty="0"/>
              <a:t>中断上在同等优先级任务之间进行切换，</a:t>
            </a:r>
            <a:r>
              <a:rPr lang="en-US" altLang="zh-CN" dirty="0"/>
              <a:t>tick</a:t>
            </a:r>
            <a:r>
              <a:rPr lang="zh-CN" altLang="en-US" dirty="0"/>
              <a:t>中断之间的时间构成一个时间切片（</a:t>
            </a:r>
            <a:r>
              <a:rPr lang="en-US" altLang="zh-CN" dirty="0"/>
              <a:t>tick</a:t>
            </a:r>
            <a:r>
              <a:rPr lang="zh-CN" altLang="en-US" dirty="0"/>
              <a:t>中断是</a:t>
            </a:r>
            <a:r>
              <a:rPr lang="en-US" altLang="zh-CN" dirty="0"/>
              <a:t>RTOS</a:t>
            </a:r>
            <a:r>
              <a:rPr lang="zh-CN" altLang="en-US" dirty="0"/>
              <a:t>用来衡量时间的周期性中断）</a:t>
            </a:r>
          </a:p>
        </p:txBody>
      </p:sp>
    </p:spTree>
    <p:extLst>
      <p:ext uri="{BB962C8B-B14F-4D97-AF65-F5344CB8AC3E}">
        <p14:creationId xmlns:p14="http://schemas.microsoft.com/office/powerpoint/2010/main" val="1642520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83F07-CEF5-CE15-F8C9-0CE98A1B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任务通知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4D1DBA-7206-C41D-7B20-635D8169A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优势</a:t>
            </a:r>
            <a:endParaRPr lang="en-US" altLang="zh-CN" dirty="0"/>
          </a:p>
          <a:p>
            <a:pPr lvl="1"/>
            <a:r>
              <a:rPr lang="zh-CN" altLang="en-US" dirty="0"/>
              <a:t>与通过诸如二进制信号量等中间对象来解除任务阻塞状态相比，通过直接通知解除</a:t>
            </a:r>
            <a:r>
              <a:rPr lang="en-US" altLang="zh-CN" dirty="0"/>
              <a:t>RTOS</a:t>
            </a:r>
            <a:r>
              <a:rPr lang="zh-CN" altLang="en-US" dirty="0"/>
              <a:t>任务阻塞状态的速度快</a:t>
            </a:r>
            <a:r>
              <a:rPr lang="en-US" altLang="zh-CN" dirty="0"/>
              <a:t>45%</a:t>
            </a:r>
            <a:r>
              <a:rPr lang="zh-CN" altLang="en-US" dirty="0"/>
              <a:t>，使用的</a:t>
            </a:r>
            <a:r>
              <a:rPr lang="en-US" altLang="zh-CN" dirty="0"/>
              <a:t>RAM</a:t>
            </a:r>
            <a:r>
              <a:rPr lang="zh-CN" altLang="en-US" dirty="0"/>
              <a:t>也更少</a:t>
            </a:r>
            <a:endParaRPr lang="en-US" altLang="zh-CN" dirty="0"/>
          </a:p>
          <a:p>
            <a:r>
              <a:rPr lang="zh-CN" altLang="en-US" dirty="0"/>
              <a:t>限制</a:t>
            </a:r>
            <a:endParaRPr lang="en-US" altLang="zh-CN" dirty="0"/>
          </a:p>
          <a:p>
            <a:pPr lvl="1"/>
            <a:r>
              <a:rPr lang="en-US" altLang="zh-CN" dirty="0"/>
              <a:t>RTOS</a:t>
            </a:r>
            <a:r>
              <a:rPr lang="zh-CN" altLang="en-US" dirty="0"/>
              <a:t>任务通知仅可在只有一个任务可以接收事件时使用，比如，中断解除了一个任务的阻塞状态，该任务将处理由中断接收的数据。</a:t>
            </a:r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RTOS</a:t>
            </a:r>
            <a:r>
              <a:rPr lang="zh-CN" altLang="en-US" dirty="0"/>
              <a:t>任务通知代替队列时，当某个接收任务可在阻塞状态下等待通知（因而不花费任何</a:t>
            </a:r>
            <a:r>
              <a:rPr lang="en-US" altLang="zh-CN" dirty="0"/>
              <a:t>CPU</a:t>
            </a:r>
            <a:r>
              <a:rPr lang="zh-CN" altLang="en-US" dirty="0"/>
              <a:t>时间）时，发送任务不能在阻塞状态下等待发送完成（如果发送不能立刻完成）。</a:t>
            </a:r>
            <a:endParaRPr lang="en-US" altLang="zh-CN" dirty="0"/>
          </a:p>
          <a:p>
            <a:pPr marL="457200" lvl="1" indent="0">
              <a:buNone/>
            </a:pPr>
            <a:r>
              <a:rPr lang="en-GB" altLang="zh-CN" dirty="0"/>
              <a:t>https://www.freertos.org/zh-cn-cmn-s/Documentation/02-Kernel/02-Kernel-features/03-Direct-to-task-notifications/01-Task-notifications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03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74FE3F7-CF7B-E42C-9885-E34259FC5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160" y="2999563"/>
            <a:ext cx="4200840" cy="218443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A2E1418-8606-8FE2-D0DC-B5667972F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延迟中断处理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918CE-E829-29E0-B3B2-996C720F6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532436"/>
          </a:xfrm>
        </p:spPr>
        <p:txBody>
          <a:bodyPr>
            <a:normAutofit/>
          </a:bodyPr>
          <a:lstStyle/>
          <a:p>
            <a:r>
              <a:rPr lang="zh-CN" altLang="en-US" dirty="0"/>
              <a:t>中断服务程序 </a:t>
            </a:r>
            <a:r>
              <a:rPr lang="en-US" altLang="zh-CN" dirty="0"/>
              <a:t>(ISR) </a:t>
            </a:r>
            <a:r>
              <a:rPr lang="zh-CN" altLang="en-US" dirty="0"/>
              <a:t>解除阻塞（触发）</a:t>
            </a:r>
            <a:r>
              <a:rPr lang="en-US" altLang="zh-CN" dirty="0"/>
              <a:t>RTOS</a:t>
            </a:r>
            <a:r>
              <a:rPr lang="zh-CN" altLang="en-US" dirty="0"/>
              <a:t>任务，此时中断所需要的处理可以在解除阻塞的任务中，而不是直接在</a:t>
            </a:r>
            <a:r>
              <a:rPr lang="en-US" altLang="zh-CN" dirty="0"/>
              <a:t>ISR</a:t>
            </a:r>
            <a:r>
              <a:rPr lang="zh-CN" altLang="en-US" dirty="0"/>
              <a:t>中执行 。</a:t>
            </a:r>
            <a:endParaRPr lang="en-US" altLang="zh-CN" dirty="0"/>
          </a:p>
          <a:p>
            <a:r>
              <a:rPr lang="zh-CN" altLang="en-US" dirty="0"/>
              <a:t>解除阻塞并切换到</a:t>
            </a:r>
            <a:r>
              <a:rPr lang="en-US" altLang="zh-CN" dirty="0"/>
              <a:t>RTOS</a:t>
            </a:r>
            <a:r>
              <a:rPr lang="zh-CN" altLang="en-US" dirty="0"/>
              <a:t>任务需要一定时间，所以一般只在以下情况使用延迟中断处理：</a:t>
            </a:r>
            <a:endParaRPr lang="en-US" altLang="zh-CN" dirty="0"/>
          </a:p>
          <a:p>
            <a:pPr lvl="1"/>
            <a:r>
              <a:rPr lang="zh-CN" altLang="en-US" dirty="0"/>
              <a:t>操作复杂</a:t>
            </a:r>
          </a:p>
          <a:p>
            <a:pPr lvl="1"/>
            <a:r>
              <a:rPr lang="zh-CN" altLang="en-US" dirty="0"/>
              <a:t>不能仅使用</a:t>
            </a:r>
            <a:r>
              <a:rPr lang="en-US" altLang="zh-CN" dirty="0"/>
              <a:t>ISR</a:t>
            </a:r>
            <a:r>
              <a:rPr lang="zh-CN" altLang="en-US" dirty="0"/>
              <a:t>安全的</a:t>
            </a:r>
            <a:r>
              <a:rPr lang="en-US" altLang="zh-CN" dirty="0"/>
              <a:t>API</a:t>
            </a:r>
            <a:endParaRPr lang="zh-CN" altLang="en-US" dirty="0"/>
          </a:p>
          <a:p>
            <a:pPr lvl="1"/>
            <a:r>
              <a:rPr lang="zh-CN" altLang="en-US" dirty="0"/>
              <a:t>操作所需时间不确定</a:t>
            </a:r>
            <a:endParaRPr lang="en-US" altLang="zh-CN" dirty="0"/>
          </a:p>
          <a:p>
            <a:pPr marL="457200" lvl="1" indent="0">
              <a:buNone/>
            </a:pPr>
            <a:r>
              <a:rPr lang="en-GB" altLang="zh-CN" dirty="0"/>
              <a:t>https://www.freertos.org/zh-cn-cmn-s/</a:t>
            </a:r>
            <a:br>
              <a:rPr lang="en-GB" altLang="zh-CN" dirty="0"/>
            </a:br>
            <a:r>
              <a:rPr lang="en-GB" altLang="zh-CN" dirty="0"/>
              <a:t>Documentation/02-Kernel/02-Kernel-features/</a:t>
            </a:r>
          </a:p>
          <a:p>
            <a:pPr marL="457200" lvl="1" indent="0">
              <a:buNone/>
            </a:pPr>
            <a:r>
              <a:rPr lang="en-GB" altLang="zh-CN" dirty="0"/>
              <a:t>11-Deferred-interrupt-handling</a:t>
            </a:r>
            <a:endParaRPr lang="zh-CN" altLang="en-US" dirty="0"/>
          </a:p>
          <a:p>
            <a:r>
              <a:rPr lang="en-US" altLang="zh-CN" dirty="0" err="1"/>
              <a:t>FreeRTOS</a:t>
            </a:r>
            <a:r>
              <a:rPr lang="zh-CN" altLang="en-US" dirty="0"/>
              <a:t>提供在</a:t>
            </a:r>
            <a:r>
              <a:rPr lang="en-US" altLang="zh-CN" dirty="0"/>
              <a:t>Tim Svc</a:t>
            </a:r>
            <a:r>
              <a:rPr lang="zh-CN" altLang="en-US" dirty="0"/>
              <a:t>中自动进行延迟中断处理的</a:t>
            </a:r>
            <a:r>
              <a:rPr lang="en-US" altLang="zh-CN" dirty="0"/>
              <a:t>API</a:t>
            </a:r>
          </a:p>
          <a:p>
            <a:pPr marL="457200" lvl="1" indent="0">
              <a:buNone/>
            </a:pPr>
            <a:r>
              <a:rPr lang="en-US" altLang="zh-CN" dirty="0"/>
              <a:t>https://www.freertos.org/zh-cn-cmn-s/Documentation/02-Kernel/04-API-references/11-Software-timers/18-xTimerPendFunctionCallFromISR</a:t>
            </a:r>
          </a:p>
        </p:txBody>
      </p:sp>
    </p:spTree>
    <p:extLst>
      <p:ext uri="{BB962C8B-B14F-4D97-AF65-F5344CB8AC3E}">
        <p14:creationId xmlns:p14="http://schemas.microsoft.com/office/powerpoint/2010/main" val="416867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429F9-7071-BC61-6DEF-A32C9BB7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3-1</a:t>
            </a:r>
            <a:r>
              <a:rPr lang="zh-CN" altLang="en-US" dirty="0"/>
              <a:t>（不交）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AAF958-D458-A329-6DCA-920E2A62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在单片机上运行</a:t>
            </a:r>
            <a:r>
              <a:rPr lang="en-US" altLang="zh-CN" dirty="0" err="1"/>
              <a:t>FreeRTOS</a:t>
            </a:r>
            <a:r>
              <a:rPr lang="zh-CN" altLang="en-US" dirty="0"/>
              <a:t>任务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8227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F73F0-C162-EE84-4BCA-C31F426B1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SG" dirty="0"/>
              <a:t>3.2 </a:t>
            </a:r>
            <a:r>
              <a:rPr lang="zh-CN" altLang="en-US" dirty="0"/>
              <a:t>并发处理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F04592-ED7D-9B41-035C-2EC035660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/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508478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56269-4C66-DD28-2D49-7333AFC6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单核</a:t>
            </a:r>
            <a:r>
              <a:rPr lang="en-US" altLang="zh-CN" dirty="0"/>
              <a:t>MCU</a:t>
            </a:r>
            <a:r>
              <a:rPr lang="zh-CN" altLang="en-US" dirty="0"/>
              <a:t>也会有竞态</a:t>
            </a:r>
            <a:endParaRPr lang="zh-SG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698B33D-D686-5F4B-37B0-0A8186D64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723534"/>
              </p:ext>
            </p:extLst>
          </p:nvPr>
        </p:nvGraphicFramePr>
        <p:xfrm>
          <a:off x="838203" y="3429000"/>
          <a:ext cx="10515597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23207498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0904496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76172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主体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职责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风险</a:t>
                      </a:r>
                      <a:endParaRPr lang="zh-SG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58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RTOS</a:t>
                      </a:r>
                      <a:r>
                        <a:rPr lang="zh-CN" altLang="en-US" dirty="0"/>
                        <a:t>任务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SG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解析、仲裁、控制、通信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等操作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可能被抢占，也可能阻塞等待事件</a:t>
                      </a:r>
                      <a:endParaRPr lang="zh-SG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778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ISR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CN" altLang="en-US" dirty="0">
                          <a:solidFill>
                            <a:srgbClr val="222222"/>
                          </a:solidFill>
                          <a:effectLst/>
                        </a:rPr>
                        <a:t>响应硬件事件，记录状态并唤醒任务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不能阻塞，工作量必须短且有上界</a:t>
                      </a:r>
                      <a:endParaRPr lang="zh-SG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45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DMA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在外设与内存之间搬运数据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并发访问内存</a:t>
                      </a:r>
                      <a:endParaRPr lang="zh-SG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01385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7E743DE-BEAF-CB11-413E-264F8AE83832}"/>
              </a:ext>
            </a:extLst>
          </p:cNvPr>
          <p:cNvSpPr txBox="1"/>
          <p:nvPr/>
        </p:nvSpPr>
        <p:spPr>
          <a:xfrm>
            <a:off x="1150528" y="1690688"/>
            <a:ext cx="9890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单核照样会有竞态，差别只是竞争发生在不同上下文切换之间，不是多个核心同时执行。</a:t>
            </a:r>
            <a:r>
              <a:rPr lang="en-US" altLang="zh-CN" sz="2800" dirty="0"/>
              <a:t>ISR</a:t>
            </a:r>
            <a:r>
              <a:rPr lang="zh-CN" altLang="en-US" sz="2800" dirty="0"/>
              <a:t>抢占线程、</a:t>
            </a:r>
            <a:r>
              <a:rPr lang="en-US" altLang="zh-CN" sz="2800" dirty="0"/>
              <a:t>DMA/</a:t>
            </a:r>
            <a:r>
              <a:rPr lang="zh-CN" altLang="en-US" sz="2800" dirty="0"/>
              <a:t>外设按各自的节奏工作、线程与中断共享状态时的数据交接等问题都需要解决。</a:t>
            </a:r>
            <a:endParaRPr lang="zh-SG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15869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50FCF2A-8F17-B4F8-EE4E-374764E71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8158" y="2754611"/>
            <a:ext cx="2473842" cy="410338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F1421E8-4C90-A6BE-4CA7-930A9D8F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避免读写竞态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725EB-B368-50A1-181A-AC349703A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??"/>
              </a:rPr>
              <a:t>如果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??"/>
              </a:rPr>
              <a:t>DMA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??"/>
              </a:rPr>
              <a:t>正在更新某块区域，而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??"/>
              </a:rPr>
              <a:t>CPU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??"/>
              </a:rPr>
              <a:t>正好读取它，就会导致错误</a:t>
            </a:r>
            <a:endParaRPr lang="en-US" altLang="zh-CN" b="0" i="0" dirty="0">
              <a:solidFill>
                <a:srgbClr val="222222"/>
              </a:solidFill>
              <a:effectLst/>
              <a:latin typeface="??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??"/>
              </a:rPr>
              <a:t>为了避免读写竞态，一个内存区域在任意时刻只能有一个所有者</a:t>
            </a:r>
            <a:endParaRPr lang="en-US" altLang="zh-CN" b="0" i="0" dirty="0">
              <a:solidFill>
                <a:srgbClr val="222222"/>
              </a:solidFill>
              <a:effectLst/>
              <a:latin typeface="??"/>
            </a:endParaRPr>
          </a:p>
          <a:p>
            <a:r>
              <a:rPr lang="en-US" altLang="zh-CN" dirty="0"/>
              <a:t>DMA</a:t>
            </a:r>
            <a:r>
              <a:rPr lang="zh-CN" altLang="en-US" dirty="0"/>
              <a:t>拥有缓冲区时，</a:t>
            </a:r>
            <a:r>
              <a:rPr lang="en-US" altLang="zh-CN" dirty="0"/>
              <a:t>CPU</a:t>
            </a:r>
            <a:r>
              <a:rPr lang="zh-CN" altLang="en-US" dirty="0"/>
              <a:t>不能修改</a:t>
            </a:r>
            <a:r>
              <a:rPr lang="en-US" altLang="zh-CN" dirty="0"/>
              <a:t>DMA</a:t>
            </a:r>
            <a:r>
              <a:rPr lang="zh-CN" altLang="en-US" dirty="0"/>
              <a:t>正在写入的区域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CPU</a:t>
            </a:r>
            <a:r>
              <a:rPr lang="zh-CN" altLang="en-US" dirty="0"/>
              <a:t>处理缓冲区时，</a:t>
            </a:r>
            <a:r>
              <a:rPr lang="en-US" altLang="zh-CN" dirty="0"/>
              <a:t>DMA</a:t>
            </a:r>
            <a:r>
              <a:rPr lang="zh-CN" altLang="en-US" dirty="0"/>
              <a:t>不能覆盖尚未处理的数据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可以通过控制读写指令顺序和原子读写从时间上隔离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也可以通过双缓冲、环形缓冲等无锁数据结构从空间上隔离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794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C914E-6340-1C64-FBC5-D50FD6DF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生产者</a:t>
            </a:r>
            <a:r>
              <a:rPr lang="en-US" altLang="zh-CN" dirty="0"/>
              <a:t>/</a:t>
            </a:r>
            <a:r>
              <a:rPr lang="zh-CN" altLang="en-US" dirty="0"/>
              <a:t>消费者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E81071-C495-0491-26AA-30861AF61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张三从串口接到数据，叫李四翻译翻译，然后告诉王五和赵六</a:t>
            </a:r>
            <a:endParaRPr lang="en-US" altLang="zh-CN" dirty="0"/>
          </a:p>
          <a:p>
            <a:r>
              <a:rPr lang="zh-CN" altLang="en-US" dirty="0"/>
              <a:t>数据从张三到李四，我们管张三叫生产者，管李四叫消费者</a:t>
            </a:r>
            <a:endParaRPr lang="en-US" altLang="zh-CN" dirty="0"/>
          </a:p>
          <a:p>
            <a:r>
              <a:rPr lang="zh-CN" altLang="en-US" dirty="0"/>
              <a:t>此时生产者和消费者各一个，称作单生产者</a:t>
            </a:r>
            <a:r>
              <a:rPr lang="en-US" altLang="zh-CN" dirty="0"/>
              <a:t>-</a:t>
            </a:r>
            <a:r>
              <a:rPr lang="zh-CN" altLang="en-US" dirty="0"/>
              <a:t>单消费者（</a:t>
            </a:r>
            <a:r>
              <a:rPr lang="en-GB" altLang="zh-CN" dirty="0"/>
              <a:t>Single Producer</a:t>
            </a:r>
            <a:r>
              <a:rPr lang="en-US" altLang="zh-CN" dirty="0"/>
              <a:t>/ </a:t>
            </a:r>
            <a:r>
              <a:rPr lang="en-GB" altLang="zh-CN" dirty="0"/>
              <a:t>Single Consumer</a:t>
            </a:r>
            <a:r>
              <a:rPr lang="zh-CN" altLang="en-US" dirty="0"/>
              <a:t>，简称</a:t>
            </a:r>
            <a:r>
              <a:rPr lang="en-US" altLang="zh-CN" dirty="0"/>
              <a:t>SPSC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翻译后的信息从李四到王五和赵六，生产者仍然只有一个，但消费者有两个，这种情况叫单生产者</a:t>
            </a:r>
            <a:r>
              <a:rPr lang="en-US" altLang="zh-CN" dirty="0"/>
              <a:t>-</a:t>
            </a:r>
            <a:r>
              <a:rPr lang="zh-CN" altLang="en-US" dirty="0"/>
              <a:t>多消费者（</a:t>
            </a:r>
            <a:r>
              <a:rPr lang="en-GB" altLang="zh-CN" dirty="0"/>
              <a:t>Single Producer</a:t>
            </a:r>
            <a:r>
              <a:rPr lang="en-US" altLang="zh-CN" dirty="0"/>
              <a:t>/ Multi</a:t>
            </a:r>
            <a:r>
              <a:rPr lang="en-GB" altLang="zh-CN" dirty="0"/>
              <a:t> Consumer</a:t>
            </a:r>
            <a:r>
              <a:rPr lang="zh-CN" altLang="en-US" dirty="0"/>
              <a:t>，简称</a:t>
            </a:r>
            <a:r>
              <a:rPr lang="en-US" altLang="zh-CN" dirty="0"/>
              <a:t>SPMC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单生产者比较常见，处理逻辑也相对简单</a:t>
            </a:r>
            <a:endParaRPr lang="en-US" altLang="zh-CN" dirty="0"/>
          </a:p>
          <a:p>
            <a:r>
              <a:rPr lang="zh-CN" altLang="en-US" dirty="0"/>
              <a:t>多生产者可以拆成多个单生产者再融合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6882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C05FD-1C9D-409A-088C-EBBAA118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区分四种模型</a:t>
            </a:r>
            <a:endParaRPr lang="zh-SG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C71F1E9E-1A25-4FBD-4476-98AB93FF29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965696"/>
              </p:ext>
            </p:extLst>
          </p:nvPr>
        </p:nvGraphicFramePr>
        <p:xfrm>
          <a:off x="838200" y="1825625"/>
          <a:ext cx="10515597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10440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019595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56663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SG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SG" altLang="en-US"/>
                        <a:t>含义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SG" altLang="en-US" dirty="0"/>
                        <a:t>例子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92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SPSC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单生产者、单消费者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UART</a:t>
                      </a:r>
                      <a:r>
                        <a:rPr lang="zh-CN" altLang="en-US" dirty="0"/>
                        <a:t>解析任务到模式仲裁任务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646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SPMC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单生产者、多消费者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仲裁任务向底盘、云台、机械臂发布统一命令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26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MPSC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多生产者、单消费者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多个模块向日志任务或故障管理任务发送消息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190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MPMC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多生产者、多消费者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不太常见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81347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4C5E2ED-3FD6-80D5-1D26-8BA987C50761}"/>
              </a:ext>
            </a:extLst>
          </p:cNvPr>
          <p:cNvSpPr txBox="1"/>
          <p:nvPr/>
        </p:nvSpPr>
        <p:spPr>
          <a:xfrm>
            <a:off x="1364509" y="4759473"/>
            <a:ext cx="9462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800" dirty="0"/>
              <a:t>注意区分：多个消费者是各自收到一份，还是竞争取走消息</a:t>
            </a:r>
          </a:p>
        </p:txBody>
      </p:sp>
    </p:spTree>
    <p:extLst>
      <p:ext uri="{BB962C8B-B14F-4D97-AF65-F5344CB8AC3E}">
        <p14:creationId xmlns:p14="http://schemas.microsoft.com/office/powerpoint/2010/main" val="3337871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FCD24-3F96-4CCF-FF3A-7EF9A1D8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确保单次读写不被打断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2F1D5-6C0B-63F6-FC7B-31172E180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SG" altLang="en-US" dirty="0"/>
              <a:t>原子变量</a:t>
            </a:r>
            <a:endParaRPr lang="en-US" altLang="zh-SG" dirty="0"/>
          </a:p>
          <a:p>
            <a:pPr lvl="1">
              <a:defRPr/>
            </a:pPr>
            <a:r>
              <a:rPr lang="en-US" altLang="zh-CN" dirty="0"/>
              <a:t>C++11</a:t>
            </a:r>
            <a:r>
              <a:rPr lang="zh-CN" altLang="en-US" dirty="0"/>
              <a:t>内置，底层通过关中断、自旋锁等方式实现不被打断的读写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较小的类型可能属于无锁原子类型，不需要锁即可实现读写的原子性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注意：多个原子变量组成结构体，该结构体整体是非原子的</a:t>
            </a:r>
            <a:endParaRPr lang="en-US" altLang="zh-CN" dirty="0"/>
          </a:p>
          <a:p>
            <a:r>
              <a:rPr lang="zh-CN" altLang="en-US" dirty="0"/>
              <a:t>互斥锁</a:t>
            </a:r>
            <a:endParaRPr lang="en-US" altLang="zh-CN" dirty="0"/>
          </a:p>
          <a:p>
            <a:pPr lvl="1"/>
            <a:r>
              <a:rPr lang="zh-CN" altLang="en-US" dirty="0"/>
              <a:t>防止特定任务抢占</a:t>
            </a:r>
            <a:endParaRPr lang="en-US" altLang="zh-CN" dirty="0"/>
          </a:p>
          <a:p>
            <a:pPr lvl="1"/>
            <a:r>
              <a:rPr lang="zh-CN" altLang="en-US" dirty="0"/>
              <a:t>注意：</a:t>
            </a:r>
            <a:endParaRPr lang="en-US" altLang="zh-CN" dirty="0"/>
          </a:p>
          <a:p>
            <a:pPr lvl="2"/>
            <a:r>
              <a:rPr lang="zh-CN" altLang="en-US" dirty="0"/>
              <a:t>避免优先级反转</a:t>
            </a:r>
            <a:endParaRPr lang="en-US" altLang="zh-CN" dirty="0"/>
          </a:p>
          <a:p>
            <a:pPr lvl="2"/>
            <a:r>
              <a:rPr lang="zh-CN" altLang="en-US" dirty="0"/>
              <a:t>不要在中断中使用互斥锁</a:t>
            </a:r>
            <a:endParaRPr lang="en-US" altLang="zh-CN" dirty="0"/>
          </a:p>
          <a:p>
            <a:r>
              <a:rPr lang="zh-CN" altLang="en-US" dirty="0"/>
              <a:t>临界区</a:t>
            </a:r>
            <a:endParaRPr lang="en-US" altLang="zh-CN" dirty="0"/>
          </a:p>
          <a:p>
            <a:pPr lvl="1"/>
            <a:r>
              <a:rPr lang="zh-CN" altLang="en-US" dirty="0"/>
              <a:t>通过短时间禁止特定调度或中断抢占，保护读写不被打断</a:t>
            </a:r>
            <a:endParaRPr lang="en-US" altLang="zh-CN" dirty="0"/>
          </a:p>
          <a:p>
            <a:pPr lvl="1"/>
            <a:r>
              <a:rPr lang="zh-CN" altLang="en-US" dirty="0"/>
              <a:t>临界区应当尽量短，需要确保最坏情况下的执行时间依然有限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93939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2DC60-2A48-0768-64F3-B4940A45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zh-SG" altLang="en-US" dirty="0"/>
              <a:t>无锁</a:t>
            </a:r>
            <a:r>
              <a:rPr lang="zh-CN" altLang="en-US" dirty="0"/>
              <a:t>数据结构避免竞态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1FEEE4-B12A-3030-2D2A-DB916E313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读写各占一部分区域，两个空间，互不干扰</a:t>
            </a:r>
            <a:endParaRPr lang="en-US" altLang="zh-CN" dirty="0"/>
          </a:p>
          <a:p>
            <a:r>
              <a:rPr lang="en-US" altLang="zh-CN" dirty="0"/>
              <a:t>SPSC</a:t>
            </a:r>
            <a:r>
              <a:rPr lang="zh-CN" altLang="en-US" dirty="0"/>
              <a:t>场景可以使用相对简单的双缓冲、环形队列等</a:t>
            </a:r>
            <a:endParaRPr lang="en-US" altLang="zh-CN" dirty="0"/>
          </a:p>
          <a:p>
            <a:r>
              <a:rPr lang="zh-CN" altLang="en-US" dirty="0"/>
              <a:t>对于多消费者情形，需要</a:t>
            </a:r>
            <a:r>
              <a:rPr lang="en-US" altLang="zh-CN" dirty="0"/>
              <a:t>CAS</a:t>
            </a:r>
            <a:r>
              <a:rPr lang="zh-CN" altLang="en-US" dirty="0"/>
              <a:t>等较复杂机制</a:t>
            </a:r>
            <a:endParaRPr lang="en-US" altLang="zh-CN" dirty="0"/>
          </a:p>
          <a:p>
            <a:r>
              <a:rPr lang="zh-CN" altLang="en-US" sz="2800" dirty="0"/>
              <a:t>寻找简化机会：</a:t>
            </a:r>
            <a:endParaRPr lang="en-US" altLang="zh-CN" sz="2800" dirty="0"/>
          </a:p>
          <a:p>
            <a:pPr marL="914400" lvl="1" indent="-457200"/>
            <a:r>
              <a:rPr lang="zh-CN" altLang="en-US" dirty="0"/>
              <a:t>哪些字段只有一个写入者，能够被拆分</a:t>
            </a:r>
          </a:p>
          <a:p>
            <a:pPr marL="914400" lvl="1" indent="-457200"/>
            <a:r>
              <a:rPr lang="zh-CN" altLang="en-US" dirty="0"/>
              <a:t>能否每个生产者一个</a:t>
            </a:r>
            <a:r>
              <a:rPr lang="en-US" altLang="zh-CN" dirty="0"/>
              <a:t>SPSC</a:t>
            </a:r>
            <a:r>
              <a:rPr lang="zh-CN" altLang="en-US" dirty="0"/>
              <a:t>队列，由同一个任务汇总并发布</a:t>
            </a:r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E08310-2A97-B953-7134-DF09C1CA1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2976" y="0"/>
            <a:ext cx="2509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93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BF933-5781-055D-C8A7-CF61CBA9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DMA</a:t>
            </a:r>
            <a:r>
              <a:rPr lang="zh-CN" altLang="en-US" dirty="0"/>
              <a:t>接收中选择单</a:t>
            </a:r>
            <a:r>
              <a:rPr lang="en-US" altLang="zh-CN" dirty="0"/>
              <a:t>/</a:t>
            </a:r>
            <a:r>
              <a:rPr lang="zh-CN" altLang="en-US" dirty="0"/>
              <a:t>双</a:t>
            </a:r>
            <a:r>
              <a:rPr lang="en-US" altLang="zh-CN" dirty="0"/>
              <a:t>/</a:t>
            </a:r>
            <a:r>
              <a:rPr lang="zh-CN" altLang="en-US" dirty="0"/>
              <a:t>环形缓冲</a:t>
            </a:r>
            <a:endParaRPr lang="zh-SG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06B5E3EC-51E6-A5DC-6B1D-9AECE9B25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764011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23930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948482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5269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SG" altLang="en-US" dirty="0"/>
                        <a:t>适用场景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风险</a:t>
                      </a:r>
                      <a:endParaRPr lang="zh-SG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282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SG" altLang="en-US" dirty="0"/>
                        <a:t>单缓冲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低速、间歇接收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CPU</a:t>
                      </a:r>
                      <a:r>
                        <a:rPr lang="zh-CN" altLang="en-US" dirty="0"/>
                        <a:t>处理时可能停收或被覆盖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56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双缓冲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高频接收，定长数据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CPU</a:t>
                      </a:r>
                      <a:r>
                        <a:rPr lang="zh-CN" altLang="en-US" dirty="0"/>
                        <a:t>必须在另一个缓冲区写满前处理完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环形缓冲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连续接收，不定长数据</a:t>
                      </a:r>
                      <a:endParaRPr lang="zh-SG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回绕、空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满判断等逻辑较复杂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48896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D730378-EB7B-5F23-2DD0-5CDC021BEA4B}"/>
              </a:ext>
            </a:extLst>
          </p:cNvPr>
          <p:cNvSpPr txBox="1"/>
          <p:nvPr/>
        </p:nvSpPr>
        <p:spPr>
          <a:xfrm>
            <a:off x="2266064" y="4481624"/>
            <a:ext cx="7659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没有包打天下的方案，只有具体场景下的最优解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 err="1"/>
              <a:t>Bip</a:t>
            </a:r>
            <a:r>
              <a:rPr lang="en-US" altLang="zh-CN" sz="2800" dirty="0"/>
              <a:t> Buffer</a:t>
            </a:r>
            <a:r>
              <a:rPr lang="zh-CN" altLang="en-US" sz="2800" dirty="0"/>
              <a:t>：那我来干嘛？）</a:t>
            </a:r>
            <a:endParaRPr lang="zh-SG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38059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B8D10F5-AC6F-7FDF-CB14-31EB2601F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800" y="1690688"/>
            <a:ext cx="2161199" cy="516731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B8CC7EC-1944-58F3-9947-3541A106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通过双缓冲为多消费者提供一致快照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5B6FA-CB9C-9456-CE4F-CCE5C6032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双缓冲避免生产者</a:t>
            </a:r>
            <a:r>
              <a:rPr lang="en-US" altLang="zh-CN" dirty="0"/>
              <a:t>/</a:t>
            </a:r>
            <a:r>
              <a:rPr lang="zh-CN" altLang="en-US" dirty="0"/>
              <a:t>消费者竞态</a:t>
            </a:r>
            <a:endParaRPr lang="en-US" altLang="zh-CN" dirty="0"/>
          </a:p>
          <a:p>
            <a:r>
              <a:rPr lang="zh-CN" altLang="en-US" dirty="0"/>
              <a:t>多个消费者只读取和复制内容，避免读竞态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26538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7B32F-DDDE-9B71-B4DE-893B5CAB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3-2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5A84A-E879-9CB9-7975-EC6DCC9CE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创建遥控器数据解析与电机控制任务，根据遥控器拨杆挡位组合向</a:t>
            </a:r>
            <a:r>
              <a:rPr lang="en-US" altLang="zh-CN" dirty="0"/>
              <a:t>6020</a:t>
            </a:r>
            <a:r>
              <a:rPr lang="zh-CN" altLang="en-US" dirty="0"/>
              <a:t>电机发送相应指令</a:t>
            </a:r>
            <a:endParaRPr lang="en-US" altLang="zh-CN" dirty="0"/>
          </a:p>
          <a:p>
            <a:pPr lvl="1"/>
            <a:r>
              <a:rPr lang="zh-CN" altLang="en-US" dirty="0"/>
              <a:t>急停</a:t>
            </a:r>
            <a:endParaRPr lang="en-US" altLang="zh-CN" dirty="0"/>
          </a:p>
          <a:p>
            <a:pPr lvl="1"/>
            <a:r>
              <a:rPr lang="zh-CN" altLang="en-US" dirty="0"/>
              <a:t>正向旋转</a:t>
            </a:r>
            <a:endParaRPr lang="en-US" altLang="zh-CN" dirty="0"/>
          </a:p>
          <a:p>
            <a:pPr lvl="1"/>
            <a:r>
              <a:rPr lang="zh-CN" altLang="en-US" dirty="0"/>
              <a:t>反向旋转</a:t>
            </a:r>
            <a:endParaRPr lang="en-US" altLang="zh-CN" dirty="0"/>
          </a:p>
          <a:p>
            <a:r>
              <a:rPr lang="zh-CN" altLang="en-US" dirty="0"/>
              <a:t>离开急停档位后要求必须先拨动拨轮才能进入正常控制模式</a:t>
            </a:r>
            <a:endParaRPr lang="en-US" altLang="zh-CN" dirty="0"/>
          </a:p>
          <a:p>
            <a:r>
              <a:rPr lang="zh-CN" altLang="en-US" dirty="0"/>
              <a:t>电机状态相关变量需符合国际单位制（</a:t>
            </a:r>
            <a:r>
              <a:rPr lang="en-US" altLang="zh-CN" dirty="0"/>
              <a:t>rad</a:t>
            </a:r>
            <a:r>
              <a:rPr lang="zh-CN" altLang="en-US" dirty="0"/>
              <a:t>，</a:t>
            </a:r>
            <a:r>
              <a:rPr lang="en-US" altLang="zh-CN" dirty="0"/>
              <a:t>rad/s</a:t>
            </a:r>
            <a:r>
              <a:rPr lang="zh-CN" altLang="en-US" dirty="0"/>
              <a:t>，</a:t>
            </a:r>
            <a:r>
              <a:rPr lang="en-US" altLang="zh-CN" dirty="0"/>
              <a:t>Nm</a:t>
            </a:r>
            <a:r>
              <a:rPr lang="zh-CN" altLang="en-US" dirty="0"/>
              <a:t>，摄氏度）</a:t>
            </a:r>
            <a:endParaRPr lang="en-US" altLang="zh-CN" dirty="0"/>
          </a:p>
          <a:p>
            <a:r>
              <a:rPr lang="zh-CN" altLang="en-US" dirty="0"/>
              <a:t>摇杆值需归一化到</a:t>
            </a:r>
            <a:r>
              <a:rPr lang="en-US" altLang="zh-CN" dirty="0"/>
              <a:t>[0, 1]</a:t>
            </a:r>
            <a:r>
              <a:rPr lang="zh-CN" altLang="en-US" dirty="0"/>
              <a:t>并添加四区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4590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8BE6306-2AAB-BC34-07F5-768D87B59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279" y="1714270"/>
            <a:ext cx="3446721" cy="342945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714CDFB-B232-04E5-8243-5C9167149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Debug</a:t>
            </a:r>
            <a:r>
              <a:rPr lang="zh-CN" altLang="en-US" dirty="0"/>
              <a:t>思路参考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853EDD-B75E-C754-4B4E-EDD6EFF99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8745279" cy="5532438"/>
          </a:xfrm>
        </p:spPr>
        <p:txBody>
          <a:bodyPr>
            <a:normAutofit/>
          </a:bodyPr>
          <a:lstStyle/>
          <a:p>
            <a:r>
              <a:rPr lang="zh-CN" altLang="en-US" dirty="0"/>
              <a:t>任务堆栈分配</a:t>
            </a:r>
            <a:endParaRPr lang="en-US" altLang="zh-CN" dirty="0"/>
          </a:p>
          <a:p>
            <a:pPr lvl="1"/>
            <a:r>
              <a:rPr lang="zh-CN" altLang="en-US" dirty="0"/>
              <a:t>开启堆栈溢出检查</a:t>
            </a:r>
            <a:endParaRPr lang="en-US" altLang="zh-CN" dirty="0"/>
          </a:p>
          <a:p>
            <a:pPr lvl="2"/>
            <a:r>
              <a:rPr lang="en-GB" altLang="zh-CN" dirty="0"/>
              <a:t>https://www.freertos.org/zh-cn-cmn-s/Documentation/02-Kernel/02-Kernel-features/09-Memory-management/02-Stack-usage-and-stack-overflow-checking</a:t>
            </a:r>
            <a:endParaRPr lang="en-US" altLang="zh-CN" dirty="0"/>
          </a:p>
          <a:p>
            <a:r>
              <a:rPr lang="zh-CN" altLang="en-US" dirty="0"/>
              <a:t>优先级反转和死锁</a:t>
            </a:r>
            <a:endParaRPr lang="en-US" altLang="zh-CN" dirty="0"/>
          </a:p>
          <a:p>
            <a:pPr lvl="1"/>
            <a:r>
              <a:rPr lang="zh-CN" altLang="en-US" dirty="0"/>
              <a:t>使用互斥锁缓解优先级反转</a:t>
            </a:r>
            <a:endParaRPr lang="en-US" altLang="zh-CN" dirty="0"/>
          </a:p>
          <a:p>
            <a:pPr lvl="2"/>
            <a:r>
              <a:rPr lang="en-US" altLang="zh-CN" dirty="0"/>
              <a:t>https://www.freertos.org/zh-cn-cmn-s/Documentation/02-Kernel/02-Kernel-features/02-Queues-mutexes-and-semaphores/04-Mutexes</a:t>
            </a:r>
          </a:p>
          <a:p>
            <a:pPr lvl="2"/>
            <a:r>
              <a:rPr lang="zh-CN" altLang="en-US" dirty="0"/>
              <a:t>如文中所述，不要在中断中使用互斥锁</a:t>
            </a:r>
            <a:endParaRPr lang="en-US" altLang="zh-CN" dirty="0"/>
          </a:p>
          <a:p>
            <a:pPr lvl="1"/>
            <a:r>
              <a:rPr lang="zh-CN" altLang="en-US" dirty="0"/>
              <a:t>检查任务运行时间</a:t>
            </a:r>
            <a:endParaRPr lang="en-US" altLang="zh-CN" dirty="0"/>
          </a:p>
          <a:p>
            <a:pPr lvl="2"/>
            <a:r>
              <a:rPr lang="en-US" altLang="zh-CN" dirty="0"/>
              <a:t>https://www.freertos.org/zh-cn-cmn-s/Documentation/02-Kernel/02-Kernel-features/08-Run-time-statistics</a:t>
            </a:r>
          </a:p>
          <a:p>
            <a:endParaRPr lang="en-US" altLang="zh-CN" dirty="0"/>
          </a:p>
          <a:p>
            <a:pPr lvl="1"/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550556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A1CFB-4175-6437-E901-9C3B5F236E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SG" dirty="0"/>
              <a:t>3.3 </a:t>
            </a:r>
            <a:r>
              <a:rPr lang="zh-CN" altLang="en-US" dirty="0"/>
              <a:t>指令流设计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73E1F3-FD08-47D3-D26A-A5EACF7C2E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要求：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850300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8737A-E9EC-8EE1-B998-5CA03346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WASD</a:t>
            </a:r>
            <a:r>
              <a:rPr lang="zh-CN" altLang="en-US" dirty="0"/>
              <a:t>按下与机器人移动之间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79689-4BC4-08BD-9E57-6DDB345CB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zh-CN" altLang="en-US" dirty="0"/>
              <a:t>从指令数据到电机输出，要经过外设接收、</a:t>
            </a:r>
            <a:r>
              <a:rPr lang="en-US" altLang="zh-CN" dirty="0"/>
              <a:t>DMA</a:t>
            </a:r>
            <a:r>
              <a:rPr lang="zh-CN" altLang="en-US" dirty="0"/>
              <a:t>搬运、中断触发、任务调度、协议解析、模式仲裁和控制计算这些环节</a:t>
            </a:r>
            <a:endParaRPr lang="en-US" altLang="zh-CN" dirty="0"/>
          </a:p>
          <a:p>
            <a:r>
              <a:rPr lang="zh-CN" altLang="en-US" dirty="0"/>
              <a:t>需要区分</a:t>
            </a:r>
            <a:r>
              <a:rPr lang="en-US" altLang="zh-CN" dirty="0"/>
              <a:t>DMA</a:t>
            </a:r>
            <a:r>
              <a:rPr lang="zh-CN" altLang="en-US" dirty="0"/>
              <a:t>操作、中断触发和有效数据帧：</a:t>
            </a:r>
          </a:p>
          <a:p>
            <a:pPr lvl="1"/>
            <a:r>
              <a:rPr lang="en-US" altLang="zh-CN" dirty="0"/>
              <a:t>DMA</a:t>
            </a:r>
            <a:r>
              <a:rPr lang="zh-CN" altLang="en-US" dirty="0"/>
              <a:t>写入多少字节</a:t>
            </a:r>
          </a:p>
          <a:p>
            <a:pPr lvl="1"/>
            <a:r>
              <a:rPr lang="zh-CN" altLang="en-US" dirty="0"/>
              <a:t>何时产生空闲、半传输或完成事件</a:t>
            </a:r>
          </a:p>
          <a:p>
            <a:pPr lvl="1"/>
            <a:r>
              <a:rPr lang="zh-CN" altLang="en-US" dirty="0"/>
              <a:t>一帧数据从哪里开始、在哪里结束</a:t>
            </a:r>
          </a:p>
          <a:p>
            <a:r>
              <a:rPr lang="zh-CN" altLang="en-US" dirty="0"/>
              <a:t>三者不一定完全同步：</a:t>
            </a:r>
          </a:p>
          <a:p>
            <a:pPr lvl="1"/>
            <a:r>
              <a:rPr lang="zh-CN" altLang="en-US" dirty="0"/>
              <a:t>如果未关闭</a:t>
            </a:r>
            <a:r>
              <a:rPr lang="en-US" altLang="zh-CN" dirty="0"/>
              <a:t>DMA</a:t>
            </a:r>
            <a:r>
              <a:rPr lang="zh-CN" altLang="en-US" dirty="0"/>
              <a:t>传输半满中断，接收长度达到缓冲区长度一半时就会触发中断</a:t>
            </a:r>
          </a:p>
          <a:p>
            <a:pPr lvl="1"/>
            <a:r>
              <a:rPr lang="zh-CN" altLang="en-US" dirty="0"/>
              <a:t>两帧数据可能间隔过小导致空闲中断未被触发，串口连续接收两帧造成粘包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959290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5CBBC-A23E-7034-F256-3A5C995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ISR</a:t>
            </a:r>
            <a:r>
              <a:rPr lang="zh-CN" altLang="en-US" dirty="0"/>
              <a:t>驱动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0FDBF4-EF08-36C2-2529-B24853B42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有些操作不应当等待线程被唤醒后进行。双缓冲切换、时间戳记录等必须尽快完成。</a:t>
            </a:r>
            <a:endParaRPr lang="en-US" altLang="zh-CN" dirty="0"/>
          </a:p>
          <a:p>
            <a:r>
              <a:rPr lang="en-US" altLang="zh-CN" dirty="0"/>
              <a:t>ISR</a:t>
            </a:r>
            <a:r>
              <a:rPr lang="zh-CN" altLang="en-US" dirty="0"/>
              <a:t>驱动的思路是把高频路径压成由硬件事件推动的数据流：中断负责交接与状态推进，线程负责展开后续处理。目标是尽量不让敏感路径依赖</a:t>
            </a:r>
            <a:r>
              <a:rPr lang="en-US" altLang="zh-CN" dirty="0"/>
              <a:t>mutex</a:t>
            </a:r>
            <a:r>
              <a:rPr lang="zh-CN" altLang="en-US" dirty="0"/>
              <a:t>、阻塞式</a:t>
            </a:r>
            <a:r>
              <a:rPr lang="en-US" altLang="zh-CN" dirty="0"/>
              <a:t>OS</a:t>
            </a:r>
            <a:r>
              <a:rPr lang="zh-CN" altLang="en-US" dirty="0"/>
              <a:t>队列或长时间关中断。</a:t>
            </a:r>
            <a:endParaRPr lang="en-US" altLang="zh-CN" dirty="0"/>
          </a:p>
          <a:p>
            <a:r>
              <a:rPr lang="zh-CN" altLang="en-US" dirty="0"/>
              <a:t>这样设计使得高频路径的最坏时延更容易估计；回调、中断、线程的职责更分明；更少依赖任务调度顺序，</a:t>
            </a:r>
            <a:r>
              <a:rPr lang="en-US" altLang="zh-CN" dirty="0"/>
              <a:t>debug</a:t>
            </a:r>
            <a:r>
              <a:rPr lang="zh-CN" altLang="en-US" dirty="0"/>
              <a:t>时也更容易定位问题出在哪个部分。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8134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1865</Words>
  <PresentationFormat>宽屏</PresentationFormat>
  <Paragraphs>161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??</vt:lpstr>
      <vt:lpstr>Aptos</vt:lpstr>
      <vt:lpstr>Aptos Display</vt:lpstr>
      <vt:lpstr>Arial</vt:lpstr>
      <vt:lpstr>Office 主题​​</vt:lpstr>
      <vt:lpstr>3.1 FreeRTOS简介</vt:lpstr>
      <vt:lpstr>任务</vt:lpstr>
      <vt:lpstr>任务的状态</vt:lpstr>
      <vt:lpstr>任务调度</vt:lpstr>
      <vt:lpstr>任务通知</vt:lpstr>
      <vt:lpstr>延迟中断处理</vt:lpstr>
      <vt:lpstr>作业3-1（不交）</vt:lpstr>
      <vt:lpstr>3.2 并发处理</vt:lpstr>
      <vt:lpstr>单核MCU也会有竞态</vt:lpstr>
      <vt:lpstr>避免读写竞态</vt:lpstr>
      <vt:lpstr>生产者/消费者</vt:lpstr>
      <vt:lpstr>区分四种模型</vt:lpstr>
      <vt:lpstr>确保单次读写不被打断</vt:lpstr>
      <vt:lpstr>使用无锁数据结构避免竞态</vt:lpstr>
      <vt:lpstr>在DMA接收中选择单/双/环形缓冲</vt:lpstr>
      <vt:lpstr>通过双缓冲为多消费者提供一致快照</vt:lpstr>
      <vt:lpstr>作业3-2</vt:lpstr>
      <vt:lpstr>Debug思路参考</vt:lpstr>
      <vt:lpstr>3.3 指令流设计</vt:lpstr>
      <vt:lpstr>在WASD按下与机器人移动之间</vt:lpstr>
      <vt:lpstr>ISR驱动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2026-07-11T01:06:26Z</dcterms:created>
  <dcterms:modified xsi:type="dcterms:W3CDTF">2026-07-12T04:57:31Z</dcterms:modified>
</cp:coreProperties>
</file>