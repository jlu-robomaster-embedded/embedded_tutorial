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5" r:id="rId8"/>
    <p:sldId id="264" r:id="rId9"/>
    <p:sldId id="262" r:id="rId10"/>
    <p:sldId id="263" r:id="rId11"/>
  </p:sldIdLst>
  <p:sldSz cx="12192000" cy="6858000"/>
  <p:notesSz cx="6858000" cy="9144000"/>
  <p:defaultTextStyle>
    <a:defPPr>
      <a:defRPr lang="zh-S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47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1E2020-2E11-15EB-59FA-F656F8B29C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F3D70AA-00E2-6E08-ECB8-E44B9009B0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SG" alt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3CEDA7-F65C-6558-23C1-91144EA61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C1FC0-184B-423F-A6A0-E4853DE7D68D}" type="datetimeFigureOut">
              <a:rPr lang="zh-SG" altLang="en-US" smtClean="0"/>
              <a:t>2026/07/11</a:t>
            </a:fld>
            <a:endParaRPr lang="zh-SG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EE2CDC-B6B8-174D-CF46-A2A2FD04C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6CF8BF-C4D8-DF86-56A3-6837215EB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D7618-7BB0-4A69-B7B5-3568B8CB323D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3011562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63FE30-BA52-8DE4-EA74-9CD74E454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7EFEE2-14BE-410B-49FA-75BA30F92A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A24C7E6-FA1D-1EE4-26E0-71B8BEE5D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C1FC0-184B-423F-A6A0-E4853DE7D68D}" type="datetimeFigureOut">
              <a:rPr lang="zh-SG" altLang="en-US" smtClean="0"/>
              <a:t>2026/07/11</a:t>
            </a:fld>
            <a:endParaRPr lang="zh-SG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5EE52E5-4366-C5EE-C500-45CE50806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656EEC9-AE4B-4D98-62ED-C3B53FD78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D7618-7BB0-4A69-B7B5-3568B8CB323D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584392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001812-89F8-4A88-68BB-AA4C308D0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611D7E-4D48-EE98-812E-DA9D5BDF1D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85992AC-F899-B66A-F24D-6966BE9AC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C1FC0-184B-423F-A6A0-E4853DE7D68D}" type="datetimeFigureOut">
              <a:rPr lang="zh-SG" altLang="en-US" smtClean="0"/>
              <a:t>2026/07/11</a:t>
            </a:fld>
            <a:endParaRPr lang="zh-SG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DC5FF06-DD9B-DEE4-0BA4-A7F19A0F7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C641C5-B34B-95ED-549D-9D08CFE2D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D7618-7BB0-4A69-B7B5-3568B8CB323D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2255481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035B4F-119F-3FAA-D3F5-FB60B87EC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B6B0A92-D1EC-AA3F-9495-5135DB395E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FBC09D9-7A44-3CF9-9E0E-72232071D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5A8F59C-16BC-CF0D-8265-DD95D2EEF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C1FC0-184B-423F-A6A0-E4853DE7D68D}" type="datetimeFigureOut">
              <a:rPr lang="zh-SG" altLang="en-US" smtClean="0"/>
              <a:t>2026/07/11</a:t>
            </a:fld>
            <a:endParaRPr lang="zh-SG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895D14-A5EE-9301-36F6-55ACEDB63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F55732-58B9-2273-66B0-BCABBBE6A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D7618-7BB0-4A69-B7B5-3568B8CB323D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2987373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F5C338-A538-C7B4-E980-CE5E2F320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C90863-B63E-B1D9-E3CA-961BA848B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28806E3-5F7A-8D0F-41B9-DA7B566F8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EE9E535-8F6E-F91E-7E62-BA09087B4A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D08481-E4BD-8623-61D4-92D4D203B2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A80CC15-A0CC-705D-556E-A2F00A934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C1FC0-184B-423F-A6A0-E4853DE7D68D}" type="datetimeFigureOut">
              <a:rPr lang="zh-SG" altLang="en-US" smtClean="0"/>
              <a:t>2026/07/11</a:t>
            </a:fld>
            <a:endParaRPr lang="zh-SG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3FD36D5-F2DE-7552-B1F4-B50F1DF4E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28598B8-70C1-FF60-C3BF-67C18B44F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D7618-7BB0-4A69-B7B5-3568B8CB323D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3686124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441C7B-2EA1-2A49-84AD-73F28611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7343FB5-78A8-58D6-788C-A1EE8863E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C1FC0-184B-423F-A6A0-E4853DE7D68D}" type="datetimeFigureOut">
              <a:rPr lang="zh-SG" altLang="en-US" smtClean="0"/>
              <a:t>2026/07/11</a:t>
            </a:fld>
            <a:endParaRPr lang="zh-SG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5CE9DE9-F6C8-AD1E-8CE6-84406A52F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CCAEE22-2E05-7C43-E8D7-FB65034C2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D7618-7BB0-4A69-B7B5-3568B8CB323D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4175220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1D562B-EB21-7BF8-2C05-62186DA83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C1FC0-184B-423F-A6A0-E4853DE7D68D}" type="datetimeFigureOut">
              <a:rPr lang="zh-SG" altLang="en-US" smtClean="0"/>
              <a:t>2026/07/11</a:t>
            </a:fld>
            <a:endParaRPr lang="zh-SG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B66EAF5-0ABB-6F27-371D-A01978204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EF58C77-CAF2-628F-D98D-6B313480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D7618-7BB0-4A69-B7B5-3568B8CB323D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3028858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D4A438-2332-0916-CAF7-9173B76A4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8FC80AF-FD55-DDD2-6E27-6023CFAAC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4F756AE-E37E-F8E5-1E10-19F5EECE84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564BBD9-6AE3-3FD8-00B6-C8AF70004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C1FC0-184B-423F-A6A0-E4853DE7D68D}" type="datetimeFigureOut">
              <a:rPr lang="zh-SG" altLang="en-US" smtClean="0"/>
              <a:t>2026/07/11</a:t>
            </a:fld>
            <a:endParaRPr lang="zh-SG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0ACA004-4EC8-47EC-368B-16555A3C6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393C144-F356-C5B1-33B8-44D79E839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D7618-7BB0-4A69-B7B5-3568B8CB323D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1906836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6F539D-DF45-C511-4561-D289DC0FA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4912798-E5E5-3AC8-A74E-39D0ABFC24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SG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1C78894-C4F3-5A84-C008-7DCC355A4B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CB8B6A-02BF-9E10-B22A-79672EE2C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C1FC0-184B-423F-A6A0-E4853DE7D68D}" type="datetimeFigureOut">
              <a:rPr lang="zh-SG" altLang="en-US" smtClean="0"/>
              <a:t>2026/07/11</a:t>
            </a:fld>
            <a:endParaRPr lang="zh-SG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EA94222-2FE1-9047-E909-903729373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CADBFFF-A96B-408E-2AE1-28F71DE67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D7618-7BB0-4A69-B7B5-3568B8CB323D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163340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D1C14F-65C1-2AE6-4E38-E1FFD385A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B31B36B-DFE7-D458-7579-CCE1B9D313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320E2B-8BEB-5746-857D-E23761948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C1FC0-184B-423F-A6A0-E4853DE7D68D}" type="datetimeFigureOut">
              <a:rPr lang="zh-SG" altLang="en-US" smtClean="0"/>
              <a:t>2026/07/11</a:t>
            </a:fld>
            <a:endParaRPr lang="zh-SG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C46711-9BFE-3710-E03C-4EB7DA96A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15FDFF-4AE2-9C3B-CB0F-46648533E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D7618-7BB0-4A69-B7B5-3568B8CB323D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2618837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22ABF02-2D0D-4D87-7D4F-0BF90F29D6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4E6A512-4C45-B264-BCA7-A2C3B17878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34BF3B-5298-98F4-0E9C-303D6CC8D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C1FC0-184B-423F-A6A0-E4853DE7D68D}" type="datetimeFigureOut">
              <a:rPr lang="zh-SG" altLang="en-US" smtClean="0"/>
              <a:t>2026/07/11</a:t>
            </a:fld>
            <a:endParaRPr lang="zh-SG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892272-7E97-592D-FB9D-E1F76ABC5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SG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0CB532-25F6-87E1-32F8-D235786C1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FD7618-7BB0-4A69-B7B5-3568B8CB323D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41085946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81799F2-1B4A-0981-C92E-D733B327E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SG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498CBEF-DD2A-EBF2-1DC1-7152C55D6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C8B663-8190-EA90-4B0E-08D97B8B48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7C1FC0-184B-423F-A6A0-E4853DE7D68D}" type="datetimeFigureOut">
              <a:rPr lang="zh-SG" altLang="en-US" smtClean="0"/>
              <a:t>2026/07/11</a:t>
            </a:fld>
            <a:endParaRPr lang="zh-SG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DBDA5E-5C72-F32E-5E72-3AD2CF9C3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SG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2DBF15D-C749-5B1B-8C1F-799167888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FD7618-7BB0-4A69-B7B5-3568B8CB323D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834984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S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D9711C-D1B8-55F9-1B71-29C18CF98A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SG" dirty="0"/>
              <a:t>3.1 </a:t>
            </a:r>
            <a:r>
              <a:rPr lang="en-US" altLang="zh-CN" dirty="0" err="1"/>
              <a:t>FreeRTOS</a:t>
            </a:r>
            <a:r>
              <a:rPr lang="zh-CN" altLang="en-US" dirty="0"/>
              <a:t>简介</a:t>
            </a:r>
            <a:endParaRPr lang="zh-SG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F9C9206-43B0-2FF2-2BF6-518CEB28BB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387600"/>
          </a:xfrm>
        </p:spPr>
        <p:txBody>
          <a:bodyPr/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了解任务调度机制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合理分配任务堆栈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合理分配任务优先级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1706470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41D100-FDC2-E966-2DD7-DD5474B1E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任务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F78CF6-8CE6-0BCB-6D3D-9566C4BA8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zh-CN" altLang="en-US" dirty="0"/>
              <a:t>每个任务在自己的上下文中执行，不会碰巧依赖于系统内的其他任务或</a:t>
            </a:r>
            <a:r>
              <a:rPr lang="en-US" altLang="zh-CN" dirty="0"/>
              <a:t>RTOS</a:t>
            </a:r>
            <a:r>
              <a:rPr lang="zh-CN" altLang="en-US" dirty="0"/>
              <a:t>调度器本身。在任何时间点，应用程序中只能执行一个任务，实时</a:t>
            </a:r>
            <a:r>
              <a:rPr lang="en-US" altLang="zh-CN" dirty="0"/>
              <a:t>RTOS</a:t>
            </a:r>
            <a:r>
              <a:rPr lang="zh-CN" altLang="en-US" dirty="0"/>
              <a:t>调度器负责决定应该执行哪个任务。因此 </a:t>
            </a:r>
            <a:r>
              <a:rPr lang="en-US" altLang="zh-CN" dirty="0"/>
              <a:t>RTOS </a:t>
            </a:r>
            <a:r>
              <a:rPr lang="zh-CN" altLang="en-US" dirty="0"/>
              <a:t>调度器可能在应用程序执行过程中反复启动并停止每个任务（换入并换出每个任务）。由于任务不了解</a:t>
            </a:r>
            <a:r>
              <a:rPr lang="en-US" altLang="zh-CN" dirty="0"/>
              <a:t>RTOS</a:t>
            </a:r>
            <a:r>
              <a:rPr lang="zh-CN" altLang="en-US" dirty="0"/>
              <a:t>调度器的情况，实时</a:t>
            </a:r>
            <a:r>
              <a:rPr lang="en-US" altLang="zh-CN" dirty="0"/>
              <a:t>RTOS</a:t>
            </a:r>
            <a:r>
              <a:rPr lang="zh-CN" altLang="en-US" dirty="0"/>
              <a:t>调度器须确保换入任务时，处理器的上下文（寄存器 值、堆栈内容等）与换出该任务时完全相同。 为实现这一点，每个任务都分配有自己的堆栈。换出任务时，执行上下文被保存到该任务的堆栈中，以便以后再换入相同的任务时可以准确地恢复其执行上下文。</a:t>
            </a:r>
            <a:endParaRPr lang="en-US" altLang="zh-CN" dirty="0"/>
          </a:p>
          <a:p>
            <a:pPr marL="457200" lvl="1" indent="0">
              <a:buNone/>
            </a:pPr>
            <a:r>
              <a:rPr lang="en-GB" altLang="zh-SG" dirty="0"/>
              <a:t>https://www.freertos.org/zh-cn-cmn-s/Documentation/02-Kernel/02-Kernel-features/01-Tasks-and-co-routines/00-Tasks-and-co-routines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3608958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31287E-BB63-CEA1-1D2D-0D1B4D87A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任务的状态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122F12-451B-577A-1554-6727A696B9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25562"/>
            <a:ext cx="8477250" cy="5532437"/>
          </a:xfrm>
        </p:spPr>
        <p:txBody>
          <a:bodyPr/>
          <a:lstStyle/>
          <a:p>
            <a:r>
              <a:rPr lang="zh-CN" altLang="en-US" dirty="0"/>
              <a:t>运行</a:t>
            </a:r>
            <a:endParaRPr lang="en-US" altLang="zh-CN" dirty="0"/>
          </a:p>
          <a:p>
            <a:pPr lvl="1"/>
            <a:r>
              <a:rPr lang="zh-CN" altLang="en-US" dirty="0"/>
              <a:t>任务当前正在占用</a:t>
            </a:r>
            <a:r>
              <a:rPr lang="en-US" altLang="zh-CN" dirty="0"/>
              <a:t>CPU</a:t>
            </a:r>
            <a:r>
              <a:rPr lang="zh-CN" altLang="en-US" dirty="0"/>
              <a:t>。 如果运行</a:t>
            </a:r>
            <a:r>
              <a:rPr lang="en-US" altLang="zh-CN" dirty="0"/>
              <a:t>RTOS</a:t>
            </a:r>
            <a:r>
              <a:rPr lang="zh-CN" altLang="en-US" dirty="0"/>
              <a:t>的处理器只有一个内核，那么只能有一个任务处于运行状态。</a:t>
            </a:r>
            <a:endParaRPr lang="en-US" altLang="zh-CN" dirty="0"/>
          </a:p>
          <a:p>
            <a:r>
              <a:rPr lang="zh-CN" altLang="en-US" dirty="0"/>
              <a:t>就绪</a:t>
            </a:r>
            <a:endParaRPr lang="en-US" altLang="zh-CN" dirty="0"/>
          </a:p>
          <a:p>
            <a:pPr lvl="1"/>
            <a:r>
              <a:rPr lang="zh-CN" altLang="en-US" dirty="0"/>
              <a:t>任务不处于阻塞或挂起状态，能够执行但目前没有执行， 因为同等或更高优先级的不同任务已经处于运行状态。</a:t>
            </a:r>
            <a:endParaRPr lang="en-US" altLang="zh-CN" dirty="0"/>
          </a:p>
          <a:p>
            <a:r>
              <a:rPr lang="zh-CN" altLang="en-US" dirty="0"/>
              <a:t>阻塞</a:t>
            </a:r>
            <a:endParaRPr lang="en-US" altLang="zh-CN" dirty="0"/>
          </a:p>
          <a:p>
            <a:pPr lvl="1"/>
            <a:r>
              <a:rPr lang="zh-CN" altLang="en-US" dirty="0"/>
              <a:t>任务等待时间或外部事件，不占用</a:t>
            </a:r>
            <a:r>
              <a:rPr lang="en-US" altLang="zh-CN" dirty="0"/>
              <a:t>CPU</a:t>
            </a:r>
            <a:r>
              <a:rPr lang="zh-CN" altLang="en-US" dirty="0"/>
              <a:t>，不能进入运行状态。通常有超时设置， 超时后任务将被解除阻塞， 即使该任务所等待的事件没有发生。</a:t>
            </a:r>
            <a:endParaRPr lang="en-US" altLang="zh-CN" dirty="0"/>
          </a:p>
          <a:p>
            <a:r>
              <a:rPr lang="zh-CN" altLang="en-US" dirty="0"/>
              <a:t>挂起</a:t>
            </a:r>
            <a:endParaRPr lang="en-US" altLang="zh-CN" dirty="0"/>
          </a:p>
          <a:p>
            <a:pPr lvl="1"/>
            <a:r>
              <a:rPr lang="zh-CN" altLang="en-US" dirty="0"/>
              <a:t>通过</a:t>
            </a:r>
            <a:r>
              <a:rPr lang="en-US" altLang="zh-CN" dirty="0"/>
              <a:t>API</a:t>
            </a:r>
            <a:r>
              <a:rPr lang="zh-CN" altLang="en-US" dirty="0"/>
              <a:t>主动调用进入和离开，期间不能进入运行状态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B6F5F75-0DCD-2B86-F2EF-D770FF31FD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7250" y="1690688"/>
            <a:ext cx="3714750" cy="39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765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800DE4-E48C-9599-2625-D97849390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任务调度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86FC53A-08BB-822D-AAB4-0047433E0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altLang="zh-CN" dirty="0" err="1"/>
              <a:t>FreeRTOS</a:t>
            </a:r>
            <a:r>
              <a:rPr lang="zh-CN" altLang="en-US" dirty="0"/>
              <a:t>默认使用固定优先级的抢占式调度策略，对同等优先级的任务执行时间切片轮询调度</a:t>
            </a:r>
            <a:endParaRPr lang="en-US" altLang="zh-CN" dirty="0"/>
          </a:p>
          <a:p>
            <a:r>
              <a:rPr lang="zh-CN" altLang="en-US" dirty="0"/>
              <a:t>“固定优先级”指调度器不会永久更改任务的优先级，但可能因优先级继承而暂时提高任务的优先级</a:t>
            </a:r>
            <a:endParaRPr lang="en-US" altLang="zh-CN" dirty="0"/>
          </a:p>
          <a:p>
            <a:r>
              <a:rPr lang="zh-CN" altLang="en-US" dirty="0"/>
              <a:t>“抢占式”是指调度器始终运行优先级最高且可运行的</a:t>
            </a:r>
            <a:r>
              <a:rPr lang="en-US" altLang="zh-CN" dirty="0"/>
              <a:t>RTOS</a:t>
            </a:r>
            <a:r>
              <a:rPr lang="zh-CN" altLang="en-US" dirty="0"/>
              <a:t>任务，调度器会停止当前正在运行的低优先级任务并启动高优先级任务，即高优先级任务 “抢占”了低优先级任务，即使在同一个时间片内</a:t>
            </a:r>
          </a:p>
          <a:p>
            <a:r>
              <a:rPr lang="zh-CN" altLang="en-US" dirty="0"/>
              <a:t>“轮询调度”是指具有相同优先级的任务轮流进入运行状态</a:t>
            </a:r>
          </a:p>
          <a:p>
            <a:r>
              <a:rPr lang="zh-CN" altLang="en-US" dirty="0"/>
              <a:t>“时间切片”是指调度器会在每个</a:t>
            </a:r>
            <a:r>
              <a:rPr lang="en-US" altLang="zh-CN" dirty="0"/>
              <a:t>tick</a:t>
            </a:r>
            <a:r>
              <a:rPr lang="zh-CN" altLang="en-US" dirty="0"/>
              <a:t>中断上在同等优先级任务之间进行切换，</a:t>
            </a:r>
            <a:r>
              <a:rPr lang="en-US" altLang="zh-CN" dirty="0"/>
              <a:t>tick</a:t>
            </a:r>
            <a:r>
              <a:rPr lang="zh-CN" altLang="en-US" dirty="0"/>
              <a:t>中断之间的时间构成一个时间切片（</a:t>
            </a:r>
            <a:r>
              <a:rPr lang="en-US" altLang="zh-CN" dirty="0"/>
              <a:t>tick</a:t>
            </a:r>
            <a:r>
              <a:rPr lang="zh-CN" altLang="en-US" dirty="0"/>
              <a:t>中断是</a:t>
            </a:r>
            <a:r>
              <a:rPr lang="en-US" altLang="zh-CN" dirty="0"/>
              <a:t>RTOS</a:t>
            </a:r>
            <a:r>
              <a:rPr lang="zh-CN" altLang="en-US" dirty="0"/>
              <a:t>用来衡量时间的周期性中断）</a:t>
            </a:r>
          </a:p>
        </p:txBody>
      </p:sp>
    </p:spTree>
    <p:extLst>
      <p:ext uri="{BB962C8B-B14F-4D97-AF65-F5344CB8AC3E}">
        <p14:creationId xmlns:p14="http://schemas.microsoft.com/office/powerpoint/2010/main" val="1642520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183F07-CEF5-CE15-F8C9-0CE98A1BC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任务通知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24D1DBA-7206-C41D-7B20-635D8169A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优势</a:t>
            </a:r>
            <a:endParaRPr lang="en-US" altLang="zh-CN" dirty="0"/>
          </a:p>
          <a:p>
            <a:pPr lvl="1"/>
            <a:r>
              <a:rPr lang="zh-CN" altLang="en-US" dirty="0"/>
              <a:t>与通过诸如二进制信号量等中间对象来解除任务阻塞状态相比，通过直接通知解除</a:t>
            </a:r>
            <a:r>
              <a:rPr lang="en-US" altLang="zh-CN" dirty="0"/>
              <a:t>RTOS</a:t>
            </a:r>
            <a:r>
              <a:rPr lang="zh-CN" altLang="en-US" dirty="0"/>
              <a:t>任务阻塞状态的速度快</a:t>
            </a:r>
            <a:r>
              <a:rPr lang="en-US" altLang="zh-CN" dirty="0"/>
              <a:t>45%</a:t>
            </a:r>
            <a:r>
              <a:rPr lang="zh-CN" altLang="en-US" dirty="0"/>
              <a:t>，使用的</a:t>
            </a:r>
            <a:r>
              <a:rPr lang="en-US" altLang="zh-CN" dirty="0"/>
              <a:t>RAM</a:t>
            </a:r>
            <a:r>
              <a:rPr lang="zh-CN" altLang="en-US" dirty="0"/>
              <a:t>也更少</a:t>
            </a:r>
            <a:endParaRPr lang="en-US" altLang="zh-CN" dirty="0"/>
          </a:p>
          <a:p>
            <a:r>
              <a:rPr lang="zh-CN" altLang="en-US" dirty="0"/>
              <a:t>限制</a:t>
            </a:r>
            <a:endParaRPr lang="en-US" altLang="zh-CN" dirty="0"/>
          </a:p>
          <a:p>
            <a:pPr lvl="1"/>
            <a:r>
              <a:rPr lang="en-US" altLang="zh-CN" dirty="0"/>
              <a:t>RTOS</a:t>
            </a:r>
            <a:r>
              <a:rPr lang="zh-CN" altLang="en-US" dirty="0"/>
              <a:t>任务通知仅可在只有一个任务可以接收事件时使用，比如，中断解除了一个任务的阻塞状态，该任务将处理由中断接收的数据。</a:t>
            </a:r>
          </a:p>
          <a:p>
            <a:pPr lvl="1"/>
            <a:r>
              <a:rPr lang="zh-CN" altLang="en-US" dirty="0"/>
              <a:t>使用</a:t>
            </a:r>
            <a:r>
              <a:rPr lang="en-US" altLang="zh-CN" dirty="0"/>
              <a:t>RTOS</a:t>
            </a:r>
            <a:r>
              <a:rPr lang="zh-CN" altLang="en-US" dirty="0"/>
              <a:t>任务通知代替队列时，当某个接收任务可在阻塞状态下等待通知（因而不花费任何</a:t>
            </a:r>
            <a:r>
              <a:rPr lang="en-US" altLang="zh-CN" dirty="0"/>
              <a:t>CPU</a:t>
            </a:r>
            <a:r>
              <a:rPr lang="zh-CN" altLang="en-US" dirty="0"/>
              <a:t>时间）时，发送任务不能在阻塞状态下等待发送完成（如果发送不能立刻完成）。</a:t>
            </a:r>
            <a:endParaRPr lang="en-US" altLang="zh-CN" dirty="0"/>
          </a:p>
          <a:p>
            <a:pPr marL="457200" lvl="1" indent="0">
              <a:buNone/>
            </a:pPr>
            <a:r>
              <a:rPr lang="en-GB" altLang="zh-CN" dirty="0"/>
              <a:t>https://www.freertos.org/zh-cn-cmn-s/Documentation/02-Kernel/02-Kernel-features/03-Direct-to-task-notifications/01-Task-notifications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20344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174FE3F7-CF7B-E42C-9885-E34259FC5A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1160" y="2999563"/>
            <a:ext cx="4200840" cy="2184437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7A2E1418-8606-8FE2-D0DC-B5667972F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延迟中断处理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11918CE-E829-29E0-B3B2-996C720F6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4"/>
            <a:ext cx="10515600" cy="5532436"/>
          </a:xfrm>
        </p:spPr>
        <p:txBody>
          <a:bodyPr>
            <a:normAutofit/>
          </a:bodyPr>
          <a:lstStyle/>
          <a:p>
            <a:r>
              <a:rPr lang="zh-CN" altLang="en-US" dirty="0"/>
              <a:t>中断服务程序 </a:t>
            </a:r>
            <a:r>
              <a:rPr lang="en-US" altLang="zh-CN" dirty="0"/>
              <a:t>(ISR) </a:t>
            </a:r>
            <a:r>
              <a:rPr lang="zh-CN" altLang="en-US" dirty="0"/>
              <a:t>解除阻塞（触发）</a:t>
            </a:r>
            <a:r>
              <a:rPr lang="en-US" altLang="zh-CN" dirty="0"/>
              <a:t>RTOS</a:t>
            </a:r>
            <a:r>
              <a:rPr lang="zh-CN" altLang="en-US" dirty="0"/>
              <a:t>任务，此时中断所需要的处理可以在解除阻塞的任务中，而不是直接在</a:t>
            </a:r>
            <a:r>
              <a:rPr lang="en-US" altLang="zh-CN" dirty="0"/>
              <a:t>ISR</a:t>
            </a:r>
            <a:r>
              <a:rPr lang="zh-CN" altLang="en-US" dirty="0"/>
              <a:t>中执行 。</a:t>
            </a:r>
            <a:endParaRPr lang="en-US" altLang="zh-CN" dirty="0"/>
          </a:p>
          <a:p>
            <a:r>
              <a:rPr lang="zh-CN" altLang="en-US" dirty="0"/>
              <a:t>解除阻塞并切换到</a:t>
            </a:r>
            <a:r>
              <a:rPr lang="en-US" altLang="zh-CN" dirty="0"/>
              <a:t>RTOS</a:t>
            </a:r>
            <a:r>
              <a:rPr lang="zh-CN" altLang="en-US" dirty="0"/>
              <a:t>任务需要一定时间，所以一般只在以下情况使用延迟中断处理：</a:t>
            </a:r>
            <a:endParaRPr lang="en-US" altLang="zh-CN" dirty="0"/>
          </a:p>
          <a:p>
            <a:pPr lvl="1"/>
            <a:r>
              <a:rPr lang="zh-CN" altLang="en-US" dirty="0"/>
              <a:t>操作复杂</a:t>
            </a:r>
          </a:p>
          <a:p>
            <a:pPr lvl="1"/>
            <a:r>
              <a:rPr lang="zh-CN" altLang="en-US" dirty="0"/>
              <a:t>不能仅使用</a:t>
            </a:r>
            <a:r>
              <a:rPr lang="en-US" altLang="zh-CN" dirty="0"/>
              <a:t>ISR</a:t>
            </a:r>
            <a:r>
              <a:rPr lang="zh-CN" altLang="en-US" dirty="0"/>
              <a:t>安全的</a:t>
            </a:r>
            <a:r>
              <a:rPr lang="en-US" altLang="zh-CN" dirty="0"/>
              <a:t>API</a:t>
            </a:r>
            <a:endParaRPr lang="zh-CN" altLang="en-US" dirty="0"/>
          </a:p>
          <a:p>
            <a:pPr lvl="1"/>
            <a:r>
              <a:rPr lang="zh-CN" altLang="en-US" dirty="0"/>
              <a:t>操作所需时间不确定</a:t>
            </a:r>
            <a:endParaRPr lang="en-US" altLang="zh-CN" dirty="0"/>
          </a:p>
          <a:p>
            <a:pPr marL="457200" lvl="1" indent="0">
              <a:buNone/>
            </a:pPr>
            <a:r>
              <a:rPr lang="en-GB" altLang="zh-CN" dirty="0"/>
              <a:t>https://www.freertos.org/zh-cn-cmn-s/</a:t>
            </a:r>
            <a:br>
              <a:rPr lang="en-GB" altLang="zh-CN" dirty="0"/>
            </a:br>
            <a:r>
              <a:rPr lang="en-GB" altLang="zh-CN" dirty="0"/>
              <a:t>Documentation/02-Kernel/02-Kernel-features/</a:t>
            </a:r>
          </a:p>
          <a:p>
            <a:pPr marL="457200" lvl="1" indent="0">
              <a:buNone/>
            </a:pPr>
            <a:r>
              <a:rPr lang="en-GB" altLang="zh-CN" dirty="0"/>
              <a:t>11-Deferred-interrupt-handling</a:t>
            </a:r>
            <a:endParaRPr lang="zh-CN" altLang="en-US" dirty="0"/>
          </a:p>
          <a:p>
            <a:r>
              <a:rPr lang="en-US" altLang="zh-CN" dirty="0" err="1"/>
              <a:t>FreeRTOS</a:t>
            </a:r>
            <a:r>
              <a:rPr lang="zh-CN" altLang="en-US" dirty="0"/>
              <a:t>提供在</a:t>
            </a:r>
            <a:r>
              <a:rPr lang="en-US" altLang="zh-CN" dirty="0"/>
              <a:t>Tim Svc</a:t>
            </a:r>
            <a:r>
              <a:rPr lang="zh-CN" altLang="en-US" dirty="0"/>
              <a:t>中自动进行延迟中断处理的</a:t>
            </a:r>
            <a:r>
              <a:rPr lang="en-US" altLang="zh-CN" dirty="0"/>
              <a:t>API</a:t>
            </a:r>
          </a:p>
          <a:p>
            <a:pPr marL="457200" lvl="1" indent="0">
              <a:buNone/>
            </a:pPr>
            <a:r>
              <a:rPr lang="en-US" altLang="zh-CN" dirty="0"/>
              <a:t>https://www.freertos.org/zh-cn-cmn-s/Documentation/02-Kernel/04-API-references/11-Software-timers/18-xTimerPendFunctionCallFromISR</a:t>
            </a:r>
          </a:p>
        </p:txBody>
      </p:sp>
    </p:spTree>
    <p:extLst>
      <p:ext uri="{BB962C8B-B14F-4D97-AF65-F5344CB8AC3E}">
        <p14:creationId xmlns:p14="http://schemas.microsoft.com/office/powerpoint/2010/main" val="41686767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F429F9-7071-BC61-6DEF-A32C9BB7C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3-1</a:t>
            </a:r>
            <a:r>
              <a:rPr lang="zh-CN" altLang="en-US" dirty="0"/>
              <a:t>（不交）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AAF958-D458-A329-6DCA-920E2A628D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在单片机上运行</a:t>
            </a:r>
            <a:r>
              <a:rPr lang="en-US" altLang="zh-CN" dirty="0" err="1"/>
              <a:t>FreeRTOS</a:t>
            </a:r>
            <a:r>
              <a:rPr lang="zh-CN" altLang="en-US" dirty="0"/>
              <a:t>任务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82277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5C27AB-83EE-8321-4552-51EB09D07A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SG" dirty="0"/>
              <a:t>3.2</a:t>
            </a:r>
            <a:r>
              <a:rPr lang="zh-CN" altLang="en-US" dirty="0"/>
              <a:t> 线程间通信</a:t>
            </a:r>
            <a:endParaRPr lang="zh-SG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C0B9151-62C8-3369-2EC7-8184BB254D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255962"/>
          </a:xfrm>
        </p:spPr>
        <p:txBody>
          <a:bodyPr/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任务与任务通信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中断与任务通信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612023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27B32F-DDDE-9B71-B4DE-893B5CABE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3-2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035A84A-E879-9CB9-7975-EC6DCC9CEF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创建遥控器数据解析与电机控制任务，根据遥控器拨杆挡位组合向</a:t>
            </a:r>
            <a:r>
              <a:rPr lang="en-US" altLang="zh-CN" dirty="0"/>
              <a:t>6020</a:t>
            </a:r>
            <a:r>
              <a:rPr lang="zh-CN" altLang="en-US" dirty="0"/>
              <a:t>电机发送相应指令</a:t>
            </a:r>
            <a:endParaRPr lang="en-US" altLang="zh-CN" dirty="0"/>
          </a:p>
          <a:p>
            <a:pPr lvl="1"/>
            <a:r>
              <a:rPr lang="zh-CN" altLang="en-US" dirty="0"/>
              <a:t>急停</a:t>
            </a:r>
            <a:endParaRPr lang="en-US" altLang="zh-CN" dirty="0"/>
          </a:p>
          <a:p>
            <a:pPr lvl="1"/>
            <a:r>
              <a:rPr lang="zh-CN" altLang="en-US" dirty="0"/>
              <a:t>正向旋转</a:t>
            </a:r>
            <a:endParaRPr lang="en-US" altLang="zh-CN" dirty="0"/>
          </a:p>
          <a:p>
            <a:pPr lvl="1"/>
            <a:r>
              <a:rPr lang="zh-CN" altLang="en-US" dirty="0"/>
              <a:t>反向旋转</a:t>
            </a:r>
            <a:endParaRPr lang="en-US" altLang="zh-CN" dirty="0"/>
          </a:p>
          <a:p>
            <a:r>
              <a:rPr lang="zh-CN" altLang="en-US" dirty="0"/>
              <a:t>离开急停档位后要求必须先拨动拨轮才能进入正常控制模式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31490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78BE6306-2AAB-BC34-07F5-768D87B59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5279" y="1714270"/>
            <a:ext cx="3446721" cy="3429459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B714CDFB-B232-04E5-8243-5C9167149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altLang="zh-CN" dirty="0"/>
              <a:t>Debug</a:t>
            </a:r>
            <a:r>
              <a:rPr lang="zh-CN" altLang="en-US" dirty="0"/>
              <a:t>思路参考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853EDD-B75E-C754-4B4E-EDD6EFF99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25563"/>
            <a:ext cx="8745279" cy="5532438"/>
          </a:xfrm>
        </p:spPr>
        <p:txBody>
          <a:bodyPr>
            <a:normAutofit/>
          </a:bodyPr>
          <a:lstStyle/>
          <a:p>
            <a:r>
              <a:rPr lang="zh-CN" altLang="en-US" dirty="0"/>
              <a:t>任务堆栈分配</a:t>
            </a:r>
            <a:endParaRPr lang="en-US" altLang="zh-CN" dirty="0"/>
          </a:p>
          <a:p>
            <a:pPr lvl="1"/>
            <a:r>
              <a:rPr lang="zh-CN" altLang="en-US" dirty="0"/>
              <a:t>开启堆栈溢出检查</a:t>
            </a:r>
            <a:endParaRPr lang="en-US" altLang="zh-CN" dirty="0"/>
          </a:p>
          <a:p>
            <a:pPr lvl="2"/>
            <a:r>
              <a:rPr lang="en-GB" altLang="zh-CN" dirty="0"/>
              <a:t>https://www.freertos.org/zh-cn-cmn-s/Documentation/02-Kernel/02-Kernel-features/09-Memory-management/02-Stack-usage-and-stack-overflow-checking</a:t>
            </a:r>
            <a:endParaRPr lang="en-US" altLang="zh-CN" dirty="0"/>
          </a:p>
          <a:p>
            <a:r>
              <a:rPr lang="zh-CN" altLang="en-US" dirty="0"/>
              <a:t>优先级反转和死锁</a:t>
            </a:r>
            <a:endParaRPr lang="en-US" altLang="zh-CN" dirty="0"/>
          </a:p>
          <a:p>
            <a:pPr lvl="1"/>
            <a:r>
              <a:rPr lang="zh-CN" altLang="en-US" dirty="0"/>
              <a:t>使用互斥锁缓解优先级反转</a:t>
            </a:r>
            <a:endParaRPr lang="en-US" altLang="zh-CN" dirty="0"/>
          </a:p>
          <a:p>
            <a:pPr lvl="2"/>
            <a:r>
              <a:rPr lang="en-US" altLang="zh-CN" dirty="0"/>
              <a:t>https://www.freertos.org/zh-cn-cmn-s/Documentation/02-Kernel/02-Kernel-features/02-Queues-mutexes-and-semaphores/04-Mutexes</a:t>
            </a:r>
          </a:p>
          <a:p>
            <a:pPr lvl="2"/>
            <a:r>
              <a:rPr lang="zh-CN" altLang="en-US" dirty="0"/>
              <a:t>如文中所述，不要在中断中使用互斥锁</a:t>
            </a:r>
            <a:endParaRPr lang="en-US" altLang="zh-CN" dirty="0"/>
          </a:p>
          <a:p>
            <a:pPr lvl="1"/>
            <a:r>
              <a:rPr lang="zh-CN" altLang="en-US" dirty="0"/>
              <a:t>检查任务运行时间</a:t>
            </a:r>
            <a:endParaRPr lang="en-US" altLang="zh-CN" dirty="0"/>
          </a:p>
          <a:p>
            <a:pPr lvl="2"/>
            <a:r>
              <a:rPr lang="en-US" altLang="zh-CN" dirty="0"/>
              <a:t>https://www.freertos.org/zh-cn-cmn-s/Documentation/02-Kernel/02-Kernel-features/08-Run-time-statistics</a:t>
            </a:r>
          </a:p>
          <a:p>
            <a:endParaRPr lang="en-US" altLang="zh-CN" dirty="0"/>
          </a:p>
          <a:p>
            <a:pPr lvl="1"/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860811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882</Words>
  <PresentationFormat>宽屏</PresentationFormat>
  <Paragraphs>62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主题​​</vt:lpstr>
      <vt:lpstr>3.1 FreeRTOS简介</vt:lpstr>
      <vt:lpstr>任务</vt:lpstr>
      <vt:lpstr>任务的状态</vt:lpstr>
      <vt:lpstr>任务调度</vt:lpstr>
      <vt:lpstr>任务通知</vt:lpstr>
      <vt:lpstr>延迟中断处理</vt:lpstr>
      <vt:lpstr>作业3-1（不交）</vt:lpstr>
      <vt:lpstr>3.2 线程间通信</vt:lpstr>
      <vt:lpstr>作业3-2</vt:lpstr>
      <vt:lpstr>Debug思路参考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terms:created xsi:type="dcterms:W3CDTF">2026-07-11T01:06:26Z</dcterms:created>
  <dcterms:modified xsi:type="dcterms:W3CDTF">2026-07-11T03:50:00Z</dcterms:modified>
</cp:coreProperties>
</file>